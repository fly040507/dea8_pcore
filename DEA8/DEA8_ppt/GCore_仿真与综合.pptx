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084195eda34503" /><Relationship Type="http://schemas.openxmlformats.org/officeDocument/2006/relationships/extended-properties" Target="/docProps/app.xml" Id="R902a8b174eb54674" /><Relationship Type="http://schemas.openxmlformats.org/officeDocument/2006/relationships/officeDocument" Target="/ppt/presentation.xml" Id="R51f9deddf24b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4cf3cb28c64485"/>
  </p:sldMasterIdLst>
  <p:notesMasterIdLst>
    <p:notesMasterId xmlns:r="http://schemas.openxmlformats.org/officeDocument/2006/relationships" r:id="Rf96e1a46a311430b"/>
  </p:notesMasterIdLst>
  <p:sldIdLst>
    <p:sldId xmlns:r="http://schemas.openxmlformats.org/officeDocument/2006/relationships" id="256" r:id="R4ab3f8031e0442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d04610efbd43b1" /><Relationship Type="http://schemas.openxmlformats.org/officeDocument/2006/relationships/slideMaster" Target="/ppt/slideMasters/slideMaster1.xml" Id="R2d4cf3cb28c64485" /><Relationship Type="http://schemas.openxmlformats.org/officeDocument/2006/relationships/notesMaster" Target="/ppt/notesMasters/notesMaster1.xml" Id="Rf96e1a46a311430b" /><Relationship Type="http://schemas.openxmlformats.org/officeDocument/2006/relationships/presProps" Target="/ppt/presProps.xml" Id="Rdd26fda6ff19446b" /><Relationship Type="http://schemas.openxmlformats.org/officeDocument/2006/relationships/tableStyles" Target="/ppt/tableStyles.xml" Id="R04833ada20c34697" /><Relationship Type="http://schemas.openxmlformats.org/officeDocument/2006/relationships/slide" Target="/ppt/slides/slide1.xml" Id="R4ab3f8031e0442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5cb6a9ed66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8dbcd8639d487c" /><Relationship Type="http://schemas.openxmlformats.org/officeDocument/2006/relationships/notesMaster" Target="/ppt/notesMasters/notesMaster1.xml" Id="R85089fef19e340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讲解顺序：左侧介绍完整GCore面积；右侧解释冷/热Norm的区别；最后说明验证边界。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冷Norm没有有效SQ_ACC，需要完整残差平方扫描；热Norm复用O/Down归约残差阶段形成的统计。二者均执行rsqrt、两轮FP32归一化乘法及MXINT8-B16量化。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10015与6661来自同一服务级TB的命令接受至完成，参数和残差已就绪，不含外部导入及gamma装载。另一独立冷Norm单测为10014，因计时边界不同，本页没有混用。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冷Norm至热Norm减少3354拍，降低33.4898%。按250MHz、每拍4ns换算分别为40.060us和26.644us；不表示频率签核。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证据：C:/Users/fly04/Desktop/VLA/DEA8/reports/native_20261019/gcore/tb_gcore_integrated.txt；STRESS/BAD_HEADER/BAD_PACKET/CANCEL_ACTIVE同目录日志。量化比较包括data、scale及51个inverse；PCore和外部供数由TB模型提供，GCore算术与内部rsqrt使用真实RTL/I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资源证据：C:/Users/fly04/Desktop/VLA/DEA8/reports/resource_synth/gcore_ram_remap_20261019/utilization.rpt、Summary.md、PASS.json；2026-10-19 15:56完成。完整dea8_gcore，INTERNAL_RSQRT=1，blackbox=0，OOC综合，无布局布线。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证据版本：功能仿真为RAM重映射前基线；资源是重映射后的源码。新映射已经综合但没有重新进行功能仿真，因此不能宣称本页为同一源码的完整验收，也不能宣称真实8PCore与GCore的单层联合验证已通过。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模板：C:/Users/fly04/Desktop/261020_VLA.pptx。复用原文件内image2.png的校徽/周年标识原图；沿用白底、B88F4C金色标题，主体表格为可编辑PowerPoint原生表格。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300d91bf642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6dc1119fb4c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7bad99bbf4e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636ef804146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084db3c3149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8395007e049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7505E8-FFA6-4348-87F5-0881902C7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31D694-44D9-4569-B724-688FF12F4F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4A7630-3E8C-4AD4-B5B7-4F120EB961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8BC34A-EB6A-4689-8CF9-E061752F60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8D2A26-3CAE-429A-9A2D-3E9FAD519E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879A4E-E3C7-48BA-9728-71E950AA3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6C729E-97AD-4598-9953-DEED21B88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28B6F0-1F17-4032-BEE6-9507144888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9B9440-D41F-4AD4-BE7D-85D7B51EE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CEB2E9-5E51-4ECF-810F-1AAED6633A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83143ccaf24c80" /><Relationship Type="http://schemas.openxmlformats.org/officeDocument/2006/relationships/slideLayout" Target="/ppt/slideLayouts/slideLayout1.xml" Id="R814f05829b1b4894" /><Relationship Type="http://schemas.openxmlformats.org/officeDocument/2006/relationships/slideLayout" Target="/ppt/slideLayouts/slideLayout2.xml" Id="R1724fdc0f3a24ee3" /><Relationship Type="http://schemas.openxmlformats.org/officeDocument/2006/relationships/slideLayout" Target="/ppt/slideLayouts/slideLayout3.xml" Id="Rd7fe8755aaa24d8f" /><Relationship Type="http://schemas.openxmlformats.org/officeDocument/2006/relationships/slideLayout" Target="/ppt/slideLayouts/slideLayout4.xml" Id="R54ae6ca78aed4c2d" /><Relationship Type="http://schemas.openxmlformats.org/officeDocument/2006/relationships/slideLayout" Target="/ppt/slideLayouts/slideLayout5.xml" Id="Rcafb3fb432d143d9" /><Relationship Type="http://schemas.openxmlformats.org/officeDocument/2006/relationships/slideLayout" Target="/ppt/slideLayouts/slideLayout6.xml" Id="Rd33f634e618c4f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4f05829b1b4894"/>
    <p:sldLayoutId xmlns:r="http://schemas.openxmlformats.org/officeDocument/2006/relationships" id="2147483650" r:id="R1724fdc0f3a24ee3"/>
    <p:sldLayoutId xmlns:r="http://schemas.openxmlformats.org/officeDocument/2006/relationships" id="2147483651" r:id="Rd7fe8755aaa24d8f"/>
    <p:sldLayoutId xmlns:r="http://schemas.openxmlformats.org/officeDocument/2006/relationships" id="2147483652" r:id="R54ae6ca78aed4c2d"/>
    <p:sldLayoutId xmlns:r="http://schemas.openxmlformats.org/officeDocument/2006/relationships" id="2147483653" r:id="Rcafb3fb432d143d9"/>
    <p:sldLayoutId xmlns:r="http://schemas.openxmlformats.org/officeDocument/2006/relationships" id="2147483654" r:id="Rd33f634e618c4f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9d2e0b04264001" /><Relationship Type="http://schemas.openxmlformats.org/officeDocument/2006/relationships/image" Target="/ppt/media/image.png" Id="R31fa9b13d5724115" /><Relationship Type="http://schemas.openxmlformats.org/officeDocument/2006/relationships/notesSlide" Target="/ppt/notesSlides/notesSlide1.xml" Id="R3c4473a6e41448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2327A-4945-4FBB-B566-EB135BE3D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a9b13d5724115"/>
          <a:srcRect xmlns:a="http://schemas.openxmlformats.org/drawingml/2006/main" l="20134" t="35976" r="40537" b="33740"/>
          <a:stretch xmlns:a="http://schemas.openxmlformats.org/drawingml/2006/main"/>
        </p:blipFill>
        <p:spPr>
          <a:xfrm xmlns:a="http://schemas.openxmlformats.org/drawingml/2006/main">
            <a:off x="247650" y="238125"/>
            <a:ext cx="1352550" cy="687705"/>
          </a:xfrm>
          <a:prstGeom xmlns:a="http://schemas.openxmlformats.org/drawingml/2006/main" prst="rect">
            <a:avLst/>
          </a:prstGeom>
        </p:spPr>
      </p:pic>
      <p:sp>
        <p:nvSpPr>
          <p:cNvPr id="2" name="gold-title-separator">
            <a:extLst xmlns:a="http://schemas.openxmlformats.org/drawingml/2006/main">
              <a:ext uri="{FF2B5EF4-FFF2-40B4-BE49-F238E27FC236}">
                <a16:creationId xmlns:a16="http://schemas.microsoft.com/office/drawing/2014/main" id="{A47B3BEA-10A9-4B49-A009-98F808FE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6225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F4C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8B7B7-FA13-4206-BD3E-AC7C740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6225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rPr>
              <a:t>3. GCore仿真与综合</a:t>
            </a:r>
          </a:p>
        </p:txBody>
      </p:sp>
      <p:sp>
        <p:nvSpPr>
          <p:cNvPr id="4" name="resources-heading">
            <a:extLst xmlns:a="http://schemas.openxmlformats.org/drawingml/2006/main">
              <a:ext uri="{FF2B5EF4-FFF2-40B4-BE49-F238E27FC236}">
                <a16:creationId xmlns:a16="http://schemas.microsoft.com/office/drawing/2014/main" id="{DF847A38-A954-41A4-9A4C-5179971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561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完整GCore综合资源</a:t>
            </a:r>
          </a:p>
        </p:txBody>
      </p:sp>
      <p:sp>
        <p:nvSpPr>
          <p:cNvPr id="5" name="resources-context">
            <a:extLst xmlns:a="http://schemas.openxmlformats.org/drawingml/2006/main">
              <a:ext uri="{FF2B5EF4-FFF2-40B4-BE49-F238E27FC236}">
                <a16:creationId xmlns:a16="http://schemas.microsoft.com/office/drawing/2014/main" id="{DB7A6AE5-EDD0-4115-9903-80AD2CC8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rPr>
              <a:t>U50  /  Vivado 2022.2  /  官方浮点IP</a:t>
            </a:r>
          </a:p>
        </p:txBody>
      </p:sp>
      <p:sp>
        <p:nvSpPr>
          <p:cNvPr id="6" name="simulation-heading">
            <a:extLst xmlns:a="http://schemas.openxmlformats.org/drawingml/2006/main">
              <a:ext uri="{FF2B5EF4-FFF2-40B4-BE49-F238E27FC236}">
                <a16:creationId xmlns:a16="http://schemas.microsoft.com/office/drawing/2014/main" id="{D1B51588-CA02-45E2-AF08-A7F841A9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400175"/>
            <a:ext cx="4867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冷 / 热Norm仿真</a:t>
            </a:r>
          </a:p>
        </p:txBody>
      </p:sp>
      <p:sp>
        <p:nvSpPr>
          <p:cNvPr id="7" name="simulation-context">
            <a:extLst xmlns:a="http://schemas.openxmlformats.org/drawingml/2006/main">
              <a:ext uri="{FF2B5EF4-FFF2-40B4-BE49-F238E27FC236}">
                <a16:creationId xmlns:a16="http://schemas.microsoft.com/office/drawing/2014/main" id="{1EE03271-0CED-41A9-9AA2-E641B7E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809750"/>
            <a:ext cx="486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rPr>
              <a:t>固定51×1024，残差与γ已就绪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C5AF8-D9DF-48D6-BB83-1B603C833E75}"/>
              </a:ext>
            </a:extLst>
          </p:cNvPr>
          <p:cNvGraphicFramePr/>
          <p:nvPr/>
        </p:nvGraphicFramePr>
        <p:xfrm>
          <a:off xmlns:a="http://schemas.openxmlformats.org/drawingml/2006/main" x="533400" y="2181225"/>
          <a:ext xmlns:a="http://schemas.openxmlformats.org/drawingml/2006/main" cx="5619750" cy="2514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866900"/>
                <a:gridCol w="1943100"/>
                <a:gridCol w="1809750"/>
              </a:tblGrid>
              <a:tr h="41910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B88F4C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B88F4C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U50占比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B88F4C"/>
                    </a:solidFill>
                  </a:tcPr>
                </a:tc>
              </a:tr>
              <a:tr h="41910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29,782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3.42%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</a:tr>
              <a:tr h="41910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33,198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DSP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109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</a:tr>
              <a:tr h="41910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BRAM36等效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5.88%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URAM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311BA-FC36-41C0-AB3F-6B50A070AE7C}"/>
              </a:ext>
            </a:extLst>
          </p:cNvPr>
          <p:cNvGraphicFramePr/>
          <p:nvPr/>
        </p:nvGraphicFramePr>
        <p:xfrm>
          <a:off xmlns:a="http://schemas.openxmlformats.org/drawingml/2006/main" x="6791325" y="2181225"/>
          <a:ext xmlns:a="http://schemas.openxmlformats.org/drawingml/2006/main" cx="4867275" cy="2514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28775"/>
                <a:gridCol w="1619250"/>
                <a:gridCol w="1619250"/>
              </a:tblGrid>
              <a:tr h="62865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B88F4C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冷Norm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B88F4C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热Norm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B88F4C"/>
                    </a:solidFill>
                  </a:tcPr>
                </a:tc>
              </a:tr>
              <a:tr h="62865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平方和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独立扫描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复用SQ_ACC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</a:tr>
              <a:tr h="62865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 / 拍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10,015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6,661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250MHz折算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40.060μs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 wrap="none" lIns="114300" tIns="47625" rIns="7620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26.644μs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CD5C9"/>
                      </a:solidFill>
                      <a:prstDash val="solid"/>
                    </a:lnR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sp>
        <p:nvSpPr>
          <p:cNvPr id="10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1C2BCDE8-3B15-4967-BBB0-FA534920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438275"/>
            <a:ext cx="9525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3"/>
          </a:solidFill>
          <a:ln xmlns:a="http://schemas.openxmlformats.org/drawingml/2006/main" w="0">
            <a:noFill/>
          </a:ln>
        </p:spPr>
      </p:sp>
      <p:sp>
        <p:nvSpPr>
          <p:cNvPr id="11" name="ram-remap-summary">
            <a:extLst xmlns:a="http://schemas.openxmlformats.org/drawingml/2006/main">
              <a:ext uri="{FF2B5EF4-FFF2-40B4-BE49-F238E27FC236}">
                <a16:creationId xmlns:a16="http://schemas.microsoft.com/office/drawing/2014/main" id="{DA44F311-2C20-46AF-B537-BE887C3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88F4C"/>
                </a:solidFill>
                <a:latin typeface="Microsoft YaHei"/>
                <a:ea typeface="Microsoft YaHei"/>
                <a:cs typeface="Microsoft YaHei"/>
              </a:rPr>
              <a:t>RAM重映射：BRAM 211 → 79</a:t>
            </a:r>
          </a:p>
        </p:txBody>
      </p:sp>
      <p:sp>
        <p:nvSpPr>
          <p:cNvPr id="12" name="ram-remap-detail">
            <a:extLst xmlns:a="http://schemas.openxmlformats.org/drawingml/2006/main">
              <a:ext uri="{FF2B5EF4-FFF2-40B4-BE49-F238E27FC236}">
                <a16:creationId xmlns:a16="http://schemas.microsoft.com/office/drawing/2014/main" id="{9E92D22F-7B76-42A7-B2E9-735DBD50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561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rPr>
              <a:t>KV/XHAT使用URAM；完整顶层黑盒为0</a:t>
            </a:r>
          </a:p>
        </p:txBody>
      </p:sp>
      <p:sp>
        <p:nvSpPr>
          <p:cNvPr id="13" name="norm-improvement">
            <a:extLst xmlns:a="http://schemas.openxmlformats.org/drawingml/2006/main">
              <a:ext uri="{FF2B5EF4-FFF2-40B4-BE49-F238E27FC236}">
                <a16:creationId xmlns:a16="http://schemas.microsoft.com/office/drawing/2014/main" id="{91D8FAFB-FDCC-4019-B428-A09B155C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57750"/>
            <a:ext cx="486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B6958"/>
                </a:solidFill>
                <a:latin typeface="Microsoft YaHei"/>
                <a:ea typeface="Microsoft YaHei"/>
                <a:cs typeface="Microsoft YaHei"/>
              </a:rPr>
              <a:t>Norm耗时降低 33.5%</a:t>
            </a:r>
          </a:p>
        </p:txBody>
      </p:sp>
      <p:sp>
        <p:nvSpPr>
          <p:cNvPr id="14" name="norm-improvement-detail">
            <a:extLst xmlns:a="http://schemas.openxmlformats.org/drawingml/2006/main">
              <a:ext uri="{FF2B5EF4-FFF2-40B4-BE49-F238E27FC236}">
                <a16:creationId xmlns:a16="http://schemas.microsoft.com/office/drawing/2014/main" id="{F49E1B8D-6D20-4807-9A3D-410B0A48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76850"/>
            <a:ext cx="4867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rPr>
              <a:t>复用在线平方和统计，省去独立扫描</a:t>
            </a:r>
          </a:p>
        </p:txBody>
      </p:sp>
      <p:sp>
        <p:nvSpPr>
          <p:cNvPr id="15" name="evidence-separator">
            <a:extLst xmlns:a="http://schemas.openxmlformats.org/drawingml/2006/main">
              <a:ext uri="{FF2B5EF4-FFF2-40B4-BE49-F238E27FC236}">
                <a16:creationId xmlns:a16="http://schemas.microsoft.com/office/drawing/2014/main" id="{48D1FD51-7BEF-41B7-886B-47121D34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F4C"/>
          </a:solidFill>
          <a:ln xmlns:a="http://schemas.openxmlformats.org/drawingml/2006/main" w="0">
            <a:noFill/>
          </a:ln>
        </p:spPr>
      </p:sp>
      <p:sp>
        <p:nvSpPr>
          <p:cNvPr id="16" name="functional-evidence">
            <a:extLst xmlns:a="http://schemas.openxmlformats.org/drawingml/2006/main">
              <a:ext uri="{FF2B5EF4-FFF2-40B4-BE49-F238E27FC236}">
                <a16:creationId xmlns:a16="http://schemas.microsoft.com/office/drawing/2014/main" id="{7A3B95A3-8334-4523-89CC-718E2078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977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验证：3264个量化向量、51个行系数；覆盖反压、错误包及取消恢复。</a:t>
            </a:r>
          </a:p>
        </p:txBody>
      </p:sp>
      <p:sp>
        <p:nvSpPr>
          <p:cNvPr id="17" name="evidence-version">
            <a:extLst xmlns:a="http://schemas.openxmlformats.org/drawingml/2006/main">
              <a:ext uri="{FF2B5EF4-FFF2-40B4-BE49-F238E27FC236}">
                <a16:creationId xmlns:a16="http://schemas.microsoft.com/office/drawing/2014/main" id="{AC456D4C-1263-4B5B-AC3B-09B4B079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112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rPr>
              <a:t>注：仿真为RAM重映射前基线，资源为重映射后综合；新映射功能回归待完成。</a:t>
            </a:r>
          </a:p>
        </p:txBody>
      </p:sp>
      <p:sp>
        <p:nvSpPr>
          <p:cNvPr id="18" name="timing-scope">
            <a:extLst xmlns:a="http://schemas.openxmlformats.org/drawingml/2006/main">
              <a:ext uri="{FF2B5EF4-FFF2-40B4-BE49-F238E27FC236}">
                <a16:creationId xmlns:a16="http://schemas.microsoft.com/office/drawing/2014/main" id="{69131DF1-540E-44A3-BA99-CC4AE4D1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656565"/>
                </a:solidFill>
                <a:latin typeface="Microsoft YaHei"/>
                <a:ea typeface="Microsoft YaHei"/>
                <a:cs typeface="Microsoft YaHei"/>
              </a:rPr>
              <a:t>仅OOC面积综合，未布局布线；250MHz为目标频率折算。</a:t>
            </a:r>
          </a:p>
        </p:txBody>
      </p:sp>
    </p:spTree>
    <p:extLst>
      <p:ext uri="{BB962C8B-B14F-4D97-AF65-F5344CB8AC3E}">
        <p14:creationId xmlns:p14="http://schemas.microsoft.com/office/powerpoint/2010/main" val="1690281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2026-10-19T10:16:01.0460000Z</dcterms:created>
  <dcterms:modified xsi:type="dcterms:W3CDTF">2026-10-19T10:16:01.0460000Z</dcterms:modified>
</coreProperties>
</file>