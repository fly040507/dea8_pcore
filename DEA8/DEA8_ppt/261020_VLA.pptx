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heme/theme3.xml" ContentType="application/vnd.openxmlformats-officedocument.theme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35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2"/>
  </p:sldMasterIdLst>
  <p:notesMasterIdLst>
    <p:notesMasterId r:id="rId20"/>
  </p:notesMasterIdLst>
  <p:sldIdLst>
    <p:sldId id="1809" r:id="rId3"/>
    <p:sldId id="5074" r:id="rId4"/>
    <p:sldId id="5075" r:id="rId5"/>
    <p:sldId id="5076" r:id="rId6"/>
    <p:sldId id="5082" r:id="rId7"/>
    <p:sldId id="5061" r:id="rId8"/>
    <p:sldId id="5063" r:id="rId9"/>
    <p:sldId id="5067" r:id="rId10"/>
    <p:sldId id="5071" r:id="rId11"/>
    <p:sldId id="5072" r:id="rId12"/>
    <p:sldId id="5068" r:id="rId13"/>
    <p:sldId id="5077" r:id="rId14"/>
    <p:sldId id="5081" r:id="rId15"/>
    <p:sldId id="5080" r:id="rId16"/>
    <p:sldId id="5079" r:id="rId17"/>
    <p:sldId id="5073" r:id="rId18"/>
    <p:sldId id="1826" r:id="rId19"/>
  </p:sldIdLst>
  <p:sldSz cx="12192000" cy="6858000"/>
  <p:notesSz cx="6799263" cy="9929813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92D0"/>
    <a:srgbClr val="9250A7"/>
    <a:srgbClr val="DE4235"/>
    <a:srgbClr val="4874CB"/>
    <a:srgbClr val="E9ECF6"/>
    <a:srgbClr val="D2DEEF"/>
    <a:srgbClr val="374151"/>
    <a:srgbClr val="C00000"/>
    <a:srgbClr val="FF3300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8026AAE-A59C-4E9F-9417-6E562D79C9FB}" styleName="{d704909a-036c-4478-bca5-37cd17157313}">
    <a:wholeTbl>
      <a:tcTxStyle>
        <a:fontRef idx="none">
          <a:prstClr val="black"/>
        </a:fontRef>
      </a:tcTxStyle>
      <a:tcStyle>
        <a:tcBdr/>
        <a:fill>
          <a:solidFill>
            <a:srgbClr val="FFFFFF"/>
          </a:solidFill>
        </a:fill>
      </a:tcStyle>
    </a:wholeTbl>
    <a:band1H>
      <a:tcTxStyle>
        <a:fontRef idx="none">
          <a:prstClr val="black"/>
        </a:fontRef>
      </a:tcTxStyle>
      <a:tcStyle>
        <a:tcBdr/>
        <a:fill>
          <a:solidFill>
            <a:srgbClr val="C5D7E9"/>
          </a:solidFill>
        </a:fill>
      </a:tcStyle>
    </a:band1H>
    <a:band2H>
      <a:tcTxStyle>
        <a:fontRef idx="none">
          <a:prstClr val="black"/>
        </a:fontRef>
      </a:tcTxStyle>
      <a:tcStyle>
        <a:tcBdr/>
        <a:fill>
          <a:solidFill>
            <a:srgbClr val="7DA7CE"/>
          </a:solidFill>
        </a:fill>
      </a:tcStyle>
    </a:band2H>
    <a:firstRow>
      <a:tcTxStyle>
        <a:fontRef idx="none">
          <a:prstClr val="black"/>
        </a:fontRef>
      </a:tcTxStyle>
      <a:tcStyle>
        <a:tcBdr>
          <a:insideV>
            <a:ln w="6350" cmpd="sng">
              <a:solidFill>
                <a:srgbClr val="FFFFFF"/>
              </a:solidFill>
            </a:ln>
          </a:insideV>
        </a:tcBdr>
        <a:fill>
          <a:solidFill>
            <a:srgbClr val="396698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79" autoAdjust="0"/>
    <p:restoredTop sz="92110" autoAdjust="0"/>
  </p:normalViewPr>
  <p:slideViewPr>
    <p:cSldViewPr snapToGrid="0">
      <p:cViewPr varScale="1">
        <p:scale>
          <a:sx n="83" d="100"/>
          <a:sy n="83" d="100"/>
        </p:scale>
        <p:origin x="699" y="7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462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采用</a:t>
            </a:r>
            <a:r>
              <a:rPr lang="en-US" altLang="zh-CN" dirty="0"/>
              <a:t>8</a:t>
            </a:r>
            <a:r>
              <a:rPr lang="zh-CN" altLang="en-US" dirty="0"/>
              <a:t>核设计，</a:t>
            </a:r>
            <a:r>
              <a:rPr lang="en-US" altLang="zh-CN" dirty="0"/>
              <a:t>8</a:t>
            </a:r>
            <a:r>
              <a:rPr lang="zh-CN" altLang="en-US" dirty="0"/>
              <a:t>核分别对应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/>
              <a:t>Q head</a:t>
            </a:r>
            <a:r>
              <a:rPr lang="zh-CN" altLang="en-US" dirty="0"/>
              <a:t>，</a:t>
            </a:r>
            <a:r>
              <a:rPr lang="en-US" altLang="zh-CN" dirty="0"/>
              <a:t>K/V</a:t>
            </a:r>
            <a:r>
              <a:rPr lang="zh-CN" altLang="en-US" dirty="0"/>
              <a:t>是单</a:t>
            </a:r>
            <a:r>
              <a:rPr lang="en-US" altLang="zh-CN" dirty="0"/>
              <a:t>head</a:t>
            </a:r>
            <a:r>
              <a:rPr lang="zh-CN" altLang="en-US" dirty="0"/>
              <a:t>，原本就要广播</a:t>
            </a:r>
            <a:r>
              <a:rPr lang="en-US" altLang="zh-CN" dirty="0"/>
              <a:t>8</a:t>
            </a:r>
            <a:r>
              <a:rPr lang="zh-CN" altLang="en-US" dirty="0"/>
              <a:t>份分别与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/>
              <a:t>Q head</a:t>
            </a:r>
            <a:r>
              <a:rPr lang="zh-CN" altLang="en-US" dirty="0"/>
              <a:t>进行计算，</a:t>
            </a:r>
            <a:r>
              <a:rPr lang="en-US" altLang="zh-CN" dirty="0"/>
              <a:t>8</a:t>
            </a:r>
            <a:r>
              <a:rPr lang="zh-CN" altLang="en-US" dirty="0"/>
              <a:t>核设计与之匹配，</a:t>
            </a:r>
            <a:r>
              <a:rPr lang="en-US" altLang="zh-CN" dirty="0"/>
              <a:t>attention</a:t>
            </a:r>
            <a:r>
              <a:rPr lang="zh-CN" altLang="en-US" dirty="0"/>
              <a:t>阶段可以不用额外归约</a:t>
            </a:r>
            <a:endParaRPr lang="en-US" altLang="zh-CN" dirty="0"/>
          </a:p>
          <a:p>
            <a:r>
              <a:rPr lang="en-US" altLang="zh-CN" dirty="0" err="1"/>
              <a:t>Gcore</a:t>
            </a:r>
            <a:r>
              <a:rPr lang="zh-CN" altLang="en-US" dirty="0"/>
              <a:t>负责处理无法在</a:t>
            </a:r>
            <a:r>
              <a:rPr lang="en-US" altLang="zh-CN" dirty="0" err="1"/>
              <a:t>Pcore</a:t>
            </a:r>
            <a:r>
              <a:rPr lang="zh-CN" altLang="en-US" dirty="0"/>
              <a:t>中完成的操作，具体是残差运算（结果覆盖原先激活，实现激活的更新），</a:t>
            </a:r>
            <a:r>
              <a:rPr lang="en-US" altLang="zh-CN" dirty="0" err="1"/>
              <a:t>RMSNorm</a:t>
            </a:r>
            <a:r>
              <a:rPr lang="zh-CN" altLang="en-US" dirty="0"/>
              <a:t>，</a:t>
            </a:r>
            <a:r>
              <a:rPr lang="en-US" altLang="zh-CN" dirty="0"/>
              <a:t>Quant</a:t>
            </a:r>
            <a:r>
              <a:rPr lang="zh-CN" altLang="en-US" dirty="0"/>
              <a:t>，还负责</a:t>
            </a:r>
            <a:r>
              <a:rPr lang="en-US" altLang="zh-CN" dirty="0"/>
              <a:t>K/V Cache</a:t>
            </a:r>
            <a:r>
              <a:rPr lang="zh-CN" altLang="en-US" dirty="0"/>
              <a:t>的管理</a:t>
            </a:r>
            <a:endParaRPr lang="en-US" altLang="zh-CN" dirty="0"/>
          </a:p>
          <a:p>
            <a:r>
              <a:rPr lang="en-US" altLang="zh-CN" dirty="0"/>
              <a:t>XBC</a:t>
            </a:r>
            <a:r>
              <a:rPr lang="zh-CN" altLang="en-US" dirty="0"/>
              <a:t>向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 err="1"/>
              <a:t>Pcore</a:t>
            </a:r>
            <a:r>
              <a:rPr lang="zh-CN" altLang="en-US" dirty="0"/>
              <a:t>广播完整激活，</a:t>
            </a:r>
            <a:r>
              <a:rPr lang="en-US" altLang="zh-CN" dirty="0"/>
              <a:t>KVB</a:t>
            </a:r>
            <a:r>
              <a:rPr lang="zh-CN" altLang="en-US" dirty="0"/>
              <a:t>在</a:t>
            </a:r>
            <a:r>
              <a:rPr lang="en-US" altLang="zh-CN" dirty="0"/>
              <a:t>attention</a:t>
            </a:r>
            <a:r>
              <a:rPr lang="zh-CN" altLang="en-US" dirty="0"/>
              <a:t>阶段向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 err="1"/>
              <a:t>Pcore</a:t>
            </a:r>
            <a:r>
              <a:rPr lang="zh-CN" altLang="en-US" dirty="0"/>
              <a:t>广播完整的</a:t>
            </a:r>
            <a:r>
              <a:rPr lang="en-US" altLang="zh-CN" dirty="0"/>
              <a:t>K/V</a:t>
            </a:r>
            <a:br>
              <a:rPr lang="en-US" altLang="zh-CN" dirty="0"/>
            </a:br>
            <a:r>
              <a:rPr lang="en-US" altLang="zh-CN" dirty="0"/>
              <a:t>CNET</a:t>
            </a:r>
            <a:r>
              <a:rPr lang="zh-CN" altLang="en-US" dirty="0"/>
              <a:t>负责</a:t>
            </a:r>
            <a:r>
              <a:rPr lang="en-US" altLang="zh-CN" dirty="0"/>
              <a:t>8</a:t>
            </a:r>
            <a:r>
              <a:rPr lang="zh-CN" altLang="en-US" dirty="0"/>
              <a:t>核结果的拼接和归约，</a:t>
            </a:r>
            <a:r>
              <a:rPr lang="en-US" altLang="zh-CN" dirty="0"/>
              <a:t>Gather</a:t>
            </a:r>
            <a:r>
              <a:rPr lang="zh-CN" altLang="en-US" dirty="0"/>
              <a:t>拼接</a:t>
            </a:r>
            <a:r>
              <a:rPr lang="en-US" altLang="zh-CN" dirty="0"/>
              <a:t>K/V suffix</a:t>
            </a:r>
            <a:r>
              <a:rPr lang="zh-CN" altLang="en-US" dirty="0"/>
              <a:t>，</a:t>
            </a:r>
            <a:r>
              <a:rPr lang="en-US" altLang="zh-CN" dirty="0"/>
              <a:t>Reduce</a:t>
            </a:r>
            <a:r>
              <a:rPr lang="zh-CN" altLang="en-US" dirty="0"/>
              <a:t>归约</a:t>
            </a:r>
            <a:r>
              <a:rPr lang="en-US" altLang="zh-CN" dirty="0"/>
              <a:t>8</a:t>
            </a:r>
            <a:r>
              <a:rPr lang="zh-CN" altLang="en-US" dirty="0"/>
              <a:t>核输出的</a:t>
            </a:r>
            <a:r>
              <a:rPr lang="en-US" altLang="zh-CN" dirty="0"/>
              <a:t>O/Down projection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 err="1"/>
              <a:t>Pcore</a:t>
            </a:r>
            <a:r>
              <a:rPr lang="zh-CN" altLang="en-US" dirty="0"/>
              <a:t>并行执行</a:t>
            </a:r>
            <a:r>
              <a:rPr lang="en-US" altLang="zh-CN" dirty="0"/>
              <a:t>Projection</a:t>
            </a:r>
            <a:r>
              <a:rPr lang="zh-CN" altLang="en-US" dirty="0"/>
              <a:t>、</a:t>
            </a:r>
            <a:r>
              <a:rPr lang="en-US" altLang="zh-CN" dirty="0" err="1"/>
              <a:t>FlashAttention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dirty="0"/>
              <a:t>FFN </a:t>
            </a:r>
            <a:r>
              <a:rPr lang="zh-CN" altLang="en-US" dirty="0"/>
              <a:t>的本地矩阵计算及状态维护。</a:t>
            </a:r>
          </a:p>
          <a:p>
            <a:r>
              <a:rPr lang="en-US" altLang="zh-CN" dirty="0"/>
              <a:t>HBM</a:t>
            </a:r>
            <a:r>
              <a:rPr lang="zh-CN" altLang="en-US" dirty="0"/>
              <a:t>负责提供每个核需要的权重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2915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720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1498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Data Frontend</a:t>
            </a:r>
            <a:r>
              <a:rPr lang="zh-CN" altLang="en-US" dirty="0"/>
              <a:t>负责接收矩阵运算中不在</a:t>
            </a:r>
            <a:r>
              <a:rPr lang="en-US" altLang="zh-CN" dirty="0" err="1"/>
              <a:t>Pcore</a:t>
            </a:r>
            <a:r>
              <a:rPr lang="zh-CN" altLang="en-US" dirty="0"/>
              <a:t>的数据，包括完整共享激活，完整</a:t>
            </a:r>
            <a:r>
              <a:rPr lang="en-US" altLang="zh-CN" dirty="0"/>
              <a:t>K/V</a:t>
            </a:r>
            <a:r>
              <a:rPr lang="zh-CN" altLang="en-US" dirty="0"/>
              <a:t>，切分后的权重等</a:t>
            </a:r>
            <a:br>
              <a:rPr lang="en-US" altLang="zh-CN" dirty="0"/>
            </a:br>
            <a:r>
              <a:rPr lang="en-US" altLang="zh-CN" dirty="0"/>
              <a:t>Compute Engines</a:t>
            </a:r>
            <a:r>
              <a:rPr lang="zh-CN" altLang="en-US" dirty="0"/>
              <a:t>中蓝色负责矩阵运算，红色负责其他操作（</a:t>
            </a:r>
            <a:r>
              <a:rPr lang="en-US" altLang="zh-CN" dirty="0" err="1"/>
              <a:t>softmax</a:t>
            </a:r>
            <a:r>
              <a:rPr lang="zh-CN" altLang="en-US" dirty="0"/>
              <a:t>，量化，特殊函数）</a:t>
            </a:r>
            <a:br>
              <a:rPr lang="en-US" altLang="zh-CN" dirty="0"/>
            </a:br>
            <a:r>
              <a:rPr lang="en-US" altLang="zh-CN" dirty="0"/>
              <a:t>Local </a:t>
            </a:r>
            <a:r>
              <a:rPr lang="en-US" altLang="zh-CN" dirty="0" err="1"/>
              <a:t>Buffers&amp;State</a:t>
            </a:r>
            <a:r>
              <a:rPr lang="zh-CN" altLang="en-US" dirty="0"/>
              <a:t>：存储单元</a:t>
            </a:r>
            <a:br>
              <a:rPr lang="en-US" altLang="zh-CN" dirty="0"/>
            </a:br>
            <a:r>
              <a:rPr lang="en-US" altLang="zh-CN" dirty="0"/>
              <a:t>Control</a:t>
            </a:r>
            <a:r>
              <a:rPr lang="zh-CN" altLang="en-US" dirty="0"/>
              <a:t>：控制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5334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49EC6-63CD-8C91-1798-842A0790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7F76B6-849F-6D60-32EE-F1C90178E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5835EF-C85E-6A91-5346-322A4CEC7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1D40E1-7A15-0BE5-0234-8E388FB65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15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Flashattention</a:t>
            </a:r>
            <a:r>
              <a:rPr lang="zh-CN" altLang="en-US" dirty="0"/>
              <a:t>切分了</a:t>
            </a:r>
            <a:r>
              <a:rPr lang="en-US" altLang="zh-CN" dirty="0"/>
              <a:t>55</a:t>
            </a:r>
            <a:r>
              <a:rPr lang="zh-CN" altLang="en-US" dirty="0"/>
              <a:t>个</a:t>
            </a:r>
            <a:r>
              <a:rPr lang="en-US" altLang="zh-CN" dirty="0"/>
              <a:t>block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矩阵运算已经实现加载隐藏，一个</a:t>
            </a:r>
            <a:r>
              <a:rPr lang="en-US" altLang="zh-CN" b="0" dirty="0"/>
              <a:t>block</a:t>
            </a:r>
            <a:r>
              <a:rPr lang="zh-CN" altLang="en-US" b="0" dirty="0"/>
              <a:t>（</a:t>
            </a:r>
            <a:r>
              <a:rPr lang="en-US" altLang="zh-CN" b="0" dirty="0"/>
              <a:t>PV/QK[b]</a:t>
            </a:r>
            <a:r>
              <a:rPr lang="zh-CN" altLang="en-US" b="0" dirty="0"/>
              <a:t>）矩阵运算时间</a:t>
            </a:r>
            <a:r>
              <a:rPr lang="en-US" altLang="zh-CN" b="0" dirty="0"/>
              <a:t>827</a:t>
            </a:r>
            <a:r>
              <a:rPr lang="zh-CN" altLang="en-US" b="0" dirty="0"/>
              <a:t>拍</a:t>
            </a:r>
            <a:endParaRPr lang="en-US" altLang="zh-CN" dirty="0"/>
          </a:p>
          <a:p>
            <a:r>
              <a:rPr lang="zh-CN" altLang="en-US" dirty="0"/>
              <a:t>除了尾部的</a:t>
            </a:r>
            <a:r>
              <a:rPr lang="zh-CN" altLang="en-US" sz="1200" b="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尾部 </a:t>
            </a:r>
            <a:r>
              <a:rPr lang="el-GR" altLang="zh-HK" sz="1200" b="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α·</a:t>
            </a:r>
            <a:r>
              <a:rPr lang="en-US" altLang="zh-HK" sz="1200" b="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O[53] </a:t>
            </a:r>
            <a:r>
              <a:rPr lang="zh-CN" altLang="en-US" sz="1200" b="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与 </a:t>
            </a:r>
            <a:r>
              <a:rPr lang="en-US" altLang="zh-HK" sz="1200" b="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A_FIN </a:t>
            </a:r>
            <a:r>
              <a:rPr lang="zh-CN" altLang="en-US" sz="1200" b="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外，非矩阵运算均已实现隐藏</a:t>
            </a:r>
            <a:endParaRPr lang="en-US" altLang="zh-CN" sz="1200" b="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r>
              <a:rPr lang="zh-CN" altLang="en-US" b="0" dirty="0"/>
              <a:t>图中是完整的</a:t>
            </a:r>
            <a:r>
              <a:rPr lang="en-US" altLang="zh-CN" b="0" dirty="0" err="1"/>
              <a:t>Flashattention</a:t>
            </a:r>
            <a:r>
              <a:rPr lang="zh-CN" altLang="en-US" b="0" dirty="0"/>
              <a:t>流程，稳态下</a:t>
            </a:r>
            <a:r>
              <a:rPr lang="en-US" altLang="zh-CN" b="0" dirty="0"/>
              <a:t>PV/</a:t>
            </a:r>
            <a:r>
              <a:rPr lang="en-US" altLang="zh-CN" b="0" dirty="0" err="1"/>
              <a:t>Qkblock</a:t>
            </a:r>
            <a:r>
              <a:rPr lang="zh-CN" altLang="en-US" b="0" dirty="0"/>
              <a:t>交替运算，</a:t>
            </a:r>
            <a:r>
              <a:rPr lang="en-US" altLang="zh-CN" b="0" dirty="0" err="1"/>
              <a:t>softmax</a:t>
            </a:r>
            <a:r>
              <a:rPr lang="zh-CN" altLang="en-US" b="0" dirty="0"/>
              <a:t>等非矩阵运算完全隐藏</a:t>
            </a:r>
            <a:endParaRPr lang="en-US" altLang="zh-CN" b="0" dirty="0"/>
          </a:p>
          <a:p>
            <a:r>
              <a:rPr lang="zh-CN" altLang="en-US" b="0" dirty="0"/>
              <a:t>目前已经完成矩阵运算相关的</a:t>
            </a:r>
            <a:r>
              <a:rPr lang="en-US" altLang="zh-CN" b="0" dirty="0"/>
              <a:t>RTL</a:t>
            </a:r>
            <a:r>
              <a:rPr lang="zh-CN" altLang="en-US" b="0" dirty="0"/>
              <a:t>，仿真验证下</a:t>
            </a:r>
            <a:r>
              <a:rPr lang="en-US" altLang="zh-CN" b="0" dirty="0"/>
              <a:t>PE</a:t>
            </a:r>
            <a:r>
              <a:rPr lang="zh-CN" altLang="en-US" b="0" dirty="0"/>
              <a:t>进行矩阵乘的利用率为</a:t>
            </a:r>
            <a:r>
              <a:rPr lang="en-US" altLang="zh-CN" b="0" dirty="0"/>
              <a:t>96.72%</a:t>
            </a:r>
          </a:p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49EC6-63CD-8C91-1798-842A0790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7F76B6-849F-6D60-32EE-F1C90178E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5835EF-C85E-6A91-5346-322A4CEC7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1D40E1-7A15-0BE5-0234-8E388FB65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192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49EC6-63CD-8C91-1798-842A0790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7F76B6-849F-6D60-32EE-F1C90178E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5835EF-C85E-6A91-5346-322A4CEC7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1D40E1-7A15-0BE5-0234-8E388FB65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979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49EC6-63CD-8C91-1798-842A0790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7F76B6-849F-6D60-32EE-F1C90178E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5835EF-C85E-6A91-5346-322A4CEC7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1D40E1-7A15-0BE5-0234-8E388FB65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9349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49EC6-63CD-8C91-1798-842A0790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7F76B6-849F-6D60-32EE-F1C90178E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5835EF-C85E-6A91-5346-322A4CEC7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1D40E1-7A15-0BE5-0234-8E388FB65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39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49EC6-63CD-8C91-1798-842A0790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7F76B6-849F-6D60-32EE-F1C90178E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5835EF-C85E-6A91-5346-322A4CEC7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1D40E1-7A15-0BE5-0234-8E388FB65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319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49EC6-63CD-8C91-1798-842A0790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7F76B6-849F-6D60-32EE-F1C90178E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5835EF-C85E-6A91-5346-322A4CEC7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1D40E1-7A15-0BE5-0234-8E388FB65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5311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49EC6-63CD-8C91-1798-842A0790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7F76B6-849F-6D60-32EE-F1C90178E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5835EF-C85E-6A91-5346-322A4CEC7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1D40E1-7A15-0BE5-0234-8E388FB65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310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49EC6-63CD-8C91-1798-842A0790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7F76B6-849F-6D60-32EE-F1C90178E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5835EF-C85E-6A91-5346-322A4CEC7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1D40E1-7A15-0BE5-0234-8E388FB65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4497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49EC6-63CD-8C91-1798-842A0790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7F76B6-849F-6D60-32EE-F1C90178E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5835EF-C85E-6A91-5346-322A4CEC7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1D40E1-7A15-0BE5-0234-8E388FB65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045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 descr="ppt_画板 1 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02160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logo-04"/>
          <p:cNvPicPr>
            <a:picLocks noChangeAspect="1"/>
          </p:cNvPicPr>
          <p:nvPr userDrawn="1"/>
        </p:nvPicPr>
        <p:blipFill rotWithShape="1">
          <a:blip r:embed="rId3"/>
          <a:srcRect r="38623"/>
          <a:stretch/>
        </p:blipFill>
        <p:spPr>
          <a:xfrm>
            <a:off x="-268605" y="-464820"/>
            <a:ext cx="2021202" cy="2175510"/>
          </a:xfrm>
          <a:prstGeom prst="rect">
            <a:avLst/>
          </a:prstGeom>
        </p:spPr>
      </p:pic>
      <p:cxnSp>
        <p:nvCxnSpPr>
          <p:cNvPr id="7" name="Straight Connector 9"/>
          <p:cNvCxnSpPr/>
          <p:nvPr userDrawn="1"/>
        </p:nvCxnSpPr>
        <p:spPr>
          <a:xfrm>
            <a:off x="1812262" y="293127"/>
            <a:ext cx="0" cy="661481"/>
          </a:xfrm>
          <a:prstGeom prst="line">
            <a:avLst/>
          </a:prstGeom>
          <a:ln w="19050">
            <a:solidFill>
              <a:srgbClr val="B88F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页脚占位符 5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7861300" y="6337300"/>
            <a:ext cx="4114800" cy="365125"/>
          </a:xfrm>
        </p:spPr>
        <p:txBody>
          <a:bodyPr/>
          <a:lstStyle/>
          <a:p>
            <a:r>
              <a:rPr lang="en-US" altLang="zh-CN"/>
              <a:t>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7315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9512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980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3026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3416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2688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 descr="ppt_画板 1 副本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02160" cy="685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693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60717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0377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3497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603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logo-04"/>
          <p:cNvPicPr>
            <a:picLocks noChangeAspect="1"/>
          </p:cNvPicPr>
          <p:nvPr userDrawn="1"/>
        </p:nvPicPr>
        <p:blipFill rotWithShape="1">
          <a:blip r:embed="rId3"/>
          <a:srcRect r="38623"/>
          <a:stretch>
            <a:fillRect/>
          </a:stretch>
        </p:blipFill>
        <p:spPr>
          <a:xfrm>
            <a:off x="-268605" y="-464820"/>
            <a:ext cx="2021202" cy="2175510"/>
          </a:xfrm>
          <a:prstGeom prst="rect">
            <a:avLst/>
          </a:prstGeom>
        </p:spPr>
      </p:pic>
      <p:cxnSp>
        <p:nvCxnSpPr>
          <p:cNvPr id="7" name="Straight Connector 9"/>
          <p:cNvCxnSpPr/>
          <p:nvPr userDrawn="1"/>
        </p:nvCxnSpPr>
        <p:spPr>
          <a:xfrm>
            <a:off x="1812262" y="293127"/>
            <a:ext cx="0" cy="661481"/>
          </a:xfrm>
          <a:prstGeom prst="line">
            <a:avLst/>
          </a:prstGeom>
          <a:ln w="19050">
            <a:solidFill>
              <a:srgbClr val="B88F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页脚占位符 5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7861300" y="6337300"/>
            <a:ext cx="4114800" cy="365125"/>
          </a:xfrm>
        </p:spPr>
        <p:txBody>
          <a:bodyPr/>
          <a:lstStyle/>
          <a:p>
            <a:r>
              <a:rPr lang="en-US" altLang="zh-CN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71805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63681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9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</a:defRPr>
            </a:lvl2pPr>
            <a:lvl3pPr eaLnBrk="1" fontAlgn="auto" latinLnBrk="0" hangingPunct="1">
              <a:buFont typeface="Arial" panose="020B060402020209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389028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12528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248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4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9.png"/><Relationship Id="rId2" Type="http://schemas.openxmlformats.org/officeDocument/2006/relationships/tags" Target="../tags/tag3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6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70" y="5332730"/>
            <a:ext cx="4865370" cy="1885950"/>
          </a:xfrm>
          <a:prstGeom prst="rect">
            <a:avLst/>
          </a:prstGeom>
        </p:spPr>
      </p:pic>
      <p:pic>
        <p:nvPicPr>
          <p:cNvPr id="6" name="图片 5" descr="logo-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907530" y="5332730"/>
            <a:ext cx="4865370" cy="1885950"/>
          </a:xfrm>
          <a:prstGeom prst="rect">
            <a:avLst/>
          </a:prstGeom>
        </p:spPr>
      </p:pic>
      <p:pic>
        <p:nvPicPr>
          <p:cNvPr id="21" name="图片 20" descr="logo_画板 1 副本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88560"/>
            <a:ext cx="12233910" cy="1869440"/>
          </a:xfrm>
          <a:prstGeom prst="rect">
            <a:avLst/>
          </a:prstGeom>
        </p:spPr>
      </p:pic>
      <p:pic>
        <p:nvPicPr>
          <p:cNvPr id="7" name="图片 5" descr="logo-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0400" y="-326311"/>
            <a:ext cx="3293110" cy="217551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4270" y="3750717"/>
            <a:ext cx="4865370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cs typeface="+mn-ea"/>
                <a:sym typeface="+mn-lt"/>
              </a:rPr>
              <a:t>2026.10.20</a:t>
            </a:r>
          </a:p>
          <a:p>
            <a:pPr algn="ctr">
              <a:lnSpc>
                <a:spcPct val="150000"/>
              </a:lnSpc>
            </a:pPr>
            <a:endParaRPr lang="en-US" altLang="zh-CN" sz="2400" b="1" dirty="0">
              <a:cs typeface="+mn-ea"/>
              <a:sym typeface="+mn-lt"/>
            </a:endParaRPr>
          </a:p>
        </p:txBody>
      </p:sp>
      <p:sp>
        <p:nvSpPr>
          <p:cNvPr id="2" name="矩形 9">
            <a:extLst>
              <a:ext uri="{FF2B5EF4-FFF2-40B4-BE49-F238E27FC236}">
                <a16:creationId xmlns:a16="http://schemas.microsoft.com/office/drawing/2014/main" id="{55D53C8B-14EF-4F15-C6D5-8B647C60932B}"/>
              </a:ext>
            </a:extLst>
          </p:cNvPr>
          <p:cNvSpPr/>
          <p:nvPr/>
        </p:nvSpPr>
        <p:spPr>
          <a:xfrm>
            <a:off x="2795932" y="2115340"/>
            <a:ext cx="7186268" cy="820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600" b="1" dirty="0">
                <a:cs typeface="+mn-ea"/>
                <a:sym typeface="+mn-lt"/>
              </a:rPr>
              <a:t>DEA-8</a:t>
            </a:r>
            <a:r>
              <a:rPr lang="zh-CN" altLang="en-US" sz="3600" b="1" dirty="0">
                <a:cs typeface="+mn-ea"/>
                <a:sym typeface="+mn-lt"/>
              </a:rPr>
              <a:t>设计进度汇报</a:t>
            </a:r>
            <a:endParaRPr lang="en-US" altLang="zh-CN" sz="3600" b="1" dirty="0"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59844" y="376318"/>
            <a:ext cx="9771999" cy="5784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HK" sz="2800" b="1" i="0" u="none" strike="noStrike" kern="1200" cap="none" spc="0" normalizeH="0" baseline="0" noProof="0" dirty="0">
                <a:ln>
                  <a:noFill/>
                </a:ln>
                <a:solidFill>
                  <a:srgbClr val="B88F4C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1.DEA-8 Multi-Core Architecture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HK" sz="2800" b="1" i="0" u="none" strike="noStrike" kern="1200" cap="none" spc="0" normalizeH="0" baseline="0" noProof="0" dirty="0">
              <a:ln>
                <a:noFill/>
              </a:ln>
              <a:solidFill>
                <a:srgbClr val="B88F4C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内容占位符 6"/>
          <p:cNvSpPr>
            <a:spLocks noGrp="1"/>
          </p:cNvSpPr>
          <p:nvPr/>
        </p:nvSpPr>
        <p:spPr>
          <a:xfrm>
            <a:off x="228602" y="1066843"/>
            <a:ext cx="11729075" cy="739856"/>
          </a:xfrm>
        </p:spPr>
        <p:txBody>
          <a:bodyPr>
            <a:norm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630" marR="0" lvl="0" indent="-341630" algn="l" defTabSz="4552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57" name="内容占位符 6"/>
          <p:cNvSpPr>
            <a:spLocks noGrp="1"/>
          </p:cNvSpPr>
          <p:nvPr/>
        </p:nvSpPr>
        <p:spPr>
          <a:xfrm>
            <a:off x="204522" y="1316483"/>
            <a:ext cx="5736265" cy="4999538"/>
          </a:xfrm>
        </p:spPr>
        <p:txBody>
          <a:bodyPr>
            <a:no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630" marR="0" lvl="0" indent="-341630" algn="l" defTabSz="4552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GCore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： 负责共享激活</a:t>
            </a:r>
            <a:r>
              <a:rPr lang="zh-CN" altLang="en-US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：残差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计算、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RMSNorm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、量化；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K/V cache Gather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；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O/Down Reduce</a:t>
            </a:r>
          </a:p>
          <a:p>
            <a:pPr marL="341630" marR="0" lvl="0" indent="-341630" algn="l" defTabSz="4552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XBC / KVB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： 广播完整共享激活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/KV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到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8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个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Pcore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+mn-ea"/>
            </a:endParaRPr>
          </a:p>
          <a:p>
            <a:pPr marL="341630" marR="0" lvl="0" indent="-341630" algn="l" defTabSz="4552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8×PCore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：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8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核对应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8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个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Query Head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，并行执行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Projection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FlashAttention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与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FFN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的本地矩阵计算及状态维护。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+mn-ea"/>
            </a:endParaRPr>
          </a:p>
          <a:p>
            <a:pPr marL="341630" marR="0" lvl="0" indent="-341630" algn="l" defTabSz="4552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HK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HBM</a:t>
            </a:r>
            <a:r>
              <a:rPr kumimoji="0" lang="zh-HK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：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为各 </a:t>
            </a:r>
            <a:r>
              <a:rPr kumimoji="0" lang="en-US" altLang="zh-HK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PCore</a:t>
            </a:r>
            <a:r>
              <a:rPr kumimoji="0" lang="en-US" altLang="zh-HK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提供切分后的私有 </a:t>
            </a:r>
            <a:r>
              <a:rPr kumimoji="0" lang="en-US" altLang="zh-HK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Weight / Scale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，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NoC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,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访存的节省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+mn-ea"/>
            </a:endParaRPr>
          </a:p>
          <a:p>
            <a:pPr marL="341630" marR="0" lvl="0" indent="-341630" algn="l" defTabSz="4552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en-US" altLang="zh-HK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DEA8 C</a:t>
            </a:r>
            <a:r>
              <a:rPr lang="en-US" altLang="zh-CN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ontrol</a:t>
            </a:r>
            <a:r>
              <a:rPr lang="zh-CN" altLang="en-US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：发布</a:t>
            </a:r>
            <a:r>
              <a:rPr lang="en-US" altLang="zh-CN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10</a:t>
            </a:r>
            <a:r>
              <a:rPr lang="zh-CN" altLang="en-US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步去噪各阶段</a:t>
            </a:r>
            <a:r>
              <a:rPr lang="en-US" altLang="zh-CN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job</a:t>
            </a:r>
          </a:p>
          <a:p>
            <a:pPr marL="341630" marR="0" lvl="0" indent="-341630" algn="l" defTabSz="4552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HK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ost/Host Interface</a:t>
            </a:r>
            <a:endParaRPr kumimoji="0" lang="en-US" altLang="zh-H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9956AEE-4FBA-409C-9C92-787FFF171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64867" y="1436771"/>
            <a:ext cx="5697639" cy="523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26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59844" y="376318"/>
            <a:ext cx="9771999" cy="5784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HK" sz="2800" b="1" dirty="0">
                <a:solidFill>
                  <a:srgbClr val="B88F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2</a:t>
            </a:r>
            <a:r>
              <a:rPr kumimoji="0" lang="en-US" altLang="zh-HK" sz="2800" b="1" i="0" u="none" strike="noStrike" kern="1200" cap="none" spc="0" normalizeH="0" baseline="0" noProof="0" dirty="0">
                <a:ln>
                  <a:noFill/>
                </a:ln>
                <a:solidFill>
                  <a:srgbClr val="B88F4C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.1 </a:t>
            </a:r>
            <a:r>
              <a:rPr kumimoji="0" lang="en-US" altLang="zh-HK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B88F4C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Gcore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B88F4C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设计</a:t>
            </a:r>
            <a:endParaRPr kumimoji="0" lang="en-US" altLang="zh-HK" sz="2800" b="1" i="0" u="none" strike="noStrike" kern="1200" cap="none" spc="0" normalizeH="0" baseline="0" noProof="0" dirty="0">
              <a:ln>
                <a:noFill/>
              </a:ln>
              <a:solidFill>
                <a:srgbClr val="B88F4C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HK" sz="2800" b="1" i="0" u="none" strike="noStrike" kern="1200" cap="none" spc="0" normalizeH="0" baseline="0" noProof="0" dirty="0">
              <a:ln>
                <a:noFill/>
              </a:ln>
              <a:solidFill>
                <a:srgbClr val="B88F4C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1EB81C1-3B08-494D-8C30-653DF01731F5}"/>
                  </a:ext>
                </a:extLst>
              </p:cNvPr>
              <p:cNvSpPr txBox="1"/>
              <p:nvPr/>
            </p:nvSpPr>
            <p:spPr>
              <a:xfrm>
                <a:off x="602411" y="1142508"/>
                <a:ext cx="11029432" cy="5053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Tile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级重叠处理：</a:t>
                </a:r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sz="1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矩阵计算窗口： </a:t>
                </a:r>
                <a:r>
                  <a:rPr lang="en-US" altLang="zh-CN" sz="1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O/Down</a:t>
                </a:r>
                <a:r>
                  <a:rPr lang="zh-CN" altLang="en-US" sz="1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按 </a:t>
                </a:r>
                <a:r>
                  <a:rPr lang="en-US" altLang="zh-CN" sz="1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[51,16] N-Tile</a:t>
                </a:r>
                <a:r>
                  <a:rPr lang="zh-CN" altLang="en-US" sz="1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输出，对应</a:t>
                </a:r>
                <a:r>
                  <a:rPr lang="en-US" altLang="zh-CN" sz="1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416/832</a:t>
                </a:r>
                <a:r>
                  <a:rPr lang="zh-CN" altLang="en-US" sz="1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拍矩阵有效发射</a:t>
                </a:r>
                <a:endPara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归约与残差： 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4-lane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八核归约树接残差加法器，每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N-Tile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需要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204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拍有效发射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平方和统计： 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16-lane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乘法器完成平方，复用加法树累计行平方和，每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N-Tile51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拍</a:t>
                </a:r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归一化与量化（暴露）：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sz="1800" b="1" dirty="0">
                    <a:ea typeface="微软雅黑" panose="020B0503020204020204" pitchFamily="34" charset="-122"/>
                    <a:sym typeface="+mn-ea"/>
                  </a:rPr>
                  <a:t>计算</a:t>
                </a:r>
                <a:r>
                  <a:rPr lang="en-US" altLang="zh-CN" sz="1800" b="1" dirty="0">
                    <a:ea typeface="微软雅黑" panose="020B0503020204020204" pitchFamily="34" charset="-122"/>
                    <a:sym typeface="+mn-ea"/>
                  </a:rPr>
                  <a:t>51</a:t>
                </a:r>
                <a:r>
                  <a:rPr lang="zh-CN" altLang="en-US" sz="1800" b="1" dirty="0">
                    <a:ea typeface="微软雅黑" panose="020B0503020204020204" pitchFamily="34" charset="-122"/>
                    <a:sym typeface="+mn-ea"/>
                  </a:rPr>
                  <a:t>个归一化系数：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inv</m:t>
                        </m:r>
                      </m:e>
                      <m:sub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𝒎</m:t>
                        </m:r>
                      </m:sub>
                    </m:sSub>
                    <m:r>
                      <a:rPr lang="en-US" altLang="zh-CN" sz="18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=</m:t>
                    </m:r>
                    <m:r>
                      <a:rPr lang="en-US" altLang="zh-CN" sz="18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𝒓𝒔𝒒𝒓𝒕</m:t>
                    </m:r>
                    <m:r>
                      <a:rPr lang="en-US" altLang="zh-CN" sz="18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(</m:t>
                    </m:r>
                    <m:f>
                      <m:fPr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8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18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  <m:t>𝑺</m:t>
                            </m:r>
                            <m:sSub>
                              <m:sSubPr>
                                <m:ctrlPr>
                                  <a:rPr lang="en-US" altLang="zh-CN" sz="1800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sym typeface="+mn-ea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sym typeface="+mn-ea"/>
                                  </a:rPr>
                                  <m:t>𝑨𝑪𝑪</m:t>
                                </m:r>
                              </m:sub>
                            </m:sSub>
                          </m:e>
                          <m:sub>
                            <m:r>
                              <a:rPr lang="en-US" altLang="zh-CN" sz="18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+mn-ea"/>
                              </a:rPr>
                              <m:t>𝒎</m:t>
                            </m:r>
                          </m:sub>
                        </m:sSub>
                      </m:num>
                      <m:den>
                        <m:r>
                          <a:rPr lang="en-US" altLang="zh-CN" sz="18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ea"/>
                          </a:rPr>
                          <m:t>𝟏𝟎𝟐𝟒</m:t>
                        </m:r>
                      </m:den>
                    </m:f>
                    <m:r>
                      <a:rPr lang="en-US" altLang="zh-CN" sz="18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ε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）</m:t>
                    </m:r>
                  </m:oMath>
                </a14:m>
                <a:endPara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16lane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复用乘法器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+8lane</a:t>
                </a: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量化处理</a:t>
                </a:r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算数与精度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: 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计算采用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FP32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；残差以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BF16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存储，量化输出为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MXINT8-B16</a:t>
                </a:r>
                <a:endPara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sz="1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FP32</a:t>
                </a:r>
                <a:r>
                  <a:rPr lang="zh-CN" altLang="en-US" sz="1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加法、乘法及</a:t>
                </a:r>
                <a:r>
                  <a:rPr lang="en-US" altLang="zh-CN" sz="1800" b="1" dirty="0" err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rsqrt</a:t>
                </a:r>
                <a:r>
                  <a:rPr lang="zh-CN" altLang="en-US" sz="1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采用官方</a:t>
                </a:r>
                <a:r>
                  <a:rPr lang="en-US" altLang="zh-CN" sz="1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IP</a:t>
                </a:r>
                <a:r>
                  <a:rPr lang="zh-CN" altLang="en-US" sz="1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；加法器、乘法器每实例使用</a:t>
                </a:r>
                <a:r>
                  <a:rPr lang="en-US" altLang="zh-CN" sz="1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2</a:t>
                </a:r>
                <a:r>
                  <a:rPr lang="zh-CN" altLang="en-US" sz="1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个</a:t>
                </a:r>
                <a:r>
                  <a:rPr lang="en-US" altLang="zh-CN" sz="1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DSP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sz="1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归约树与乘法器分时复用，减少重复算术单元</a:t>
                </a:r>
                <a:endPara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1EB81C1-3B08-494D-8C30-653DF0173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11" y="1142508"/>
                <a:ext cx="11029432" cy="5053178"/>
              </a:xfrm>
              <a:prstGeom prst="rect">
                <a:avLst/>
              </a:prstGeom>
              <a:blipFill>
                <a:blip r:embed="rId3"/>
                <a:stretch>
                  <a:fillRect l="-498" b="-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B957C969-CA5D-435C-A844-0FF4732E4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619" y="4016858"/>
            <a:ext cx="3943128" cy="47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21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59844" y="376318"/>
            <a:ext cx="9771999" cy="5784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HK" sz="2800" b="1" i="0" u="none" strike="noStrike" kern="1200" cap="none" spc="0" normalizeH="0" baseline="0" noProof="0" dirty="0">
                <a:ln>
                  <a:noFill/>
                </a:ln>
                <a:solidFill>
                  <a:srgbClr val="B88F4C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2.2 </a:t>
            </a:r>
            <a:r>
              <a:rPr kumimoji="0" lang="en-US" altLang="zh-HK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B88F4C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Gcore</a:t>
            </a:r>
            <a:r>
              <a:rPr lang="zh-CN" altLang="en-US" sz="2800" b="1" dirty="0">
                <a:solidFill>
                  <a:srgbClr val="B88F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结果</a:t>
            </a:r>
            <a:endParaRPr kumimoji="0" lang="en-US" altLang="zh-HK" sz="2800" b="1" i="0" u="none" strike="noStrike" kern="1200" cap="none" spc="0" normalizeH="0" baseline="0" noProof="0" dirty="0">
              <a:ln>
                <a:noFill/>
              </a:ln>
              <a:solidFill>
                <a:srgbClr val="B88F4C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HK" sz="2800" b="1" i="0" u="none" strike="noStrike" kern="1200" cap="none" spc="0" normalizeH="0" baseline="0" noProof="0" dirty="0">
              <a:ln>
                <a:noFill/>
              </a:ln>
              <a:solidFill>
                <a:srgbClr val="B88F4C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EB81C1-3B08-494D-8C30-653DF01731F5}"/>
              </a:ext>
            </a:extLst>
          </p:cNvPr>
          <p:cNvSpPr txBox="1"/>
          <p:nvPr/>
        </p:nvSpPr>
        <p:spPr>
          <a:xfrm>
            <a:off x="602410" y="1142508"/>
            <a:ext cx="11543582" cy="216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Gcore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仿真（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模拟外部）：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重叠部分最大用时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拍，实际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N-Tile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级矩阵运算时间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462/878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冷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Norm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：对应第一层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ATTEN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前处理，无重叠处理，用时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10015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拍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热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Norm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：对应中间层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Gcore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工作，除去重叠部分，用时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6661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拍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中间层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Gcore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暴露占比 ≈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4.5%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（十步去噪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GCore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总用时≈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10ms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0F78AF-322D-4FA2-8534-94D541D57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818" y="4476113"/>
            <a:ext cx="5878902" cy="2276492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2091487-93E2-4015-9006-75AB94E11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155435"/>
              </p:ext>
            </p:extLst>
          </p:nvPr>
        </p:nvGraphicFramePr>
        <p:xfrm>
          <a:off x="713117" y="4382376"/>
          <a:ext cx="4601294" cy="2316116"/>
        </p:xfrm>
        <a:graphic>
          <a:graphicData uri="http://schemas.openxmlformats.org/drawingml/2006/table">
            <a:tbl>
              <a:tblPr/>
              <a:tblGrid>
                <a:gridCol w="1539768">
                  <a:extLst>
                    <a:ext uri="{9D8B030D-6E8A-4147-A177-3AD203B41FA5}">
                      <a16:colId xmlns:a16="http://schemas.microsoft.com/office/drawing/2014/main" val="1281437593"/>
                    </a:ext>
                  </a:extLst>
                </a:gridCol>
                <a:gridCol w="1530763">
                  <a:extLst>
                    <a:ext uri="{9D8B030D-6E8A-4147-A177-3AD203B41FA5}">
                      <a16:colId xmlns:a16="http://schemas.microsoft.com/office/drawing/2014/main" val="3897526065"/>
                    </a:ext>
                  </a:extLst>
                </a:gridCol>
                <a:gridCol w="1530763">
                  <a:extLst>
                    <a:ext uri="{9D8B030D-6E8A-4147-A177-3AD203B41FA5}">
                      <a16:colId xmlns:a16="http://schemas.microsoft.com/office/drawing/2014/main" val="530593185"/>
                    </a:ext>
                  </a:extLst>
                </a:gridCol>
              </a:tblGrid>
              <a:tr h="579029">
                <a:tc>
                  <a:txBody>
                    <a:bodyPr/>
                    <a:lstStyle/>
                    <a:p>
                      <a:pPr algn="l"/>
                      <a:r>
                        <a:rPr sz="165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对比项</a:t>
                      </a:r>
                      <a:endParaRPr sz="1650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7620">
                      <a:solidFill>
                        <a:srgbClr val="DCD5C9"/>
                      </a:solidFill>
                      <a:prstDash val="soli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T w="7620">
                      <a:solidFill>
                        <a:srgbClr val="DCD5C9"/>
                      </a:solidFill>
                      <a:prstDash val="soli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冷Norm</a:t>
                      </a:r>
                      <a:endParaRPr sz="1650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T w="7620">
                      <a:solidFill>
                        <a:srgbClr val="DCD5C9"/>
                      </a:solidFill>
                      <a:prstDash val="soli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热Norm</a:t>
                      </a:r>
                      <a:endParaRPr sz="1650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T w="7620">
                      <a:solidFill>
                        <a:srgbClr val="DCD5C9"/>
                      </a:solidFill>
                      <a:prstDash val="soli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289239"/>
                  </a:ext>
                </a:extLst>
              </a:tr>
              <a:tr h="579029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平方和</a:t>
                      </a:r>
                    </a:p>
                  </a:txBody>
                  <a:tcPr anchor="ctr">
                    <a:lnL w="7620">
                      <a:solidFill>
                        <a:srgbClr val="DCD5C9"/>
                      </a:solidFill>
                      <a:prstDash val="soli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T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独立扫描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T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复用SQ_ACC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T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949920"/>
                  </a:ext>
                </a:extLst>
              </a:tr>
              <a:tr h="579029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 / 拍</a:t>
                      </a:r>
                    </a:p>
                  </a:txBody>
                  <a:tcPr anchor="ctr">
                    <a:lnL w="7620">
                      <a:solidFill>
                        <a:srgbClr val="DCD5C9"/>
                      </a:solidFill>
                      <a:prstDash val="soli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T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 dirty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10,015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T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 dirty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6,661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T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217606"/>
                  </a:ext>
                </a:extLst>
              </a:tr>
              <a:tr h="579029">
                <a:tc>
                  <a:txBody>
                    <a:bodyPr/>
                    <a:lstStyle/>
                    <a:p>
                      <a:pPr algn="l"/>
                      <a:r>
                        <a:rPr sz="1725" b="0" dirty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250MHz折算</a:t>
                      </a:r>
                    </a:p>
                  </a:txBody>
                  <a:tcPr anchor="ctr">
                    <a:lnL w="7620">
                      <a:solidFill>
                        <a:srgbClr val="DCD5C9"/>
                      </a:solidFill>
                      <a:prstDash val="soli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T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40.060μs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T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 dirty="0">
                          <a:solidFill>
                            <a:srgbClr val="202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26.644μs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CD5C9"/>
                      </a:solidFill>
                      <a:prstDash val="solid"/>
                    </a:lnR>
                    <a:lnT w="7620" cap="flat" cmpd="sng" algn="ctr">
                      <a:solidFill>
                        <a:srgbClr val="DCD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CD5C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700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072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59844" y="376318"/>
            <a:ext cx="9771999" cy="5784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B88F4C"/>
                </a:solidFill>
                <a:latin typeface="Microsoft YaHei"/>
              </a:rPr>
              <a:t>3. </a:t>
            </a:r>
            <a:r>
              <a:rPr lang="en-US" altLang="zh-CN" sz="2800" b="1" dirty="0" err="1">
                <a:solidFill>
                  <a:srgbClr val="B88F4C"/>
                </a:solidFill>
                <a:latin typeface="Microsoft YaHei"/>
              </a:rPr>
              <a:t>PCore</a:t>
            </a:r>
            <a:r>
              <a:rPr lang="en-US" altLang="zh-CN" sz="2800" b="1" dirty="0">
                <a:solidFill>
                  <a:srgbClr val="B88F4C"/>
                </a:solidFill>
                <a:latin typeface="Microsoft YaHei"/>
              </a:rPr>
              <a:t> Architecture &amp; Dataflow</a:t>
            </a:r>
            <a:endParaRPr kumimoji="0" lang="en-US" altLang="zh-HK" sz="2800" b="1" i="0" u="none" strike="noStrike" kern="1200" cap="none" spc="0" normalizeH="0" baseline="0" noProof="0" dirty="0">
              <a:ln>
                <a:noFill/>
              </a:ln>
              <a:solidFill>
                <a:srgbClr val="B88F4C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HK" sz="2800" b="1" i="0" u="none" strike="noStrike" kern="1200" cap="none" spc="0" normalizeH="0" baseline="0" noProof="0" dirty="0">
              <a:ln>
                <a:noFill/>
              </a:ln>
              <a:solidFill>
                <a:srgbClr val="B88F4C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内容占位符 6"/>
          <p:cNvSpPr>
            <a:spLocks noGrp="1"/>
          </p:cNvSpPr>
          <p:nvPr/>
        </p:nvSpPr>
        <p:spPr>
          <a:xfrm>
            <a:off x="228602" y="1066843"/>
            <a:ext cx="11729075" cy="739856"/>
          </a:xfrm>
        </p:spPr>
        <p:txBody>
          <a:bodyPr>
            <a:norm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630" marR="0" lvl="0" indent="-341630" algn="l" defTabSz="4552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36499C-0B7C-4DC1-8580-B3443AF52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7482" y="1974923"/>
            <a:ext cx="5964518" cy="4574902"/>
          </a:xfrm>
          <a:prstGeom prst="rect">
            <a:avLst/>
          </a:prstGeom>
        </p:spPr>
      </p:pic>
      <p:sp>
        <p:nvSpPr>
          <p:cNvPr id="8" name="内容占位符 6">
            <a:extLst>
              <a:ext uri="{FF2B5EF4-FFF2-40B4-BE49-F238E27FC236}">
                <a16:creationId xmlns:a16="http://schemas.microsoft.com/office/drawing/2014/main" id="{E9D5D307-995A-4EDF-AB83-337D3C3B15A2}"/>
              </a:ext>
            </a:extLst>
          </p:cNvPr>
          <p:cNvSpPr>
            <a:spLocks noGrp="1"/>
          </p:cNvSpPr>
          <p:nvPr/>
        </p:nvSpPr>
        <p:spPr>
          <a:xfrm>
            <a:off x="228602" y="1385637"/>
            <a:ext cx="5604784" cy="5349845"/>
          </a:xfrm>
        </p:spPr>
        <p:txBody>
          <a:bodyPr>
            <a:no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630" marR="0" lvl="0" indent="-341630" algn="l" defTabSz="4552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Data Frontend</a:t>
            </a:r>
            <a:r>
              <a:rPr lang="zh-CN" altLang="en-US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： 完成 </a:t>
            </a:r>
            <a:r>
              <a:rPr lang="en-US" altLang="zh-CN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X</a:t>
            </a:r>
            <a:r>
              <a:rPr lang="zh-CN" altLang="en-US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K/V </a:t>
            </a:r>
            <a:r>
              <a:rPr lang="zh-CN" altLang="en-US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与权重数据的接收、缓存及 </a:t>
            </a:r>
            <a:r>
              <a:rPr lang="en-US" altLang="zh-CN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Tile </a:t>
            </a:r>
            <a:r>
              <a:rPr lang="zh-CN" altLang="en-US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化装载，为后续矩阵计算准备输入</a:t>
            </a:r>
            <a:endParaRPr lang="en-US" altLang="zh-CN" sz="1800" b="1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341630" marR="0" lvl="0" indent="-341630" algn="l" defTabSz="4552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HK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Compute Engines</a:t>
            </a:r>
            <a:r>
              <a:rPr kumimoji="0" lang="zh-HK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： </a:t>
            </a:r>
            <a:r>
              <a:rPr kumimoji="0" lang="en-US" altLang="zh-HK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MXU+DEQACC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执行 矩阵计算，</a:t>
            </a:r>
            <a:r>
              <a:rPr kumimoji="0" lang="en-US" altLang="zh-HK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VPU/SFU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负责后处理与特殊函数计算。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+mn-ea"/>
            </a:endParaRPr>
          </a:p>
          <a:p>
            <a:pPr marL="341630" marR="0" lvl="0" indent="-341630" algn="l" defTabSz="4552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Local Buffers &amp; State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：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FACC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OACC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SBUF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PBUF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及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m / l / aa / 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α / 1/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l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等本地状态共同支撑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Attention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与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Online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Softmax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。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+mn-ea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Control &amp; Scheduling</a:t>
            </a:r>
            <a:r>
              <a:rPr lang="zh-CN" altLang="en-US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： 主控统一管理 </a:t>
            </a:r>
            <a:r>
              <a:rPr lang="en-US" altLang="zh-CN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Matrix Job</a:t>
            </a:r>
            <a:r>
              <a:rPr lang="zh-CN" altLang="en-US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Attention Block</a:t>
            </a:r>
            <a:r>
              <a:rPr lang="zh-CN" altLang="en-US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</a:t>
            </a:r>
            <a:r>
              <a:rPr lang="en-US" altLang="zh-CN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Ping-Pong Bank</a:t>
            </a:r>
            <a:r>
              <a:rPr lang="zh-CN" altLang="en-US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、模块启动</a:t>
            </a:r>
            <a:r>
              <a:rPr lang="en-US" altLang="zh-CN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/</a:t>
            </a:r>
            <a:r>
              <a:rPr lang="zh-CN" altLang="en-US" sz="18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完成及整体执行时序。</a:t>
            </a:r>
            <a:endParaRPr kumimoji="0" lang="en-US" altLang="zh-HK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0114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3C5A3-16C1-9278-646B-044C771F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60E05CF-C7EA-619E-72FB-2041D8430DD6}"/>
              </a:ext>
            </a:extLst>
          </p:cNvPr>
          <p:cNvSpPr/>
          <p:nvPr/>
        </p:nvSpPr>
        <p:spPr>
          <a:xfrm>
            <a:off x="1859844" y="376318"/>
            <a:ext cx="9771999" cy="5784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 </a:t>
            </a:r>
            <a:r>
              <a:rPr lang="en-US" altLang="zh-CN" sz="2800" b="1" dirty="0" err="1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PCore</a:t>
            </a:r>
            <a:r>
              <a:rPr lang="zh-CN" altLang="en-US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双行</a:t>
            </a:r>
            <a:r>
              <a:rPr lang="en-US" altLang="zh-CN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MXU</a:t>
            </a:r>
            <a:endParaRPr lang="zh-CN" altLang="en-US" sz="2800" b="1" dirty="0">
              <a:solidFill>
                <a:srgbClr val="B88F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9" name="内容占位符 6">
            <a:extLst>
              <a:ext uri="{FF2B5EF4-FFF2-40B4-BE49-F238E27FC236}">
                <a16:creationId xmlns:a16="http://schemas.microsoft.com/office/drawing/2014/main" id="{EBE696BD-C185-963E-F86A-64C2F8091107}"/>
              </a:ext>
            </a:extLst>
          </p:cNvPr>
          <p:cNvSpPr>
            <a:spLocks noGrp="1"/>
          </p:cNvSpPr>
          <p:nvPr/>
        </p:nvSpPr>
        <p:spPr>
          <a:xfrm>
            <a:off x="228602" y="1066843"/>
            <a:ext cx="11729075" cy="739856"/>
          </a:xfrm>
        </p:spPr>
        <p:txBody>
          <a:bodyPr>
            <a:norm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zh-CN" altLang="en-US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F2CAA60F-7918-8665-2957-FDAAD8695532}"/>
              </a:ext>
            </a:extLst>
          </p:cNvPr>
          <p:cNvSpPr>
            <a:spLocks noGrp="1"/>
          </p:cNvSpPr>
          <p:nvPr/>
        </p:nvSpPr>
        <p:spPr>
          <a:xfrm>
            <a:off x="381003" y="1219242"/>
            <a:ext cx="6606206" cy="4068375"/>
          </a:xfrm>
        </p:spPr>
        <p:txBody>
          <a:bodyPr>
            <a:no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Tile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级矩阵运算：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A[51,16]×[16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16]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侧矩阵一拍广播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16×2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256PE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阵列，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侧提前加载驻留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阵列</a:t>
            </a:r>
            <a:endParaRPr lang="en-US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pt-BR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 = ((A0 &lt;&lt; 18) + A1) × B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product1 = signed(P[17:0])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product0 = signed(P[35:18]) + P[17]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七级流水，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E_stream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/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E_stat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/ tag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与计算事务逐级对齐，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scale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不进入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73D442-4352-49BC-928D-E30DA81B9E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83805" y="1377836"/>
            <a:ext cx="4473872" cy="3469118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AEEE7E7-054E-4591-BF2D-9CB2CAC3BF13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10022118" y="6121883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334836B-66DA-48E1-B8A5-D18693DA2675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8412393" y="6121883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D38C8C6-A0AA-4514-B63A-D473BE50B93D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6802668" y="6121883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EB59A4A-A537-4781-A51F-AD2B4C6BEB84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5192943" y="6121883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6A867CF-1486-48AB-9420-CD0BFDAE52D0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3583218" y="6121883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BC2FE24-1B1D-4134-9611-A324E948F85A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1973493" y="6121883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14" name="module-26">
            <a:extLst>
              <a:ext uri="{FF2B5EF4-FFF2-40B4-BE49-F238E27FC236}">
                <a16:creationId xmlns:a16="http://schemas.microsoft.com/office/drawing/2014/main" id="{A86C8241-6FB4-4517-BE94-45E0F30DD23E}"/>
              </a:ext>
            </a:extLst>
          </p:cNvPr>
          <p:cNvSpPr>
            <a:spLocks noGrp="1"/>
          </p:cNvSpPr>
          <p:nvPr/>
        </p:nvSpPr>
        <p:spPr>
          <a:xfrm>
            <a:off x="525693" y="5564670"/>
            <a:ext cx="1447800" cy="111442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dirty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dirty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Q_ACT_REG</a:t>
            </a:r>
          </a:p>
        </p:txBody>
      </p:sp>
      <p:sp>
        <p:nvSpPr>
          <p:cNvPr id="15" name="module-27">
            <a:extLst>
              <a:ext uri="{FF2B5EF4-FFF2-40B4-BE49-F238E27FC236}">
                <a16:creationId xmlns:a16="http://schemas.microsoft.com/office/drawing/2014/main" id="{5C3513C4-0522-4A91-AF2D-12471D5A40CD}"/>
              </a:ext>
            </a:extLst>
          </p:cNvPr>
          <p:cNvSpPr>
            <a:spLocks noGrp="1"/>
          </p:cNvSpPr>
          <p:nvPr/>
        </p:nvSpPr>
        <p:spPr>
          <a:xfrm>
            <a:off x="2135418" y="5564670"/>
            <a:ext cx="1447800" cy="111442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DSP 乘法</a:t>
            </a:r>
          </a:p>
        </p:txBody>
      </p:sp>
      <p:sp>
        <p:nvSpPr>
          <p:cNvPr id="16" name="module-28">
            <a:extLst>
              <a:ext uri="{FF2B5EF4-FFF2-40B4-BE49-F238E27FC236}">
                <a16:creationId xmlns:a16="http://schemas.microsoft.com/office/drawing/2014/main" id="{B5C7103B-CD1F-4F3F-823A-FA54EF47A645}"/>
              </a:ext>
            </a:extLst>
          </p:cNvPr>
          <p:cNvSpPr>
            <a:spLocks noGrp="1"/>
          </p:cNvSpPr>
          <p:nvPr/>
        </p:nvSpPr>
        <p:spPr>
          <a:xfrm>
            <a:off x="3745143" y="5564670"/>
            <a:ext cx="1447800" cy="111442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解包修正</a:t>
            </a:r>
          </a:p>
        </p:txBody>
      </p:sp>
      <p:sp>
        <p:nvSpPr>
          <p:cNvPr id="17" name="module-29">
            <a:extLst>
              <a:ext uri="{FF2B5EF4-FFF2-40B4-BE49-F238E27FC236}">
                <a16:creationId xmlns:a16="http://schemas.microsoft.com/office/drawing/2014/main" id="{8B724C9A-2993-46A6-B473-62B17F070F63}"/>
              </a:ext>
            </a:extLst>
          </p:cNvPr>
          <p:cNvSpPr>
            <a:spLocks noGrp="1"/>
          </p:cNvSpPr>
          <p:nvPr/>
        </p:nvSpPr>
        <p:spPr>
          <a:xfrm>
            <a:off x="5354868" y="5564670"/>
            <a:ext cx="1447800" cy="111442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dirty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dirty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16 → 8</a:t>
            </a:r>
          </a:p>
        </p:txBody>
      </p:sp>
      <p:sp>
        <p:nvSpPr>
          <p:cNvPr id="18" name="module-30">
            <a:extLst>
              <a:ext uri="{FF2B5EF4-FFF2-40B4-BE49-F238E27FC236}">
                <a16:creationId xmlns:a16="http://schemas.microsoft.com/office/drawing/2014/main" id="{B4F10DAB-9A59-49F5-B4EE-A0A000AC9300}"/>
              </a:ext>
            </a:extLst>
          </p:cNvPr>
          <p:cNvSpPr>
            <a:spLocks noGrp="1"/>
          </p:cNvSpPr>
          <p:nvPr/>
        </p:nvSpPr>
        <p:spPr>
          <a:xfrm>
            <a:off x="6964593" y="5564670"/>
            <a:ext cx="1447800" cy="111442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8 → 4</a:t>
            </a:r>
          </a:p>
        </p:txBody>
      </p:sp>
      <p:sp>
        <p:nvSpPr>
          <p:cNvPr id="19" name="module-31">
            <a:extLst>
              <a:ext uri="{FF2B5EF4-FFF2-40B4-BE49-F238E27FC236}">
                <a16:creationId xmlns:a16="http://schemas.microsoft.com/office/drawing/2014/main" id="{3C90A154-6EFC-4C96-B638-071F2F04296C}"/>
              </a:ext>
            </a:extLst>
          </p:cNvPr>
          <p:cNvSpPr>
            <a:spLocks noGrp="1"/>
          </p:cNvSpPr>
          <p:nvPr/>
        </p:nvSpPr>
        <p:spPr>
          <a:xfrm>
            <a:off x="8574318" y="5564670"/>
            <a:ext cx="1447800" cy="111442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4 → 2</a:t>
            </a:r>
          </a:p>
        </p:txBody>
      </p:sp>
      <p:sp>
        <p:nvSpPr>
          <p:cNvPr id="20" name="module-32">
            <a:extLst>
              <a:ext uri="{FF2B5EF4-FFF2-40B4-BE49-F238E27FC236}">
                <a16:creationId xmlns:a16="http://schemas.microsoft.com/office/drawing/2014/main" id="{26C163E2-7B08-40FB-B60B-7F47E94DD5D6}"/>
              </a:ext>
            </a:extLst>
          </p:cNvPr>
          <p:cNvSpPr>
            <a:spLocks noGrp="1"/>
          </p:cNvSpPr>
          <p:nvPr/>
        </p:nvSpPr>
        <p:spPr>
          <a:xfrm>
            <a:off x="10184043" y="5564670"/>
            <a:ext cx="1447800" cy="111442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2 → 1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Psum REG</a:t>
            </a:r>
          </a:p>
        </p:txBody>
      </p:sp>
    </p:spTree>
    <p:extLst>
      <p:ext uri="{BB962C8B-B14F-4D97-AF65-F5344CB8AC3E}">
        <p14:creationId xmlns:p14="http://schemas.microsoft.com/office/powerpoint/2010/main" val="102747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59844" y="376318"/>
            <a:ext cx="9771999" cy="5784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sz="2800" b="1" dirty="0">
                <a:solidFill>
                  <a:srgbClr val="B88F4C"/>
                </a:solidFill>
                <a:latin typeface="Microsoft YaHei"/>
              </a:rPr>
              <a:t>3.2 </a:t>
            </a:r>
            <a:r>
              <a:rPr lang="en-US" altLang="zh-CN" sz="2800" b="1" dirty="0" err="1">
                <a:solidFill>
                  <a:srgbClr val="B88F4C"/>
                </a:solidFill>
                <a:latin typeface="Microsoft YaHei"/>
              </a:rPr>
              <a:t>FlashAttention</a:t>
            </a:r>
            <a:r>
              <a:rPr lang="en-US" altLang="zh-CN" sz="2800" b="1" dirty="0">
                <a:solidFill>
                  <a:srgbClr val="B88F4C"/>
                </a:solidFill>
                <a:latin typeface="Microsoft YaHei"/>
              </a:rPr>
              <a:t> Scheduling &amp; Overlap</a:t>
            </a:r>
          </a:p>
          <a:p>
            <a:pPr algn="l"/>
            <a:r>
              <a:rPr lang="en-US" altLang="zh-HK" sz="2800" b="1" dirty="0">
                <a:solidFill>
                  <a:srgbClr val="B88F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</a:p>
          <a:p>
            <a:endParaRPr lang="en-US" altLang="zh-HK" sz="2800" b="1" dirty="0">
              <a:solidFill>
                <a:srgbClr val="B88F4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内容占位符 6"/>
          <p:cNvSpPr>
            <a:spLocks noGrp="1"/>
          </p:cNvSpPr>
          <p:nvPr/>
        </p:nvSpPr>
        <p:spPr>
          <a:xfrm>
            <a:off x="228602" y="1066843"/>
            <a:ext cx="11729075" cy="739856"/>
          </a:xfrm>
        </p:spPr>
        <p:txBody>
          <a:bodyPr>
            <a:norm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zh-CN" altLang="en-US" sz="2000" b="1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57" name="内容占位符 6"/>
          <p:cNvSpPr>
            <a:spLocks noGrp="1"/>
          </p:cNvSpPr>
          <p:nvPr/>
        </p:nvSpPr>
        <p:spPr>
          <a:xfrm>
            <a:off x="381000" y="1066800"/>
            <a:ext cx="11096847" cy="2209800"/>
          </a:xfrm>
        </p:spPr>
        <p:txBody>
          <a:bodyPr>
            <a:no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9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除尾部 </a:t>
            </a:r>
            <a:r>
              <a:rPr lang="el-GR" altLang="zh-HK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α·</a:t>
            </a:r>
            <a:r>
              <a:rPr lang="en-US" altLang="zh-HK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O[53] </a:t>
            </a: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与 </a:t>
            </a:r>
            <a:r>
              <a:rPr lang="en-US" altLang="zh-HK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A_FIN </a:t>
            </a: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外，</a:t>
            </a:r>
            <a:r>
              <a:rPr lang="en-US" altLang="zh-HK" sz="2000" b="1" dirty="0" err="1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Softmax</a:t>
            </a:r>
            <a:r>
              <a:rPr lang="en-US" altLang="zh-HK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相关处理均隐藏于矩阵流水（稳态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block</a:t>
            </a: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时间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438</a:t>
            </a: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）</a:t>
            </a:r>
            <a:endParaRPr lang="en-US" altLang="zh-HK" sz="2000" b="1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HK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P[b]</a:t>
            </a: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计算流程（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	QK</a:t>
            </a: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后处理）：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QK[b]+mask</a:t>
            </a: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，更新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μ</a:t>
            </a:r>
            <a:r>
              <a:rPr kumimoji="0" lang="en-US" altLang="zh-HK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 →</a:t>
            </a:r>
            <a:r>
              <a:rPr lang="zh-CN" altLang="en-US" sz="2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计算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α</a:t>
            </a:r>
            <a:r>
              <a:rPr kumimoji="0" lang="en-US" altLang="zh-HK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 →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+mn-ea"/>
              </a:rPr>
              <a:t>计算</a:t>
            </a:r>
            <a:r>
              <a:rPr lang="en-US" altLang="zh-CN" sz="2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FP32P</a:t>
            </a:r>
            <a:r>
              <a:rPr lang="zh-CN" altLang="en-US" sz="2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，更新</a:t>
            </a:r>
            <a:r>
              <a:rPr lang="en-US" altLang="zh-CN" sz="2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l</a:t>
            </a:r>
            <a:r>
              <a:rPr lang="zh-CN" altLang="en-US" sz="2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（</a:t>
            </a:r>
            <a:r>
              <a:rPr lang="en-US" altLang="zh-CN" sz="2000" b="1" dirty="0" err="1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rowsum</a:t>
            </a:r>
            <a:r>
              <a:rPr lang="zh-CN" altLang="en-US" sz="2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），量化</a:t>
            </a:r>
            <a:r>
              <a:rPr lang="en-US" altLang="zh-CN" sz="2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P</a:t>
            </a:r>
            <a:r>
              <a:rPr lang="zh-CN" altLang="en-US" sz="2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。目前未完全隐藏：暴露≈</a:t>
            </a:r>
            <a:r>
              <a:rPr lang="en-US" altLang="zh-CN" sz="2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16</a:t>
            </a:r>
            <a:r>
              <a:rPr lang="zh-CN" altLang="en-US" sz="2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拍</a:t>
            </a:r>
            <a:endParaRPr lang="en-US" altLang="zh-CN" sz="2000" b="1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α ·</a:t>
            </a:r>
            <a:r>
              <a:rPr lang="en-US" altLang="zh-CN" sz="2000" b="1" dirty="0" err="1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O_old</a:t>
            </a:r>
            <a:r>
              <a:rPr lang="zh-CN" altLang="en-US" sz="2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（</a:t>
            </a:r>
            <a:r>
              <a:rPr lang="en-US" altLang="zh-CN" sz="2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PV</a:t>
            </a:r>
            <a:r>
              <a:rPr lang="zh-CN" altLang="en-US" sz="2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后处理）：用时</a:t>
            </a:r>
            <a:r>
              <a:rPr lang="en-US" altLang="zh-CN" sz="2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433</a:t>
            </a:r>
            <a:r>
              <a:rPr lang="zh-CN" altLang="en-US" sz="2000" b="1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拍，已实现完全隐藏。</a:t>
            </a:r>
            <a:endParaRPr lang="en-US" altLang="zh-CN" sz="2000" b="1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29A06C-0417-429D-9F6A-C01CCB9A9E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0263" y="3092570"/>
            <a:ext cx="695815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3C5A3-16C1-9278-646B-044C771F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60E05CF-C7EA-619E-72FB-2041D8430DD6}"/>
              </a:ext>
            </a:extLst>
          </p:cNvPr>
          <p:cNvSpPr/>
          <p:nvPr/>
        </p:nvSpPr>
        <p:spPr>
          <a:xfrm>
            <a:off x="1859844" y="376318"/>
            <a:ext cx="9771999" cy="5784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 </a:t>
            </a:r>
            <a:r>
              <a:rPr lang="zh-CN" altLang="en-US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矩阵运算模式：</a:t>
            </a:r>
            <a:r>
              <a:rPr lang="en-US" altLang="zh-CN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Projection  Attention  G-U</a:t>
            </a:r>
            <a:endParaRPr lang="zh-CN" altLang="en-US" sz="2800" b="1" dirty="0">
              <a:solidFill>
                <a:srgbClr val="B88F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9" name="内容占位符 6">
            <a:extLst>
              <a:ext uri="{FF2B5EF4-FFF2-40B4-BE49-F238E27FC236}">
                <a16:creationId xmlns:a16="http://schemas.microsoft.com/office/drawing/2014/main" id="{EBE696BD-C185-963E-F86A-64C2F8091107}"/>
              </a:ext>
            </a:extLst>
          </p:cNvPr>
          <p:cNvSpPr>
            <a:spLocks noGrp="1"/>
          </p:cNvSpPr>
          <p:nvPr/>
        </p:nvSpPr>
        <p:spPr>
          <a:xfrm>
            <a:off x="228602" y="1066843"/>
            <a:ext cx="11729075" cy="739856"/>
          </a:xfrm>
        </p:spPr>
        <p:txBody>
          <a:bodyPr>
            <a:norm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zh-CN" altLang="en-US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DEAA14-D718-4F82-9EF3-0D364B1746EF}"/>
              </a:ext>
            </a:extLst>
          </p:cNvPr>
          <p:cNvSpPr txBox="1"/>
          <p:nvPr/>
        </p:nvSpPr>
        <p:spPr>
          <a:xfrm>
            <a:off x="514008" y="1165003"/>
            <a:ext cx="10707269" cy="5300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Projection: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 Tile → K Tile reduction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组内连续计算，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 Tile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间存在短切换开销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FACC-A/B Ping-Pong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：计算与结果读出重叠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Attention: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FlashAttention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分块在线 </a:t>
            </a: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Softmax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416 cycle /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子任务，稳态间隔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438cycle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G-U: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共享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G(k) → U(k)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交错执行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64 K × 2 branch × 26 pair = 3328 issue / N Tile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（稳态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3346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拍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/N Tile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每组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Ntile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结束执行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GELU(G)⊙U → Quant → Z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69339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3C5A3-16C1-9278-646B-044C771F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60E05CF-C7EA-619E-72FB-2041D8430DD6}"/>
              </a:ext>
            </a:extLst>
          </p:cNvPr>
          <p:cNvSpPr/>
          <p:nvPr/>
        </p:nvSpPr>
        <p:spPr>
          <a:xfrm>
            <a:off x="1859844" y="376318"/>
            <a:ext cx="9771999" cy="5784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3.4.1  VPU/SFU</a:t>
            </a:r>
            <a:r>
              <a:rPr lang="zh-CN" altLang="en-US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功能与接入架构</a:t>
            </a:r>
            <a:endParaRPr lang="zh-CN" altLang="en-US" sz="2800" b="1" dirty="0">
              <a:solidFill>
                <a:srgbClr val="B88F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9" name="内容占位符 6">
            <a:extLst>
              <a:ext uri="{FF2B5EF4-FFF2-40B4-BE49-F238E27FC236}">
                <a16:creationId xmlns:a16="http://schemas.microsoft.com/office/drawing/2014/main" id="{EBE696BD-C185-963E-F86A-64C2F8091107}"/>
              </a:ext>
            </a:extLst>
          </p:cNvPr>
          <p:cNvSpPr>
            <a:spLocks noGrp="1"/>
          </p:cNvSpPr>
          <p:nvPr/>
        </p:nvSpPr>
        <p:spPr>
          <a:xfrm>
            <a:off x="228602" y="1066843"/>
            <a:ext cx="11729075" cy="739856"/>
          </a:xfrm>
        </p:spPr>
        <p:txBody>
          <a:bodyPr>
            <a:norm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zh-CN" altLang="en-US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F2CAA60F-7918-8665-2957-FDAAD8695532}"/>
              </a:ext>
            </a:extLst>
          </p:cNvPr>
          <p:cNvSpPr>
            <a:spLocks noGrp="1"/>
          </p:cNvSpPr>
          <p:nvPr/>
        </p:nvSpPr>
        <p:spPr>
          <a:xfrm>
            <a:off x="488947" y="1066843"/>
            <a:ext cx="11388313" cy="2252827"/>
          </a:xfrm>
        </p:spPr>
        <p:txBody>
          <a:bodyPr>
            <a:no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VPU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保留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32 lanes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共享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FP32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乘法通路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Attention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后处理：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QK_POST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P_POST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OACC_SCALE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AFIN_QUANT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Projection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后处理：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Q/K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RoPE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量化、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量化、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GELU(G) ⊙ U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后量化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SFU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服务：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exp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GELU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、倒数及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RoPE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系数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5180047-30B7-88F3-01B3-93B414CF8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501" y="3246466"/>
            <a:ext cx="7664088" cy="323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838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3C5A3-16C1-9278-646B-044C771F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60E05CF-C7EA-619E-72FB-2041D8430DD6}"/>
              </a:ext>
            </a:extLst>
          </p:cNvPr>
          <p:cNvSpPr/>
          <p:nvPr/>
        </p:nvSpPr>
        <p:spPr>
          <a:xfrm>
            <a:off x="1859844" y="376318"/>
            <a:ext cx="9771999" cy="5784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B88F4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3.4.2 VPU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B88F4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共享通路与流水实现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B88F4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9" name="内容占位符 6">
            <a:extLst>
              <a:ext uri="{FF2B5EF4-FFF2-40B4-BE49-F238E27FC236}">
                <a16:creationId xmlns:a16="http://schemas.microsoft.com/office/drawing/2014/main" id="{EBE696BD-C185-963E-F86A-64C2F8091107}"/>
              </a:ext>
            </a:extLst>
          </p:cNvPr>
          <p:cNvSpPr>
            <a:spLocks noGrp="1"/>
          </p:cNvSpPr>
          <p:nvPr/>
        </p:nvSpPr>
        <p:spPr>
          <a:xfrm>
            <a:off x="228602" y="1066843"/>
            <a:ext cx="11729075" cy="739856"/>
          </a:xfrm>
        </p:spPr>
        <p:txBody>
          <a:bodyPr>
            <a:norm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630" marR="0" lvl="0" indent="-341630" algn="l" defTabSz="4552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DEAA14-D718-4F82-9EF3-0D364B1746EF}"/>
              </a:ext>
            </a:extLst>
          </p:cNvPr>
          <p:cNvSpPr txBox="1"/>
          <p:nvPr/>
        </p:nvSpPr>
        <p:spPr>
          <a:xfrm>
            <a:off x="514008" y="1165003"/>
            <a:ext cx="10707269" cy="4793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共享算术通路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:</a:t>
            </a: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采用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2×16 lanes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共享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FP32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乘法流水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SCALE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AFIN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RoPE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GU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及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P_POST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复用乘法器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后处理流水 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P_POST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：保持既定求和顺序，流水完成行求和、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α×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l_old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及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l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更新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Quant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：将最大指数归约、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RNE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舍入、饱和与输出拆成流水阶段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QK_POST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：完成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mask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、行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MAX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和差值计算，写回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Score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及统计量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流水与协议对齐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数据与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token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、行号、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tile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mask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last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同步传递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背压时缓存并保持结果，按在途额度控制发射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44508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3C5A3-16C1-9278-646B-044C771F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60E05CF-C7EA-619E-72FB-2041D8430DD6}"/>
              </a:ext>
            </a:extLst>
          </p:cNvPr>
          <p:cNvSpPr/>
          <p:nvPr/>
        </p:nvSpPr>
        <p:spPr>
          <a:xfrm>
            <a:off x="1859844" y="376318"/>
            <a:ext cx="9771999" cy="5784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 </a:t>
            </a:r>
            <a:r>
              <a:rPr lang="en-US" altLang="zh-CN" sz="2800" b="1" dirty="0" err="1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Pcore</a:t>
            </a:r>
            <a:r>
              <a:rPr lang="en-US" altLang="zh-CN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Control</a:t>
            </a:r>
            <a:r>
              <a:rPr lang="zh-CN" altLang="en-US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：统一推进</a:t>
            </a:r>
            <a:r>
              <a:rPr lang="en-US" altLang="zh-CN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</a:t>
            </a:r>
            <a:r>
              <a:rPr lang="zh-CN" altLang="en-US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</a:t>
            </a:r>
            <a:r>
              <a:rPr lang="en-US" altLang="zh-CN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Job</a:t>
            </a:r>
            <a:endParaRPr lang="zh-CN" altLang="en-US" sz="2800" b="1" dirty="0">
              <a:solidFill>
                <a:srgbClr val="B88F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9" name="内容占位符 6">
            <a:extLst>
              <a:ext uri="{FF2B5EF4-FFF2-40B4-BE49-F238E27FC236}">
                <a16:creationId xmlns:a16="http://schemas.microsoft.com/office/drawing/2014/main" id="{EBE696BD-C185-963E-F86A-64C2F8091107}"/>
              </a:ext>
            </a:extLst>
          </p:cNvPr>
          <p:cNvSpPr>
            <a:spLocks noGrp="1"/>
          </p:cNvSpPr>
          <p:nvPr/>
        </p:nvSpPr>
        <p:spPr>
          <a:xfrm>
            <a:off x="228602" y="1066843"/>
            <a:ext cx="11729075" cy="739856"/>
          </a:xfrm>
        </p:spPr>
        <p:txBody>
          <a:bodyPr>
            <a:norm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zh-CN" altLang="en-US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DEAA14-D718-4F82-9EF3-0D364B1746EF}"/>
              </a:ext>
            </a:extLst>
          </p:cNvPr>
          <p:cNvSpPr txBox="1"/>
          <p:nvPr/>
        </p:nvSpPr>
        <p:spPr>
          <a:xfrm>
            <a:off x="514007" y="1165003"/>
            <a:ext cx="11117835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PCore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Control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统一接收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类完整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Job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 / V / Q / Attention / O / G-U / Down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控制中心负责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Job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接收、资源仲裁、事件驱动推进、完成判定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TB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模拟部分：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外部输入源（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XBC / HBM / KVB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）、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Gcore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DEA8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总控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周期数：从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Job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被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PCore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接收到本核完成并返回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done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的完整周期（不包含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Gcore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用时）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104FEF-A6EE-4F15-B4A1-EEF253B264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18266" y="4015821"/>
            <a:ext cx="7436664" cy="275723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67B1F5B-FD9F-4F76-BFEF-06ABF145796E}"/>
              </a:ext>
            </a:extLst>
          </p:cNvPr>
          <p:cNvSpPr txBox="1"/>
          <p:nvPr/>
        </p:nvSpPr>
        <p:spPr>
          <a:xfrm>
            <a:off x="514007" y="4187952"/>
            <a:ext cx="37101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仿真：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总周期：矩阵计算、</a:t>
            </a:r>
            <a:r>
              <a:rPr lang="en-US" altLang="zh-CN" sz="1400" dirty="0"/>
              <a:t>VPU/SFU </a:t>
            </a:r>
            <a:r>
              <a:rPr lang="zh-CN" altLang="en-US" sz="1400" dirty="0"/>
              <a:t>后处理、本地存储访问、输出发送及控制收尾</a:t>
            </a:r>
            <a:endParaRPr lang="en-US" altLang="zh-CN" sz="1400" dirty="0"/>
          </a:p>
          <a:p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Attention</a:t>
            </a:r>
            <a:r>
              <a:rPr lang="zh-CN" altLang="en-US" sz="1400" dirty="0"/>
              <a:t>占比</a:t>
            </a:r>
            <a:r>
              <a:rPr lang="en-US" altLang="zh-CN" sz="1400" dirty="0"/>
              <a:t>18%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7job</a:t>
            </a:r>
            <a:r>
              <a:rPr lang="zh-CN" altLang="en-US" sz="1400" dirty="0"/>
              <a:t>整体矩阵</a:t>
            </a:r>
            <a:r>
              <a:rPr lang="en-US" altLang="zh-CN" sz="1400" dirty="0"/>
              <a:t>issue</a:t>
            </a:r>
            <a:r>
              <a:rPr lang="zh-CN" altLang="en-US" sz="1400" dirty="0"/>
              <a:t>占比：</a:t>
            </a:r>
            <a:r>
              <a:rPr lang="en-US" altLang="zh-CN" sz="1400" dirty="0"/>
              <a:t>94.93%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用时：</a:t>
            </a:r>
            <a:r>
              <a:rPr lang="en-US" altLang="zh-CN" sz="1400" dirty="0"/>
              <a:t>250MHz</a:t>
            </a:r>
            <a:r>
              <a:rPr lang="zh-CN" altLang="en-US" sz="1400" dirty="0"/>
              <a:t>下，单层</a:t>
            </a:r>
            <a:r>
              <a:rPr lang="en-US" altLang="zh-CN" sz="1400" dirty="0" err="1"/>
              <a:t>Pcore</a:t>
            </a:r>
            <a:r>
              <a:rPr lang="zh-CN" altLang="en-US" sz="1400" dirty="0"/>
              <a:t>用时≈</a:t>
            </a:r>
            <a:r>
              <a:rPr lang="en-US" altLang="zh-CN" sz="1400" dirty="0"/>
              <a:t>1.1ms</a:t>
            </a:r>
            <a:r>
              <a:rPr lang="zh-CN" altLang="en-US" sz="1400" dirty="0"/>
              <a:t>，十步去噪≈</a:t>
            </a:r>
            <a:r>
              <a:rPr lang="en-US" altLang="zh-CN" sz="1400" dirty="0"/>
              <a:t>201ms</a:t>
            </a:r>
          </a:p>
        </p:txBody>
      </p:sp>
    </p:spTree>
    <p:extLst>
      <p:ext uri="{BB962C8B-B14F-4D97-AF65-F5344CB8AC3E}">
        <p14:creationId xmlns:p14="http://schemas.microsoft.com/office/powerpoint/2010/main" val="3392509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3C5A3-16C1-9278-646B-044C771F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60E05CF-C7EA-619E-72FB-2041D8430DD6}"/>
              </a:ext>
            </a:extLst>
          </p:cNvPr>
          <p:cNvSpPr/>
          <p:nvPr/>
        </p:nvSpPr>
        <p:spPr>
          <a:xfrm>
            <a:off x="1859844" y="376318"/>
            <a:ext cx="9771999" cy="5784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3.6 Gcore+8</a:t>
            </a:r>
            <a:r>
              <a:rPr lang="zh-CN" altLang="en-US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核联合测试</a:t>
            </a:r>
            <a:endParaRPr lang="zh-CN" altLang="en-US" sz="2800" b="1" dirty="0">
              <a:solidFill>
                <a:srgbClr val="B88F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9" name="内容占位符 6">
            <a:extLst>
              <a:ext uri="{FF2B5EF4-FFF2-40B4-BE49-F238E27FC236}">
                <a16:creationId xmlns:a16="http://schemas.microsoft.com/office/drawing/2014/main" id="{EBE696BD-C185-963E-F86A-64C2F8091107}"/>
              </a:ext>
            </a:extLst>
          </p:cNvPr>
          <p:cNvSpPr>
            <a:spLocks noGrp="1"/>
          </p:cNvSpPr>
          <p:nvPr/>
        </p:nvSpPr>
        <p:spPr>
          <a:xfrm>
            <a:off x="228602" y="1066843"/>
            <a:ext cx="11729075" cy="739856"/>
          </a:xfrm>
        </p:spPr>
        <p:txBody>
          <a:bodyPr>
            <a:norm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zh-CN" altLang="en-US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5CFAFC4-83E3-4EDA-B4E6-647405F50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906" y="3262839"/>
            <a:ext cx="6671094" cy="3570835"/>
          </a:xfrm>
          <a:prstGeom prst="rect">
            <a:avLst/>
          </a:prstGeom>
        </p:spPr>
      </p:pic>
      <p:sp>
        <p:nvSpPr>
          <p:cNvPr id="11" name="内容占位符 6">
            <a:extLst>
              <a:ext uri="{FF2B5EF4-FFF2-40B4-BE49-F238E27FC236}">
                <a16:creationId xmlns:a16="http://schemas.microsoft.com/office/drawing/2014/main" id="{5C3525FC-5212-471A-AF92-DCE4D5939940}"/>
              </a:ext>
            </a:extLst>
          </p:cNvPr>
          <p:cNvSpPr>
            <a:spLocks noGrp="1"/>
          </p:cNvSpPr>
          <p:nvPr/>
        </p:nvSpPr>
        <p:spPr>
          <a:xfrm>
            <a:off x="488948" y="1066842"/>
            <a:ext cx="11202720" cy="2015663"/>
          </a:xfrm>
        </p:spPr>
        <p:txBody>
          <a:bodyPr>
            <a:no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模拟总控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+HBM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，模拟中间层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Gcore+8PCore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仿真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单层边界：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Atten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Gcore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处理（残差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+RMS+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量化）完成作为起点，直到下一层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Atten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Gcore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处理完成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Down projection+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下一层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Atten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前处理合计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62382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拍，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Down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55525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拍（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95.9%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583BE0-41E1-4455-BAEC-DF3B5E02E647}"/>
              </a:ext>
            </a:extLst>
          </p:cNvPr>
          <p:cNvSpPr txBox="1"/>
          <p:nvPr/>
        </p:nvSpPr>
        <p:spPr>
          <a:xfrm>
            <a:off x="488948" y="3582289"/>
            <a:ext cx="4911188" cy="25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核联合仿真结果与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Gcore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仿真误差≈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2.9%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；与单核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Pcore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仿真最大误差≈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0.24%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中间层单层推理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293448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拍，（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250MHz)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用时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1.17ms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，十步去噪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180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层总用时≈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210.6ms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（其中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Gcore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9.9ms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44761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3C5A3-16C1-9278-646B-044C771F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60E05CF-C7EA-619E-72FB-2041D8430DD6}"/>
              </a:ext>
            </a:extLst>
          </p:cNvPr>
          <p:cNvSpPr/>
          <p:nvPr/>
        </p:nvSpPr>
        <p:spPr>
          <a:xfrm>
            <a:off x="1859844" y="376318"/>
            <a:ext cx="9771999" cy="5784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B88F4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3.7 Gcore+8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B88F4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核整体资源使用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B88F4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9" name="内容占位符 6">
            <a:extLst>
              <a:ext uri="{FF2B5EF4-FFF2-40B4-BE49-F238E27FC236}">
                <a16:creationId xmlns:a16="http://schemas.microsoft.com/office/drawing/2014/main" id="{EBE696BD-C185-963E-F86A-64C2F8091107}"/>
              </a:ext>
            </a:extLst>
          </p:cNvPr>
          <p:cNvSpPr>
            <a:spLocks noGrp="1"/>
          </p:cNvSpPr>
          <p:nvPr/>
        </p:nvSpPr>
        <p:spPr>
          <a:xfrm>
            <a:off x="228602" y="1066843"/>
            <a:ext cx="11729075" cy="739856"/>
          </a:xfrm>
        </p:spPr>
        <p:txBody>
          <a:bodyPr>
            <a:norm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630" marR="0" lvl="0" indent="-341630" algn="l" defTabSz="455295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C66094-23B4-4D20-B21C-8F9D43E90D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362" y="3806354"/>
            <a:ext cx="6538411" cy="112754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5EB8D60-4DE0-4362-8983-7B194207C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764" y="5011542"/>
            <a:ext cx="7165009" cy="178378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615FC46-07A4-4C80-BE4C-A1DD0C136EE6}"/>
              </a:ext>
            </a:extLst>
          </p:cNvPr>
          <p:cNvSpPr txBox="1"/>
          <p:nvPr/>
        </p:nvSpPr>
        <p:spPr>
          <a:xfrm>
            <a:off x="228601" y="1105433"/>
            <a:ext cx="11831127" cy="220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各项资源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：目前主要瓶颈，仍有不少优化空间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DSP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GCore109DSP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Pcore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保证矩阵吞吐需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320DSP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，目标单核控制在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400DSP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，总使用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3309DSP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BRAM/URAM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：优化空间巨大，整体利用率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&lt;20%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，后期能大幅降低数量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FF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：整体健康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0CB3F17-D492-49E3-B382-A635AAE55C5E}"/>
              </a:ext>
            </a:extLst>
          </p:cNvPr>
          <p:cNvSpPr txBox="1"/>
          <p:nvPr/>
        </p:nvSpPr>
        <p:spPr>
          <a:xfrm>
            <a:off x="429884" y="3414512"/>
            <a:ext cx="4389407" cy="2807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VPU/SFU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优化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各项资源占比接近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40%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实际平均发射率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5.03%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Lane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减半单层推理时间仅增长≈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9%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（也可通过每个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Pcore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增加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16URAM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开销抵消）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48483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3C5A3-16C1-9278-646B-044C771F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60E05CF-C7EA-619E-72FB-2041D8430DD6}"/>
              </a:ext>
            </a:extLst>
          </p:cNvPr>
          <p:cNvSpPr/>
          <p:nvPr/>
        </p:nvSpPr>
        <p:spPr>
          <a:xfrm>
            <a:off x="1859844" y="376318"/>
            <a:ext cx="9771999" cy="5784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4.1 </a:t>
            </a:r>
            <a:r>
              <a:rPr lang="zh-CN" altLang="en-US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仿真器的目前进展与整体架构</a:t>
            </a:r>
          </a:p>
          <a:p>
            <a:endParaRPr lang="zh-CN" altLang="en-US" sz="2800" b="1" dirty="0">
              <a:solidFill>
                <a:srgbClr val="B88F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9" name="内容占位符 6">
            <a:extLst>
              <a:ext uri="{FF2B5EF4-FFF2-40B4-BE49-F238E27FC236}">
                <a16:creationId xmlns:a16="http://schemas.microsoft.com/office/drawing/2014/main" id="{EBE696BD-C185-963E-F86A-64C2F8091107}"/>
              </a:ext>
            </a:extLst>
          </p:cNvPr>
          <p:cNvSpPr>
            <a:spLocks noGrp="1"/>
          </p:cNvSpPr>
          <p:nvPr/>
        </p:nvSpPr>
        <p:spPr>
          <a:xfrm>
            <a:off x="228602" y="1066843"/>
            <a:ext cx="11729075" cy="739856"/>
          </a:xfrm>
        </p:spPr>
        <p:txBody>
          <a:bodyPr>
            <a:norm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zh-CN" altLang="en-US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DEAA14-D718-4F82-9EF3-0D364B1746EF}"/>
              </a:ext>
            </a:extLst>
          </p:cNvPr>
          <p:cNvSpPr txBox="1"/>
          <p:nvPr/>
        </p:nvSpPr>
        <p:spPr>
          <a:xfrm>
            <a:off x="514008" y="1165003"/>
            <a:ext cx="4817118" cy="465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已完成：基于早期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DEA8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架构，建立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GCore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PCore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的计算、存储、互联及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HBM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逻辑通道模型，跑通合成数据下的单层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负载。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主要用途：观察任务依赖与计算通信重叠，分析供数等待、缓冲占用及数据搬运，为架构参数与调度方案提供参考。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当前边界：尚未完成最新版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RTL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周期校准、真实模型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checkpoint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验证，以及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18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步去噪扩展。</a:t>
            </a:r>
          </a:p>
        </p:txBody>
      </p:sp>
      <p:pic>
        <p:nvPicPr>
          <p:cNvPr id="7" name="图片 6" descr="ChatGPT 图像 2026年9月26日 12_51_47">
            <a:extLst>
              <a:ext uri="{FF2B5EF4-FFF2-40B4-BE49-F238E27FC236}">
                <a16:creationId xmlns:a16="http://schemas.microsoft.com/office/drawing/2014/main" id="{48C29EFC-B24B-415F-81F5-F0D86DAFA0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79" r="9088"/>
          <a:stretch>
            <a:fillRect/>
          </a:stretch>
        </p:blipFill>
        <p:spPr>
          <a:xfrm>
            <a:off x="5495332" y="1387931"/>
            <a:ext cx="6563522" cy="440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75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3C5A3-16C1-9278-646B-044C771F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60E05CF-C7EA-619E-72FB-2041D8430DD6}"/>
              </a:ext>
            </a:extLst>
          </p:cNvPr>
          <p:cNvSpPr/>
          <p:nvPr/>
        </p:nvSpPr>
        <p:spPr>
          <a:xfrm>
            <a:off x="1859844" y="376318"/>
            <a:ext cx="6364005" cy="5784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4.2</a:t>
            </a:r>
            <a:r>
              <a:rPr lang="zh-CN" altLang="en-US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结果展示与分析能力</a:t>
            </a:r>
            <a:endParaRPr lang="zh-CN" altLang="en-US" sz="2800" b="1" dirty="0">
              <a:solidFill>
                <a:srgbClr val="B88F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9" name="内容占位符 6">
            <a:extLst>
              <a:ext uri="{FF2B5EF4-FFF2-40B4-BE49-F238E27FC236}">
                <a16:creationId xmlns:a16="http://schemas.microsoft.com/office/drawing/2014/main" id="{EBE696BD-C185-963E-F86A-64C2F8091107}"/>
              </a:ext>
            </a:extLst>
          </p:cNvPr>
          <p:cNvSpPr>
            <a:spLocks noGrp="1"/>
          </p:cNvSpPr>
          <p:nvPr/>
        </p:nvSpPr>
        <p:spPr>
          <a:xfrm>
            <a:off x="228602" y="1066843"/>
            <a:ext cx="11729075" cy="739856"/>
          </a:xfrm>
        </p:spPr>
        <p:txBody>
          <a:bodyPr>
            <a:norm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zh-CN" altLang="en-US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9" name="对象 8">
            <a:hlinkClick r:id="" action="ppaction://ole?verb=0"/>
            <a:extLst>
              <a:ext uri="{FF2B5EF4-FFF2-40B4-BE49-F238E27FC236}">
                <a16:creationId xmlns:a16="http://schemas.microsoft.com/office/drawing/2014/main" id="{D3A790B9-9F60-4B3A-9071-CD6487BC98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457776"/>
              </p:ext>
            </p:extLst>
          </p:nvPr>
        </p:nvGraphicFramePr>
        <p:xfrm>
          <a:off x="9979121" y="434250"/>
          <a:ext cx="1281112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包装程序外壳对象" showAsIcon="1" r:id="rId5" imgW="558000" imgH="396360" progId="Package">
                  <p:embed/>
                </p:oleObj>
              </mc:Choice>
              <mc:Fallback>
                <p:oleObj name="包装程序外壳对象" showAsIcon="1" r:id="rId5" imgW="558000" imgH="396360" progId="Package">
                  <p:embed/>
                  <p:pic>
                    <p:nvPicPr>
                      <p:cNvPr id="8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79121" y="434250"/>
                        <a:ext cx="1281112" cy="915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81786C4-560B-4F2C-BC75-8B866014B4C9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605155" y="1534160"/>
          <a:ext cx="5490845" cy="4455477"/>
        </p:xfrm>
        <a:graphic>
          <a:graphicData uri="http://schemas.openxmlformats.org/drawingml/2006/table">
            <a:tbl>
              <a:tblPr/>
              <a:tblGrid>
                <a:gridCol w="982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00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资源部分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已建模的主要内容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在系统中的作用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Host / GCU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Host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调用接口抽象；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GCU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任务发射、依赖、屏障和状态管理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启动负载，组织各资源按依赖执行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GCore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计算资源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PRU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Quant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；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EHU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作为预留资源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残差处理、归一化、量化；</a:t>
                      </a:r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EHU</a:t>
                      </a:r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尚未参与当前单层负载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GCore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存储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 Mem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X-Mem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RMS RF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Prefix/Suffix KV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存储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保存残差、激活、归一化统计和共享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K/V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</a:t>
                      </a:r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PCore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计算资源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MXU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VPU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SFU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及任务控制资源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并行执行投影、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Attention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和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FFN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13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PCore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内部存储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WFIFO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KVFIFO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、激活接收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暂存，以及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FACC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QOBUF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OACC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SBUF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PBUF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UGBUF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ZBUF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等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接收数据，保存计算中间量和结果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核间互联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共享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BCAST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Gather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Reduce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广播激活与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K/V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，收集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K/V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分片，归约各核部分结果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外存系统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HBM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地址映射、逻辑通道、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DMA/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内存控制器抽象、请求与传输调度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为计算供数，并完成输入读取和输出写回</a:t>
                      </a: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8F1CFE11-C7D6-4F55-9CB7-7833A52A881C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6588125" y="1212215"/>
            <a:ext cx="5062220" cy="460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06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3C5A3-16C1-9278-646B-044C771F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60E05CF-C7EA-619E-72FB-2041D8430DD6}"/>
              </a:ext>
            </a:extLst>
          </p:cNvPr>
          <p:cNvSpPr/>
          <p:nvPr/>
        </p:nvSpPr>
        <p:spPr>
          <a:xfrm>
            <a:off x="1859844" y="376318"/>
            <a:ext cx="9771999" cy="57848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</a:t>
            </a:r>
            <a:r>
              <a:rPr lang="zh-CN" altLang="en-US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动态</a:t>
            </a:r>
            <a:r>
              <a:rPr lang="en-US" altLang="zh-CN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</a:t>
            </a:r>
            <a:r>
              <a:rPr lang="zh-CN" altLang="en-US" sz="2800" b="1" dirty="0">
                <a:solidFill>
                  <a:srgbClr val="B88F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</a:t>
            </a:r>
            <a:endParaRPr lang="zh-CN" altLang="en-US" sz="2800" b="1" dirty="0">
              <a:solidFill>
                <a:srgbClr val="B88F4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9" name="内容占位符 6">
            <a:extLst>
              <a:ext uri="{FF2B5EF4-FFF2-40B4-BE49-F238E27FC236}">
                <a16:creationId xmlns:a16="http://schemas.microsoft.com/office/drawing/2014/main" id="{EBE696BD-C185-963E-F86A-64C2F8091107}"/>
              </a:ext>
            </a:extLst>
          </p:cNvPr>
          <p:cNvSpPr>
            <a:spLocks noGrp="1"/>
          </p:cNvSpPr>
          <p:nvPr/>
        </p:nvSpPr>
        <p:spPr>
          <a:xfrm>
            <a:off x="228602" y="1066843"/>
            <a:ext cx="11729075" cy="739856"/>
          </a:xfrm>
        </p:spPr>
        <p:txBody>
          <a:bodyPr>
            <a:normAutofit/>
          </a:bodyPr>
          <a:lstStyle>
            <a:lvl1pPr marL="341630" indent="-3416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448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792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321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4851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0380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9100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439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9055" indent="-227330" algn="l" defTabSz="455295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zh-CN" altLang="en-US" sz="2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DEAA14-D718-4F82-9EF3-0D364B1746EF}"/>
              </a:ext>
            </a:extLst>
          </p:cNvPr>
          <p:cNvSpPr txBox="1"/>
          <p:nvPr/>
        </p:nvSpPr>
        <p:spPr>
          <a:xfrm>
            <a:off x="514008" y="1165003"/>
            <a:ext cx="10707269" cy="5808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设计背景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十步去噪生成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个动作，实际机器人仅执行部分动作，部分去噪步可省去后面动作的矩阵运算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Flow Matching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的去噪过程部分动作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的线性度极佳，没必要每步都进行完整运算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Compact Row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：非连续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压紧处理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选中的非连续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映射为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compact row 0…M−1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PCore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主数据通路按连续行顺序计算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RoPE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/ Mask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等位置相关操作通过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row_order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查询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K/V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projection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：默认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 = 51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动态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性能：主要受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侧加载限制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≠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时，理论上要加载全部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侧矩阵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 Tile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固定为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16×16 INT8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，每拍装载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× 16 INT8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HBM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连续供数平均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4.25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拍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 Tile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XBC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408bit      KVB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512bit    HBM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512bit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（两个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D87359-4315-405B-B675-F128CAD46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471" y="4282346"/>
            <a:ext cx="3520539" cy="90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217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08"/>
          <p:cNvPicPr>
            <a:picLocks noChangeAspect="1"/>
          </p:cNvPicPr>
          <p:nvPr/>
        </p:nvPicPr>
        <p:blipFill rotWithShape="1">
          <a:blip r:embed="rId3"/>
          <a:srcRect t="21077" b="19124"/>
          <a:stretch/>
        </p:blipFill>
        <p:spPr>
          <a:xfrm>
            <a:off x="394970" y="5730240"/>
            <a:ext cx="4865370" cy="1127759"/>
          </a:xfrm>
          <a:prstGeom prst="rect">
            <a:avLst/>
          </a:prstGeom>
        </p:spPr>
      </p:pic>
      <p:pic>
        <p:nvPicPr>
          <p:cNvPr id="6" name="图片 5" descr="logo-08"/>
          <p:cNvPicPr>
            <a:picLocks noChangeAspect="1"/>
          </p:cNvPicPr>
          <p:nvPr/>
        </p:nvPicPr>
        <p:blipFill rotWithShape="1">
          <a:blip r:embed="rId3"/>
          <a:srcRect t="21077" b="19124"/>
          <a:stretch/>
        </p:blipFill>
        <p:spPr>
          <a:xfrm flipH="1">
            <a:off x="6907530" y="5730240"/>
            <a:ext cx="4865370" cy="1127759"/>
          </a:xfrm>
          <a:prstGeom prst="rect">
            <a:avLst/>
          </a:prstGeom>
        </p:spPr>
      </p:pic>
      <p:pic>
        <p:nvPicPr>
          <p:cNvPr id="21" name="图片 20" descr="logo_画板 1 副本 3"/>
          <p:cNvPicPr>
            <a:picLocks noChangeAspect="1"/>
          </p:cNvPicPr>
          <p:nvPr/>
        </p:nvPicPr>
        <p:blipFill rotWithShape="1">
          <a:blip r:embed="rId4"/>
          <a:srcRect t="31314"/>
          <a:stretch/>
        </p:blipFill>
        <p:spPr>
          <a:xfrm>
            <a:off x="-20955" y="5573948"/>
            <a:ext cx="12233910" cy="1284051"/>
          </a:xfrm>
          <a:prstGeom prst="rect">
            <a:avLst/>
          </a:prstGeom>
        </p:spPr>
      </p:pic>
      <p:pic>
        <p:nvPicPr>
          <p:cNvPr id="7" name="图片 5" descr="logo-04"/>
          <p:cNvPicPr>
            <a:picLocks noChangeAspect="1"/>
          </p:cNvPicPr>
          <p:nvPr/>
        </p:nvPicPr>
        <p:blipFill rotWithShape="1">
          <a:blip r:embed="rId5"/>
          <a:srcRect t="28048" r="12726" b="27959"/>
          <a:stretch/>
        </p:blipFill>
        <p:spPr>
          <a:xfrm>
            <a:off x="9340215" y="0"/>
            <a:ext cx="2874010" cy="957059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67DB0D-6BCA-40AB-3D94-1E4E611C7F1A}"/>
              </a:ext>
            </a:extLst>
          </p:cNvPr>
          <p:cNvSpPr txBox="1"/>
          <p:nvPr/>
        </p:nvSpPr>
        <p:spPr>
          <a:xfrm>
            <a:off x="3612839" y="3136612"/>
            <a:ext cx="4667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15835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Q5YTMyNzdlZjkwZGE4OGM2N2VjMmE1OTg5ZGY3NzYifQ=="/>
  <p:tag name="RESOURCE_RECORD_KEY" val="{&quot;29&quot;:[20750920,20750899,20426324,20750925,20435163,20426279,20740302,20458329,20740258,20426318,20405990,20405922,20736786,20498651,20458328,20405923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2*347"/>
  <p:tag name="TABLE_ENDDRAG_RECT" val="47*160*432*34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jbiyggn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jbiyggn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8C4C93A-0F92-4592-87B8-58D6931FD1E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9b8576f-04e2-4ce2-b108-6d89bc85cfd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13704</TotalTime>
  <Words>2183</Words>
  <Application>Microsoft Office PowerPoint</Application>
  <PresentationFormat>宽屏</PresentationFormat>
  <Paragraphs>200</Paragraphs>
  <Slides>17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宋体</vt:lpstr>
      <vt:lpstr>Microsoft YaHei</vt:lpstr>
      <vt:lpstr>Microsoft YaHei</vt:lpstr>
      <vt:lpstr>Arial</vt:lpstr>
      <vt:lpstr>Calibri</vt:lpstr>
      <vt:lpstr>Cambria Math</vt:lpstr>
      <vt:lpstr>Wingdings</vt:lpstr>
      <vt:lpstr>Office Theme</vt:lpstr>
      <vt:lpstr>1_Office Theme</vt:lpstr>
      <vt:lpstr>程序包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PC</dc:creator>
  <cp:lastModifiedBy>fei zhao</cp:lastModifiedBy>
  <cp:revision>3295</cp:revision>
  <cp:lastPrinted>2023-06-08T02:51:00Z</cp:lastPrinted>
  <dcterms:created xsi:type="dcterms:W3CDTF">2019-06-19T02:08:00Z</dcterms:created>
  <dcterms:modified xsi:type="dcterms:W3CDTF">2026-10-19T18:14:37Z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5EF29A2C43CD4865906A94A5E0A21CD8_13</vt:lpwstr>
  </property>
</Properties>
</file>