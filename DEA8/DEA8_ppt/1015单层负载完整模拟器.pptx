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68" r:id="rId5"/>
    <p:sldId id="269" r:id="rId6"/>
    <p:sldId id="270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3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-2262505" y="3310255"/>
            <a:ext cx="6789600" cy="311702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17670" y="3757930"/>
            <a:ext cx="7974000" cy="266945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13395" y="2303145"/>
            <a:ext cx="4525200" cy="425825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760095" y="3333750"/>
            <a:ext cx="9288000" cy="310934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solidFill>
          <a:srgbClr val="5E847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0" y="2218690"/>
            <a:ext cx="12192000" cy="435229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>
            <p:ph type="body" sz="quarter" idx="6" hasCustomPrompt="1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2026/9/4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7" hasCustomPrompt="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8" hasCustomPrompt="1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18765F4-881E-43AA-8A0F-671357058BFD}" type="slidenum"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-798830" y="5560060"/>
            <a:ext cx="13790295" cy="141351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 spc="3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1" i="0" u="none" strike="noStrike" spc="3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10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rm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11" hasCustomPrompt="1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2026/9/4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2" hasCustomPrompt="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3" hasCustomPrompt="1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2A2AE16-4AE9-49C3-A4C9-6F287F14878D}" type="slidenum"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4" hasCustomPrompt="1"/>
          </p:nvPr>
        </p:nvSpPr>
        <p:spPr>
          <a:xfrm>
            <a:off x="1990800" y="3848400"/>
            <a:ext cx="7768800" cy="76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b">
            <a:normAutofit/>
          </a:bodyPr>
          <a:lstStyle>
            <a:lvl1pPr algn="l">
              <a:lnSpc>
                <a:spcPct val="100000"/>
              </a:lnSpc>
              <a:defRPr sz="44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1" i="0" u="none" strike="noStrike" spc="3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单击此处编辑标题</a:t>
            </a:r>
            <a:endParaRPr lang="en-US" sz="4400" b="1" i="0" u="none" strike="noStrike" spc="3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15" hasCustomPrompt="1"/>
          </p:nvPr>
        </p:nvSpPr>
        <p:spPr>
          <a:xfrm>
            <a:off x="1990800" y="4615200"/>
            <a:ext cx="7768800" cy="86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t">
            <a:normAutofit/>
          </a:bodyPr>
          <a:lstStyle>
            <a:lvl1pPr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33000"/>
              </a:lnSpc>
              <a:spcAft>
                <a:spcPts val="1000"/>
              </a:spcAft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单击此处编辑文本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16" hasCustomPrompt="1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2026/9/4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7" hasCustomPrompt="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8" hasCustomPrompt="1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0BFF52B-8E0B-4675-B3A9-066E5A783460}" type="slidenum"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9" hasCustomPrompt="1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 spc="3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1" i="0" u="none" strike="noStrike" spc="3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20"/>
          </p:nvPr>
        </p:nvSpPr>
        <p:spPr>
          <a:xfrm>
            <a:off x="608400" y="1501200"/>
            <a:ext cx="5176800" cy="4748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rm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21"/>
          </p:nvPr>
        </p:nvSpPr>
        <p:spPr>
          <a:xfrm>
            <a:off x="6411600" y="1501200"/>
            <a:ext cx="5176800" cy="4748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t">
            <a:norm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ph type="body" sz="quarter" idx="22" hasCustomPrompt="1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2026/9/4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3" hasCustomPrompt="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24" hasCustomPrompt="1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38A958B-D62F-4391-A974-52B65CD32925}" type="slidenum"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5" hasCustomPrompt="1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 spc="3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1" i="0" u="none" strike="noStrike" spc="3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26" hasCustomPrompt="1"/>
          </p:nvPr>
        </p:nvSpPr>
        <p:spPr>
          <a:xfrm>
            <a:off x="608400" y="1429200"/>
            <a:ext cx="5342400" cy="38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01600" tIns="38100" rIns="76200" bIns="38100" anchor="t">
            <a:normAutofit/>
          </a:bodyPr>
          <a:lstStyle>
            <a:lvl1pPr algn="l">
              <a:lnSpc>
                <a:spcPct val="100000"/>
              </a:lnSpc>
              <a:defRPr sz="2000" b="1" i="0" u="none" strike="noStrike" spc="20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1000"/>
              </a:spcAft>
            </a:pPr>
            <a:r>
              <a:rPr lang="en-US" sz="2000" b="1" i="0" u="none" strike="noStrike" spc="2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单击此处编辑文本</a:t>
            </a:r>
            <a:endParaRPr lang="en-US" sz="2000" b="1" i="0" u="none" strike="noStrike" spc="2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27"/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101600" tIns="0" rIns="82550" bIns="0" anchor="t">
            <a:norm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ph type="body" sz="quarter" idx="28" hasCustomPrompt="1"/>
          </p:nvPr>
        </p:nvSpPr>
        <p:spPr>
          <a:xfrm>
            <a:off x="6235750" y="1421729"/>
            <a:ext cx="5342400" cy="38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101600" tIns="38100" rIns="76200" bIns="38100" anchor="t">
            <a:normAutofit/>
          </a:bodyPr>
          <a:lstStyle>
            <a:lvl1pPr algn="l">
              <a:lnSpc>
                <a:spcPct val="100000"/>
              </a:lnSpc>
              <a:defRPr sz="2000" b="1" i="0" u="none" strike="noStrike" spc="20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1000"/>
              </a:spcAft>
            </a:pPr>
            <a:r>
              <a:rPr lang="en-US" sz="2000" b="1" i="0" u="none" strike="noStrike" spc="2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单击此处编辑文本</a:t>
            </a:r>
            <a:endParaRPr lang="en-US" sz="2000" b="1" i="0" u="none" strike="noStrike" spc="2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ph type="body" sz="quarter" idx="29"/>
          </p:nvPr>
        </p:nvSpPr>
        <p:spPr>
          <a:xfrm>
            <a:off x="6235750" y="1854000"/>
            <a:ext cx="5342400" cy="439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101600" tIns="0" rIns="82550" bIns="0" anchor="t">
            <a:norm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ph type="body" sz="quarter" idx="30" hasCustomPrompt="1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2026/9/4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31" hasCustomPrompt="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32" hasCustomPrompt="1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F466442-97CB-4682-9BB4-0255143F73FC}" type="slidenum"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3" hasCustomPrompt="1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 spc="3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1" i="0" u="none" strike="noStrike" spc="3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34" hasCustomPrompt="1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2026/9/4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35" hasCustomPrompt="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6" hasCustomPrompt="1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F52223C-B286-453E-8DA4-417D23D02D48}" type="slidenum"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7" hasCustomPrompt="1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2026/9/4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8" hasCustomPrompt="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39" hasCustomPrompt="1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510E401-6C94-42DB-90F0-2994E235B58E}" type="slidenum"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pic" sz="quarter" idx="40"/>
          </p:nvPr>
        </p:nvSpPr>
        <p:spPr>
          <a:xfrm>
            <a:off x="608400" y="1555200"/>
            <a:ext cx="5233077" cy="46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/>
          <p:nvPr>
            <p:ph type="body" sz="quarter" idx="41"/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rmAutofit/>
          </a:bodyPr>
          <a:lstStyle>
            <a:lvl1pPr algn="l">
              <a:lnSpc>
                <a:spcPct val="133000"/>
              </a:lnSpc>
              <a:defRPr sz="16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42" hasCustomPrompt="1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2026/9/4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43" hasCustomPrompt="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44" hasCustomPrompt="1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E28DF0E-9D91-4E8A-97F6-C25424FB84D0}" type="slidenum"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45" hasCustomPrompt="1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170" tIns="46990" rIns="90170" bIns="4699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 spc="3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1" i="0" u="none" strike="noStrike" spc="3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6" hasCustomPrompt="1"/>
          </p:nvPr>
        </p:nvSpPr>
        <p:spPr>
          <a:xfrm>
            <a:off x="10234800" y="914400"/>
            <a:ext cx="1044000" cy="502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0000" tIns="46800" rIns="90000" bIns="46800" anchor="ctr">
            <a:normAutofit/>
          </a:bodyPr>
          <a:lstStyle>
            <a:lvl1pPr algn="l">
              <a:lnSpc>
                <a:spcPct val="100000"/>
              </a:lnSpc>
              <a:defRPr sz="28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1" i="0" u="none" strike="noStrike" spc="3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单击此处编辑标题</a:t>
            </a:r>
            <a:endParaRPr lang="en-US" sz="2800" b="1" i="0" u="none" strike="noStrike" spc="3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47"/>
          </p:nvPr>
        </p:nvSpPr>
        <p:spPr>
          <a:xfrm>
            <a:off x="914400" y="914400"/>
            <a:ext cx="9169200" cy="502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46800" tIns="46800" rIns="46800" bIns="46800" anchor="t">
            <a:norm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3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3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3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3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3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3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3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3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3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3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3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48" hasCustomPrompt="1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2026/9/4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49" hasCustomPrompt="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0" hasCustomPrompt="1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CA107E0-1A53-49A2-A1E4-AC119EDD7252}" type="slidenum"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1" hasCustomPrompt="1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2026/9/4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52" hasCustomPrompt="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53" hasCustomPrompt="1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1B6A90E-BC5B-4946-A129-3C4B53853014}" type="slidenum"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4"/>
          </p:nvPr>
        </p:nvSpPr>
        <p:spPr>
          <a:xfrm>
            <a:off x="608400" y="774000"/>
            <a:ext cx="10972800" cy="5482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t">
            <a:noAutofit/>
          </a:bodyPr>
          <a:lstStyle>
            <a:lvl1pPr marL="457200" indent="-228600" algn="l">
              <a:lnSpc>
                <a:spcPct val="133000"/>
              </a:lnSpc>
              <a:defRPr sz="1800" b="0" i="0" u="none" strike="noStrike" spc="1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889000" indent="-203200"/>
            <a:lvl3pPr marL="1346200" indent="-203200"/>
            <a:lvl4pPr marL="1778000" indent="-177800"/>
            <a:lvl5pPr marL="2235200" indent="-177800"/>
            <a:lvl6pPr marL="2692400" indent="-177800"/>
            <a:lvl7pPr marL="3149600" indent="-177800"/>
            <a:lvl8pPr marL="3606800" indent="-177800"/>
            <a:lvl9pPr marL="4064000" indent="-177800"/>
          </a:lstStyle>
          <a:p>
            <a:pPr marL="228600" indent="-228600" algn="l">
              <a:lnSpc>
                <a:spcPct val="133000"/>
              </a:lnSpc>
              <a:spcAft>
                <a:spcPts val="1000"/>
              </a:spcAft>
              <a:buClr>
                <a:srgbClr val="595959"/>
              </a:buClr>
              <a:buChar char="●"/>
            </a:pPr>
            <a:r>
              <a:rPr lang="en-US" sz="18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lvl="2" indent="-228600" algn="l">
              <a:lnSpc>
                <a:spcPct val="117000"/>
              </a:lnSpc>
              <a:spcAft>
                <a:spcPts val="600"/>
              </a:spcAft>
              <a:buClr>
                <a:srgbClr val="595959"/>
              </a:buClr>
              <a:buChar char="●"/>
            </a:pPr>
            <a:r>
              <a:rPr lang="en-US" sz="16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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117000"/>
              </a:lnSpc>
              <a:spcAft>
                <a:spcPts val="300"/>
              </a:spcAft>
              <a:buClr>
                <a:srgbClr val="595959"/>
              </a:buClr>
              <a:buChar char="●"/>
            </a:pPr>
            <a:r>
              <a:rPr lang="en-US" sz="1400" b="0" i="0" u="none" strike="noStrike" spc="1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400" b="0" i="0" u="none" strike="noStrike" spc="1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5" hasCustomPrompt="1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2026/9/4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56" hasCustomPrompt="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10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57" hasCustomPrompt="1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r">
              <a:lnSpc>
                <a:spcPct val="100000"/>
              </a:lnSpc>
              <a:defRPr sz="10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89F3179-202C-47D0-B4AC-B1DBCA149E85}" type="slidenum">
              <a:rPr sz="10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000" b="0" i="0" u="none" strike="noStrike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8" hasCustomPrompt="1"/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0000" tIns="46800" rIns="90000" bIns="46800" anchor="t">
            <a:normAutofit/>
          </a:bodyPr>
          <a:lstStyle>
            <a:lvl1pPr algn="ctr">
              <a:lnSpc>
                <a:spcPct val="100000"/>
              </a:lnSpc>
              <a:defRPr sz="6000" b="1" i="0" u="none" strike="noStrike" spc="3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6000" b="1" i="0" u="none" strike="noStrike" spc="3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单击此处编辑标题</a:t>
            </a:r>
            <a:endParaRPr lang="en-US" sz="6000" b="1" i="0" u="none" strike="noStrike" spc="3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ph type="body" sz="quarter" idx="59"/>
          </p:nvPr>
        </p:nvSpPr>
        <p:spPr>
          <a:xfrm>
            <a:off x="1198800" y="3560400"/>
            <a:ext cx="9799200" cy="4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0000" tIns="46800" rIns="90000" bIns="46800" anchor="t">
            <a:normAutofit/>
          </a:bodyPr>
          <a:lstStyle>
            <a:lvl1pPr algn="ctr">
              <a:lnSpc>
                <a:spcPct val="108000"/>
              </a:lnSpc>
              <a:defRPr sz="2400" b="0" i="0" u="none" strike="noStrike" spc="20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228600" indent="-228600" algn="ctr">
              <a:lnSpc>
                <a:spcPct val="108000"/>
              </a:lnSpc>
              <a:spcAft>
                <a:spcPts val="1000"/>
              </a:spcAft>
            </a:pPr>
            <a:r>
              <a:rPr lang="en-US" sz="2400" b="0" i="0" u="none" strike="noStrike" spc="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400" b="0" i="0" u="none" strike="noStrike" spc="2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4.png"/><Relationship Id="rId2" Type="http://schemas.openxmlformats.org/officeDocument/2006/relationships/tags" Target="../tags/tag1.xml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847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73734" y="2317418"/>
            <a:ext cx="8444532" cy="7067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altLang="zh-CN" sz="4000">
                <a:ea typeface="宋体" panose="02010600030101010101" pitchFamily="2" charset="-122"/>
              </a:rPr>
              <a:t>Dea-8</a:t>
            </a:r>
            <a:r>
              <a:rPr lang="zh-CN" altLang="en-US" sz="4000">
                <a:ea typeface="宋体" panose="02010600030101010101" pitchFamily="2" charset="-122"/>
              </a:rPr>
              <a:t>事件级模拟器</a:t>
            </a:r>
            <a:endParaRPr lang="zh-CN" altLang="en-US" sz="4000">
              <a:ea typeface="宋体" panose="02010600030101010101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735952" y="3373608"/>
            <a:ext cx="2833306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2400" b="1" i="0" u="sng" strike="noStrik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书魂体简"/>
                <a:ea typeface="汉仪书魂体简"/>
                <a:cs typeface="汉仪书魂体简"/>
                <a:sym typeface="汉仪书魂体简"/>
              </a:rPr>
              <a:t>组会汇报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ln w="12700">
            <a:noFill/>
            <a:prstDash val="solid"/>
          </a:ln>
          <a:effectLst>
            <a:outerShdw blurRad="12700" dist="25400" dir="2700000" sx="99000" sy="99000" algn="tl" rotWithShape="0">
              <a:srgbClr val="000000">
                <a:alpha val="25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ln w="12700">
            <a:noFill/>
            <a:prstDash val="solid"/>
          </a:ln>
          <a:effectLst>
            <a:outerShdw blurRad="50800" dist="127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ln w="12700">
            <a:noFill/>
            <a:prstDash val="solid"/>
          </a:ln>
          <a:effectLst>
            <a:outerShdw blurRad="50800" dist="127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9757386" y="5750659"/>
            <a:ext cx="187387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文本框 7"/>
          <p:cNvSpPr txBox="1"/>
          <p:nvPr/>
        </p:nvSpPr>
        <p:spPr>
          <a:xfrm>
            <a:off x="4064000" y="432625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/>
              <a:t>汇报人：肖峰</a:t>
            </a:r>
            <a:endParaRPr lang="zh-CN" altLang="en-US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179620" y="-70557"/>
            <a:ext cx="12361588" cy="982782"/>
            <a:chOff x="-179620" y="-70557"/>
            <a:chExt cx="12361588" cy="982782"/>
          </a:xfrm>
        </p:grpSpPr>
        <p:sp>
          <p:nvSpPr>
            <p:cNvPr id="4" name="AutoShape 4"/>
            <p:cNvSpPr/>
            <p:nvPr/>
          </p:nvSpPr>
          <p:spPr>
            <a:xfrm rot="-5400000">
              <a:off x="811023" y="250654"/>
              <a:ext cx="933450" cy="299720"/>
            </a:xfrm>
            <a:prstGeom prst="parallelogram">
              <a:avLst>
                <a:gd name="adj" fmla="val 76588"/>
              </a:avLst>
            </a:prstGeom>
            <a:solidFill>
              <a:srgbClr val="56796D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 rot="-840000">
              <a:off x="-117982" y="83014"/>
              <a:ext cx="1352550" cy="675640"/>
            </a:xfrm>
            <a:prstGeom prst="parallelogram">
              <a:avLst>
                <a:gd name="adj" fmla="val 25000"/>
              </a:avLst>
            </a:prstGeom>
            <a:gradFill rotWithShape="1">
              <a:gsLst>
                <a:gs pos="0">
                  <a:srgbClr val="56796D">
                    <a:alpha val="55000"/>
                  </a:srgbClr>
                </a:gs>
                <a:gs pos="100000">
                  <a:srgbClr val="56796D">
                    <a:alpha val="100000"/>
                  </a:srgbClr>
                </a:gs>
              </a:gsLst>
              <a:lin ang="162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1418083" y="158579"/>
              <a:ext cx="10763885" cy="702310"/>
            </a:xfrm>
            <a:prstGeom prst="rect">
              <a:avLst/>
            </a:prstGeom>
            <a:gradFill rotWithShape="1">
              <a:gsLst>
                <a:gs pos="0">
                  <a:srgbClr val="56796D">
                    <a:alpha val="100000"/>
                  </a:srgbClr>
                </a:gs>
                <a:gs pos="100000">
                  <a:srgbClr val="8B9F35">
                    <a:alpha val="100000"/>
                  </a:srgbClr>
                </a:gs>
              </a:gsLst>
              <a:lin ang="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1" name="AutoShape 11"/>
          <p:cNvSpPr/>
          <p:nvPr/>
        </p:nvSpPr>
        <p:spPr>
          <a:xfrm rot="-899999">
            <a:off x="271725" y="61210"/>
            <a:ext cx="1009650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975" b="0" i="0" u="none" strike="noStrike">
                <a:solidFill>
                  <a:srgbClr val="6D777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  <a:sym typeface="Microsoft YaHei UI" panose="020B0503020204020204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61302" y="360362"/>
            <a:ext cx="41910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FFFF"/>
                </a:solidFill>
                <a:latin typeface="Helvetica"/>
                <a:ea typeface="宋体" panose="02010600030101010101" pitchFamily="2" charset="-122"/>
                <a:cs typeface="Helvetica"/>
                <a:sym typeface="Helvetica"/>
              </a:rPr>
              <a:t>仿真器的目前进展与整体架构</a:t>
            </a:r>
            <a:endParaRPr lang="zh-CN" altLang="en-US" sz="2400" b="1" i="0" u="none" strike="noStrike">
              <a:solidFill>
                <a:srgbClr val="FFFFFF"/>
              </a:solidFill>
              <a:latin typeface="Helvetica"/>
              <a:ea typeface="宋体" panose="02010600030101010101" pitchFamily="2" charset="-122"/>
              <a:cs typeface="Helvetica"/>
              <a:sym typeface="Helvetic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4205" y="2594610"/>
            <a:ext cx="3731895" cy="290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</a:t>
            </a:r>
            <a:r>
              <a:rPr lang="zh-CN" altLang="en-US"/>
              <a:t>目前搭建了</a:t>
            </a:r>
            <a:r>
              <a:rPr lang="en-US" altLang="zh-CN"/>
              <a:t>DEA-8</a:t>
            </a:r>
            <a:r>
              <a:rPr lang="zh-CN" altLang="en-US"/>
              <a:t>的事件级架构仿真框架，包含1个</a:t>
            </a:r>
            <a:r>
              <a:rPr lang="en-US" altLang="zh-CN"/>
              <a:t>GCore</a:t>
            </a:r>
            <a:r>
              <a:rPr lang="zh-CN" altLang="en-US"/>
              <a:t>和8个</a:t>
            </a:r>
            <a:r>
              <a:rPr lang="en-US" altLang="zh-CN"/>
              <a:t>PCore，</a:t>
            </a:r>
            <a:r>
              <a:rPr lang="zh-CN" altLang="en-US"/>
              <a:t>已跑通完整单层</a:t>
            </a:r>
            <a:r>
              <a:rPr lang="en-US" altLang="zh-CN"/>
              <a:t>Transformer</a:t>
            </a:r>
            <a:r>
              <a:rPr lang="zh-CN" altLang="en-US"/>
              <a:t>的数据通路。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仿真器主要用于观察执行时间、计算与通信的配合、缓冲占用和数据搬运，为后续</a:t>
            </a:r>
            <a:r>
              <a:rPr lang="en-US" altLang="zh-CN"/>
              <a:t>NPU</a:t>
            </a:r>
            <a:r>
              <a:rPr lang="zh-CN" altLang="en-US"/>
              <a:t>配置探索提供基础。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当前边界：使用合成输入和权重，完成了当前范围的功能验证；真实模型</a:t>
            </a:r>
            <a:r>
              <a:rPr lang="en-US" altLang="zh-CN"/>
              <a:t>checkpoint、18</a:t>
            </a:r>
            <a:r>
              <a:rPr lang="zh-CN" altLang="en-US"/>
              <a:t>层与10步去噪扩展、</a:t>
            </a:r>
            <a:r>
              <a:rPr lang="en-US" altLang="zh-CN"/>
              <a:t>RTL</a:t>
            </a:r>
            <a:r>
              <a:rPr lang="zh-CN" altLang="en-US"/>
              <a:t>周期校准放在后续。</a:t>
            </a:r>
            <a:endParaRPr lang="zh-CN" altLang="en-US"/>
          </a:p>
        </p:txBody>
      </p:sp>
      <p:pic>
        <p:nvPicPr>
          <p:cNvPr id="14" name="图片 13" descr="ChatGPT 图像 2026年9月26日 12_51_47"/>
          <p:cNvPicPr>
            <a:picLocks noChangeAspect="1"/>
          </p:cNvPicPr>
          <p:nvPr/>
        </p:nvPicPr>
        <p:blipFill>
          <a:blip r:embed="rId2"/>
          <a:srcRect l="9479" r="9088"/>
          <a:stretch>
            <a:fillRect/>
          </a:stretch>
        </p:blipFill>
        <p:spPr>
          <a:xfrm>
            <a:off x="5066665" y="1276985"/>
            <a:ext cx="7061200" cy="4737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179620" y="-70557"/>
            <a:ext cx="12361588" cy="982782"/>
            <a:chOff x="-179620" y="-70557"/>
            <a:chExt cx="12361588" cy="982782"/>
          </a:xfrm>
        </p:grpSpPr>
        <p:sp>
          <p:nvSpPr>
            <p:cNvPr id="4" name="AutoShape 4"/>
            <p:cNvSpPr/>
            <p:nvPr/>
          </p:nvSpPr>
          <p:spPr>
            <a:xfrm rot="-5400000">
              <a:off x="811023" y="250654"/>
              <a:ext cx="933450" cy="299720"/>
            </a:xfrm>
            <a:prstGeom prst="parallelogram">
              <a:avLst>
                <a:gd name="adj" fmla="val 76588"/>
              </a:avLst>
            </a:prstGeom>
            <a:solidFill>
              <a:srgbClr val="56796D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 rot="-840000">
              <a:off x="-117982" y="83014"/>
              <a:ext cx="1352550" cy="675640"/>
            </a:xfrm>
            <a:prstGeom prst="parallelogram">
              <a:avLst>
                <a:gd name="adj" fmla="val 25000"/>
              </a:avLst>
            </a:prstGeom>
            <a:gradFill rotWithShape="1">
              <a:gsLst>
                <a:gs pos="0">
                  <a:srgbClr val="56796D">
                    <a:alpha val="55000"/>
                  </a:srgbClr>
                </a:gs>
                <a:gs pos="100000">
                  <a:srgbClr val="56796D">
                    <a:alpha val="100000"/>
                  </a:srgbClr>
                </a:gs>
              </a:gsLst>
              <a:lin ang="162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1418083" y="158579"/>
              <a:ext cx="10763885" cy="702310"/>
            </a:xfrm>
            <a:prstGeom prst="rect">
              <a:avLst/>
            </a:prstGeom>
            <a:gradFill rotWithShape="1">
              <a:gsLst>
                <a:gs pos="0">
                  <a:srgbClr val="56796D">
                    <a:alpha val="100000"/>
                  </a:srgbClr>
                </a:gs>
                <a:gs pos="100000">
                  <a:srgbClr val="8B9F35">
                    <a:alpha val="100000"/>
                  </a:srgbClr>
                </a:gs>
              </a:gsLst>
              <a:lin ang="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1" name="AutoShape 11"/>
          <p:cNvSpPr/>
          <p:nvPr/>
        </p:nvSpPr>
        <p:spPr>
          <a:xfrm rot="-899999">
            <a:off x="271725" y="61210"/>
            <a:ext cx="1009650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975" b="0" i="0" u="none" strike="noStrike">
                <a:solidFill>
                  <a:srgbClr val="6D777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  <a:sym typeface="Microsoft YaHei UI" panose="020B0503020204020204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61302" y="360362"/>
            <a:ext cx="41910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FFFF"/>
                </a:solidFill>
                <a:latin typeface="Helvetica"/>
                <a:ea typeface="宋体" panose="02010600030101010101" pitchFamily="2" charset="-122"/>
                <a:cs typeface="Helvetica"/>
                <a:sym typeface="Helvetica"/>
              </a:rPr>
              <a:t>硬件资源</a:t>
            </a:r>
            <a:endParaRPr lang="zh-CN" altLang="en-US" sz="2400" b="1" i="0" u="none" strike="noStrike">
              <a:solidFill>
                <a:srgbClr val="FFFFFF"/>
              </a:solidFill>
              <a:latin typeface="Helvetica"/>
              <a:ea typeface="宋体" panose="02010600030101010101" pitchFamily="2" charset="-122"/>
              <a:cs typeface="Helvetica"/>
              <a:sym typeface="Helvetica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2"/>
            </p:custDataLst>
          </p:nvPr>
        </p:nvGraphicFramePr>
        <p:xfrm>
          <a:off x="605155" y="1534160"/>
          <a:ext cx="5490845" cy="4455160"/>
        </p:xfrm>
        <a:graphic>
          <a:graphicData uri="http://schemas.openxmlformats.org/drawingml/2006/table">
            <a:tbl>
              <a:tblPr/>
              <a:tblGrid>
                <a:gridCol w="982980"/>
                <a:gridCol w="2206625"/>
                <a:gridCol w="2301240"/>
              </a:tblGrid>
              <a:tr h="29400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资源部分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已建模的主要内容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在系统中的作用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7375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Host / GCU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Host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调用接口抽象；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GCU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任务发射、依赖、屏障和状态管理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启动负载，组织各资源按依赖执行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801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GCore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计算资源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PRU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Quant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；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EHU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作为预留资源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残差处理、归一化、量化；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EHU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尚未参与当前单层负载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7375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GCore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存储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 Mem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X-Mem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RMS RF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Prefix/Suffix KV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保存残差、激活、归一化统计和共享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K/V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63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</a:t>
                      </a:r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PCore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计算资源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MXU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VPU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SFU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及任务控制资源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并行执行投影、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Attention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FFN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138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PCore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内部存储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WFIFO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KVFIFO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、激活接收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暂存，以及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FACC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QOBUF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OACC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SBUF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PBUF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UGBUF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ZBUF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接收数据，保存计算中间量和结果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8010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核间互联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共享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BCAST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Gather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Reduce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广播激活与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K/V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，收集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K/V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分片，归约各核部分结果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737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外存系统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HBM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地址映射、逻辑通道、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DMA/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内存控制器抽象、请求与传输调度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为计算供数，并完成输入读取和输出写回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5" name="图片 14"/>
          <p:cNvPicPr/>
          <p:nvPr/>
        </p:nvPicPr>
        <p:blipFill>
          <a:blip r:embed="rId3"/>
          <a:stretch>
            <a:fillRect/>
          </a:stretch>
        </p:blipFill>
        <p:spPr>
          <a:xfrm>
            <a:off x="6588125" y="1212215"/>
            <a:ext cx="5062220" cy="46043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179620" y="-70557"/>
            <a:ext cx="12361588" cy="982782"/>
            <a:chOff x="-179620" y="-70557"/>
            <a:chExt cx="12361588" cy="982782"/>
          </a:xfrm>
        </p:grpSpPr>
        <p:sp>
          <p:nvSpPr>
            <p:cNvPr id="4" name="AutoShape 4"/>
            <p:cNvSpPr/>
            <p:nvPr/>
          </p:nvSpPr>
          <p:spPr>
            <a:xfrm rot="-5400000">
              <a:off x="811023" y="250654"/>
              <a:ext cx="933450" cy="299720"/>
            </a:xfrm>
            <a:prstGeom prst="parallelogram">
              <a:avLst>
                <a:gd name="adj" fmla="val 76588"/>
              </a:avLst>
            </a:prstGeom>
            <a:solidFill>
              <a:srgbClr val="56796D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 rot="-840000">
              <a:off x="-117982" y="83014"/>
              <a:ext cx="1352550" cy="675640"/>
            </a:xfrm>
            <a:prstGeom prst="parallelogram">
              <a:avLst>
                <a:gd name="adj" fmla="val 25000"/>
              </a:avLst>
            </a:prstGeom>
            <a:gradFill rotWithShape="1">
              <a:gsLst>
                <a:gs pos="0">
                  <a:srgbClr val="56796D">
                    <a:alpha val="55000"/>
                  </a:srgbClr>
                </a:gs>
                <a:gs pos="100000">
                  <a:srgbClr val="56796D">
                    <a:alpha val="100000"/>
                  </a:srgbClr>
                </a:gs>
              </a:gsLst>
              <a:lin ang="162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1418083" y="158579"/>
              <a:ext cx="10763885" cy="702310"/>
            </a:xfrm>
            <a:prstGeom prst="rect">
              <a:avLst/>
            </a:prstGeom>
            <a:gradFill rotWithShape="1">
              <a:gsLst>
                <a:gs pos="0">
                  <a:srgbClr val="56796D">
                    <a:alpha val="100000"/>
                  </a:srgbClr>
                </a:gs>
                <a:gs pos="100000">
                  <a:srgbClr val="8B9F35">
                    <a:alpha val="100000"/>
                  </a:srgbClr>
                </a:gs>
              </a:gsLst>
              <a:lin ang="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1" name="AutoShape 11"/>
          <p:cNvSpPr/>
          <p:nvPr/>
        </p:nvSpPr>
        <p:spPr>
          <a:xfrm rot="-899999">
            <a:off x="271725" y="61210"/>
            <a:ext cx="1009650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975" b="0" i="0" u="none" strike="noStrike">
                <a:solidFill>
                  <a:srgbClr val="6D777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  <a:sym typeface="Microsoft YaHei UI" panose="020B0503020204020204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61302" y="360362"/>
            <a:ext cx="41910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FFFF"/>
                </a:solidFill>
                <a:latin typeface="Helvetica"/>
                <a:ea typeface="宋体" panose="02010600030101010101" pitchFamily="2" charset="-122"/>
                <a:cs typeface="Helvetica"/>
                <a:sym typeface="Helvetica"/>
              </a:rPr>
              <a:t>硬件资源具体介绍</a:t>
            </a:r>
            <a:endParaRPr lang="zh-CN" altLang="en-US" sz="2400" b="1" i="0" u="none" strike="noStrike">
              <a:solidFill>
                <a:srgbClr val="FFFFFF"/>
              </a:solidFill>
              <a:latin typeface="Helvetica"/>
              <a:ea typeface="宋体" panose="02010600030101010101" pitchFamily="2" charset="-122"/>
              <a:cs typeface="Helvetica"/>
              <a:sym typeface="Helvetic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9145" y="102997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一、核间互联：8个</a:t>
            </a:r>
            <a:r>
              <a:rPr lang="en-US" altLang="zh-CN" b="1"/>
              <a:t>PCore</a:t>
            </a:r>
            <a:r>
              <a:rPr lang="zh-CN" altLang="en-US" b="1"/>
              <a:t>如何协作</a:t>
            </a:r>
            <a:endParaRPr lang="zh-CN" altLang="en-US" b="1"/>
          </a:p>
          <a:p>
            <a:endParaRPr lang="zh-CN" altLang="en-US" b="1"/>
          </a:p>
        </p:txBody>
      </p:sp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873125" y="1503680"/>
          <a:ext cx="6018530" cy="1681480"/>
        </p:xfrm>
        <a:graphic>
          <a:graphicData uri="http://schemas.openxmlformats.org/drawingml/2006/table">
            <a:tbl>
              <a:tblPr/>
              <a:tblGrid>
                <a:gridCol w="1163320"/>
                <a:gridCol w="1377950"/>
                <a:gridCol w="1642110"/>
                <a:gridCol w="1835150"/>
              </a:tblGrid>
              <a:tr h="240030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通信方式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数据方向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做什么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本层中的例子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0695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Broadcast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广播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一个源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→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多个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PCore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把同一份数据送给多个核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广播输入激活、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Attention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所需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K/V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006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Gather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收集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多个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PCore → GCore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按位置收集各核的数据分片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各核产生的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K/V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组成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Suffix KV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0695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Reduce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归约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多个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PCore →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汇总结果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将对应元素的部分结果相加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投影、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Down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投影后的结果求和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684135" y="1503680"/>
            <a:ext cx="40640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</a:t>
            </a:r>
            <a:r>
              <a:rPr lang="en-US" altLang="zh-CN"/>
              <a:t>XBC</a:t>
            </a:r>
            <a:r>
              <a:rPr lang="zh-CN" altLang="en-US"/>
              <a:t>和</a:t>
            </a:r>
            <a:r>
              <a:rPr lang="en-US" altLang="zh-CN"/>
              <a:t>KVB</a:t>
            </a:r>
            <a:r>
              <a:rPr lang="zh-CN" altLang="en-US"/>
              <a:t>已合并为一套256+16 </a:t>
            </a:r>
            <a:r>
              <a:rPr lang="en-US" altLang="zh-CN"/>
              <a:t>bit</a:t>
            </a:r>
            <a:r>
              <a:rPr lang="zh-CN" altLang="en-US"/>
              <a:t>物理广播资源，共享带宽和调度。激活和</a:t>
            </a:r>
            <a:r>
              <a:rPr lang="en-US" altLang="zh-CN"/>
              <a:t>K/V</a:t>
            </a:r>
            <a:r>
              <a:rPr lang="zh-CN" altLang="en-US"/>
              <a:t>仍是两类逻辑流，分别进入</a:t>
            </a:r>
            <a:r>
              <a:rPr lang="en-US" altLang="zh-CN"/>
              <a:t>XFIFO</a:t>
            </a:r>
            <a:r>
              <a:rPr lang="zh-CN" altLang="en-US"/>
              <a:t>和</a:t>
            </a:r>
            <a:r>
              <a:rPr lang="en-US" altLang="zh-CN"/>
              <a:t>KVFIFO。</a:t>
            </a:r>
            <a:endParaRPr lang="en-US" altLang="zh-CN"/>
          </a:p>
        </p:txBody>
      </p:sp>
      <p:cxnSp>
        <p:nvCxnSpPr>
          <p:cNvPr id="10" name="直接箭头连接符 9"/>
          <p:cNvCxnSpPr>
            <a:endCxn id="9" idx="1"/>
          </p:cNvCxnSpPr>
          <p:nvPr/>
        </p:nvCxnSpPr>
        <p:spPr>
          <a:xfrm flipV="1">
            <a:off x="6870700" y="1872615"/>
            <a:ext cx="813435" cy="863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873125" y="3390900"/>
            <a:ext cx="9912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实践路径：</a:t>
            </a:r>
            <a:r>
              <a:rPr lang="en-US" altLang="zh-CN"/>
              <a:t>GCore</a:t>
            </a:r>
            <a:r>
              <a:rPr lang="zh-CN" altLang="en-US"/>
              <a:t>广播激活 → 各</a:t>
            </a:r>
            <a:r>
              <a:rPr lang="en-US" altLang="zh-CN"/>
              <a:t>PCore</a:t>
            </a:r>
            <a:r>
              <a:rPr lang="zh-CN" altLang="en-US"/>
              <a:t>计算</a:t>
            </a:r>
            <a:r>
              <a:rPr lang="en-US" altLang="zh-CN"/>
              <a:t>Q/K/V → K/V</a:t>
            </a:r>
            <a:r>
              <a:rPr lang="zh-CN" altLang="en-US"/>
              <a:t>收集到</a:t>
            </a:r>
            <a:r>
              <a:rPr lang="en-US" altLang="zh-CN"/>
              <a:t>GCore → </a:t>
            </a:r>
            <a:r>
              <a:rPr lang="zh-CN" altLang="en-US"/>
              <a:t>广播共享</a:t>
            </a:r>
            <a:r>
              <a:rPr lang="en-US" altLang="zh-CN"/>
              <a:t>K/V，</a:t>
            </a:r>
            <a:endParaRPr lang="en-US" altLang="zh-CN"/>
          </a:p>
          <a:p>
            <a:pPr marL="457200" lvl="1" indent="457200"/>
            <a:r>
              <a:rPr lang="zh-CN" altLang="en-US"/>
              <a:t>各核用本地</a:t>
            </a:r>
            <a:r>
              <a:rPr lang="en-US" altLang="zh-CN"/>
              <a:t>Q</a:t>
            </a:r>
            <a:r>
              <a:rPr lang="zh-CN" altLang="en-US"/>
              <a:t>计算</a:t>
            </a:r>
            <a:r>
              <a:rPr lang="en-US" altLang="zh-CN"/>
              <a:t>Attention → </a:t>
            </a:r>
            <a:r>
              <a:rPr lang="zh-CN" altLang="en-US"/>
              <a:t>各核做</a:t>
            </a:r>
            <a:r>
              <a:rPr lang="en-US" altLang="zh-CN"/>
              <a:t>O</a:t>
            </a:r>
            <a:r>
              <a:rPr lang="zh-CN" altLang="en-US"/>
              <a:t>投影 → </a:t>
            </a:r>
            <a:r>
              <a:rPr lang="en-US" altLang="zh-CN"/>
              <a:t>Reduce</a:t>
            </a:r>
            <a:r>
              <a:rPr lang="zh-CN" altLang="en-US"/>
              <a:t>合并结果。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73125" y="411861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二、</a:t>
            </a:r>
            <a:r>
              <a:rPr lang="en-US" altLang="zh-CN" b="1"/>
              <a:t>HBM</a:t>
            </a:r>
            <a:r>
              <a:rPr lang="zh-CN" altLang="en-US" b="1"/>
              <a:t>外存与通道：数据怎么送到各核</a:t>
            </a:r>
            <a:endParaRPr lang="zh-CN" altLang="en-US" b="1"/>
          </a:p>
        </p:txBody>
      </p:sp>
      <p:graphicFrame>
        <p:nvGraphicFramePr>
          <p:cNvPr id="16" name="表格 15"/>
          <p:cNvGraphicFramePr/>
          <p:nvPr>
            <p:custDataLst>
              <p:tags r:id="rId3"/>
            </p:custDataLst>
          </p:nvPr>
        </p:nvGraphicFramePr>
        <p:xfrm>
          <a:off x="929640" y="4548505"/>
          <a:ext cx="3628390" cy="2010410"/>
        </p:xfrm>
        <a:graphic>
          <a:graphicData uri="http://schemas.openxmlformats.org/drawingml/2006/table">
            <a:tbl>
              <a:tblPr/>
              <a:tblGrid>
                <a:gridCol w="1055370"/>
                <a:gridCol w="2573020"/>
              </a:tblGrid>
              <a:tr h="223520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概念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作用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9925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HBM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外存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保存权重、输入、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Prefix K/V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和输出等数据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0560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逻辑通道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提供有带宽限制的传输服务；请求需要排队，并按模型规则获得服务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6405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DMA/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内存控制器抽象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根据请求地址、大小和目的地，组织数据搬运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5752465" y="4887595"/>
            <a:ext cx="472948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如果权重没及时到达，计算需要等待；如果接收缓冲放不下，传输受到背压。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当前</a:t>
            </a:r>
            <a:r>
              <a:rPr lang="en-US" altLang="zh-CN"/>
              <a:t>HBM</a:t>
            </a:r>
            <a:r>
              <a:rPr lang="zh-CN" altLang="en-US"/>
              <a:t>采用逻辑通道模型，关注请求、带宽、排队和接收端背压，</a:t>
            </a:r>
            <a:r>
              <a:rPr lang="zh-CN" altLang="en-US" b="1"/>
              <a:t>尚未细化到</a:t>
            </a:r>
            <a:r>
              <a:rPr lang="en-US" altLang="zh-CN" b="1"/>
              <a:t>DRAM</a:t>
            </a:r>
            <a:r>
              <a:rPr lang="zh-CN" altLang="en-US" b="1"/>
              <a:t>命令、</a:t>
            </a:r>
            <a:r>
              <a:rPr lang="en-US" altLang="zh-CN" b="1"/>
              <a:t>bank</a:t>
            </a:r>
            <a:r>
              <a:rPr lang="zh-CN" altLang="en-US" b="1"/>
              <a:t>冲突和行缓冲行为。后续我们考虑接入</a:t>
            </a:r>
            <a:r>
              <a:rPr lang="en-US" altLang="zh-CN" b="1"/>
              <a:t>ramulator2.1</a:t>
            </a:r>
            <a:r>
              <a:rPr lang="zh-CN" altLang="en-US" b="1">
                <a:ea typeface="宋体" panose="02010600030101010101" pitchFamily="2" charset="-122"/>
              </a:rPr>
              <a:t>来扩展功能。</a:t>
            </a:r>
            <a:endParaRPr lang="zh-CN" altLang="en-US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179620" y="-70557"/>
            <a:ext cx="12361588" cy="982782"/>
            <a:chOff x="-179620" y="-70557"/>
            <a:chExt cx="12361588" cy="982782"/>
          </a:xfrm>
        </p:grpSpPr>
        <p:sp>
          <p:nvSpPr>
            <p:cNvPr id="4" name="AutoShape 4"/>
            <p:cNvSpPr/>
            <p:nvPr/>
          </p:nvSpPr>
          <p:spPr>
            <a:xfrm rot="-5400000">
              <a:off x="811023" y="250654"/>
              <a:ext cx="933450" cy="299720"/>
            </a:xfrm>
            <a:prstGeom prst="parallelogram">
              <a:avLst>
                <a:gd name="adj" fmla="val 76588"/>
              </a:avLst>
            </a:prstGeom>
            <a:solidFill>
              <a:srgbClr val="56796D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 rot="-840000">
              <a:off x="-117982" y="83014"/>
              <a:ext cx="1352550" cy="675640"/>
            </a:xfrm>
            <a:prstGeom prst="parallelogram">
              <a:avLst>
                <a:gd name="adj" fmla="val 25000"/>
              </a:avLst>
            </a:prstGeom>
            <a:gradFill rotWithShape="1">
              <a:gsLst>
                <a:gs pos="0">
                  <a:srgbClr val="56796D">
                    <a:alpha val="55000"/>
                  </a:srgbClr>
                </a:gs>
                <a:gs pos="100000">
                  <a:srgbClr val="56796D">
                    <a:alpha val="100000"/>
                  </a:srgbClr>
                </a:gs>
              </a:gsLst>
              <a:lin ang="1620000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1418083" y="158579"/>
              <a:ext cx="10763885" cy="702310"/>
            </a:xfrm>
            <a:prstGeom prst="rect">
              <a:avLst/>
            </a:prstGeom>
            <a:gradFill rotWithShape="1">
              <a:gsLst>
                <a:gs pos="0">
                  <a:srgbClr val="56796D">
                    <a:alpha val="100000"/>
                  </a:srgbClr>
                </a:gs>
                <a:gs pos="100000">
                  <a:srgbClr val="8B9F35">
                    <a:alpha val="100000"/>
                  </a:srgbClr>
                </a:gs>
              </a:gsLst>
              <a:lin ang="0"/>
            </a:gra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1" name="AutoShape 11"/>
          <p:cNvSpPr/>
          <p:nvPr/>
        </p:nvSpPr>
        <p:spPr>
          <a:xfrm rot="-899999">
            <a:off x="271725" y="61210"/>
            <a:ext cx="1009650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975" b="0" i="0" u="none" strike="noStrike">
                <a:solidFill>
                  <a:srgbClr val="6D777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  <a:sym typeface="Microsoft YaHei UI" panose="020B0503020204020204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61302" y="360362"/>
            <a:ext cx="41910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FFFF"/>
                </a:solidFill>
                <a:latin typeface="Helvetica"/>
                <a:ea typeface="宋体" panose="02010600030101010101" pitchFamily="2" charset="-122"/>
                <a:cs typeface="Helvetica"/>
                <a:sym typeface="Helvetica"/>
              </a:rPr>
              <a:t>结果展示与后期规划</a:t>
            </a:r>
            <a:endParaRPr lang="zh-CN" altLang="en-US" sz="2400" b="1" i="0" u="none" strike="noStrike">
              <a:solidFill>
                <a:srgbClr val="FFFFFF"/>
              </a:solidFill>
              <a:latin typeface="Helvetica"/>
              <a:ea typeface="宋体" panose="02010600030101010101" pitchFamily="2" charset="-122"/>
              <a:cs typeface="Helvetica"/>
              <a:sym typeface="Helvetica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1303" y="2901633"/>
          <a:ext cx="130048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564515" imgH="403860" progId="Package">
                  <p:embed/>
                </p:oleObj>
              </mc:Choice>
              <mc:Fallback>
                <p:oleObj name="" r:id="rId2" imgW="564515" imgH="40386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1303" y="2901633"/>
                        <a:ext cx="1300480" cy="930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05740" y="2118995"/>
            <a:ext cx="2101850" cy="537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dashboard</a:t>
            </a:r>
            <a:r>
              <a:rPr lang="zh-CN" altLang="en-US" sz="2000">
                <a:ea typeface="宋体" panose="02010600030101010101" pitchFamily="2" charset="-122"/>
              </a:rPr>
              <a:t>如下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39110" y="105918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文献阅读：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815" y="1457960"/>
            <a:ext cx="8322310" cy="265493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9855" y="4351655"/>
            <a:ext cx="6271895" cy="237617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039110" y="271716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（主）</a:t>
            </a:r>
            <a:endParaRPr lang="zh-CN" altLang="en-US" sz="1600"/>
          </a:p>
        </p:txBody>
      </p:sp>
      <p:sp>
        <p:nvSpPr>
          <p:cNvPr id="16" name="文本框 15"/>
          <p:cNvSpPr txBox="1"/>
          <p:nvPr/>
        </p:nvSpPr>
        <p:spPr>
          <a:xfrm>
            <a:off x="3039110" y="541274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（辅）</a:t>
            </a:r>
            <a:endParaRPr lang="zh-CN" altLang="en-US" sz="1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32*347"/>
  <p:tag name="TABLE_ENDDRAG_RECT" val="47*160*432*347"/>
</p:tagLst>
</file>

<file path=ppt/tags/tag2.xml><?xml version="1.0" encoding="utf-8"?>
<p:tagLst xmlns:p="http://schemas.openxmlformats.org/presentationml/2006/main">
  <p:tag name="TABLE_ENDDRAG_ORIGIN_RECT" val="473*132"/>
  <p:tag name="TABLE_ENDDRAG_RECT" val="68*144*473*132"/>
</p:tagLst>
</file>

<file path=ppt/tags/tag3.xml><?xml version="1.0" encoding="utf-8"?>
<p:tagLst xmlns:p="http://schemas.openxmlformats.org/presentationml/2006/main">
  <p:tag name="TABLE_ENDDRAG_ORIGIN_RECT" val="285*158"/>
  <p:tag name="TABLE_ENDDRAG_RECT" val="73*368*285*158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1321</Words>
  <Application>WPS 演示</Application>
  <PresentationFormat/>
  <Paragraphs>179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Arial</vt:lpstr>
      <vt:lpstr>Noto Sans SC</vt:lpstr>
      <vt:lpstr>微软雅黑</vt:lpstr>
      <vt:lpstr>汉仪书魂体简</vt:lpstr>
      <vt:lpstr>Segoe Print</vt:lpstr>
      <vt:lpstr>Microsoft YaHei UI</vt:lpstr>
      <vt:lpstr>Helvetica</vt:lpstr>
      <vt:lpstr>Arial Unicode MS</vt:lpstr>
      <vt:lpstr>Office 主题​​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肖峰</cp:lastModifiedBy>
  <cp:revision>12</cp:revision>
  <dcterms:created xsi:type="dcterms:W3CDTF">2026-09-08T06:37:00Z</dcterms:created>
  <dcterms:modified xsi:type="dcterms:W3CDTF">2026-10-16T03:46:53Z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16867A8D41D04926B39286BAB1D90949_13</vt:lpwstr>
  </property>
</Properties>
</file>