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39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汇报集中介绍最近完成的五部分工作：双INT8设计、11拍DEQACC、三种矩阵运算模式、七种Job控制，以及Collective。证据主要来自模块级和单核测试。八个真实PCore连接后的完整系统仿真仍在推进，后续可以追加结果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说明工作范围。当前PCore保留V3版本，三个Engine复用同一个Matrix。SFU/VPU具体算术由其他同学实现，本轮工作包括控制与接口。Collective位于PCore外部，有独立RTL与模块测试。DEQACC有模块级综合和布局布线记录，整核资源与时序需要另行确认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C:\Users\fly04\Desktop\VLA\V3\README.md</a:t>
            </a:r>
          </a:p>
          <a:p>
            <a:r>
              <a:t>C:\Users\fly04\Desktop\VLA\Collective\README.md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仍然采用权重驻留，两个激活来自两行相同K位置。A0放到高位，A1放低位，DSP预加器形成打包操作数，与共享权重B相乘。由于低位有符号乘积会影响高位，需要在解包时加P[17]修正。每个PE先恢复两个独立INT16乘积，再进入各自的16项加法树。不能直接把16个打包结果相加，这会超过预留位间隔。结构上每个PE显式实例化一个DSP48E2，整个16×16阵列目标为256个DSP，完整MXU物理资源以今后综合为准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C:\Users\fly04\Desktop\VLA\V3\rtl\dea8_pe_2row_v3.sv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矩阵Tile为A[51,16]乘B[16,16]。Q_ACT_REG保存两行激活，每个输入feature扇出到16个输出列。51行需要26个双行发射，第25个pair只保留row50有效，row51屏蔽。S0锁存激活与旁带，S1 DSP乘法，S2解包，S3到S6是四级加法树。第四级结果直接写Psum输出寄存器。E_stream、E_stat和tag经历对应边界，在Psum输出时保持同一事务。每拍结果是2×16个INT32，共1024bit载荷。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C:\Users\fly04\Desktop\VLA\V3\rtl\dea8_mxu_2row_v3.sv</a:t>
            </a:r>
          </a:p>
          <a:p>
            <a:r>
              <a:t>C:\Users\fly04\Desktop\VLA\V3\rtl\pcore3_pkg.sv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新版总延迟11拍，分三段说明。D0至D3完成INT32点积转FP32以及旧ACC读取。D4至D9是六拍FP32累加器：比较与排序、对阶、加减与粗检测、规格化控制、移位、舍入打包。D10完成RAM写回和commit。首次K Tile add_old为0，绕过旧值，但仍保持相同固定延迟。输入valid、scale与meta沿对应流水一起前进，计算结果与存储地址不会分离。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C:\Users\fly04\Desktop\VLA\V3\rtl\DEQACC_3.3ns.sv</a:t>
            </a:r>
          </a:p>
          <a:p>
            <a:r>
              <a:t>C:\Users\fly04\Desktop\VLA\V3\rtl\DEQACC_3.3ns_lane.sv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MXINT8当前约定为q乘2的E-133次方。两个16项向量的点积整数结果乘2的E_A+E_B-266次方，QK再折入-4作为1/sqrt256。由于不同K Tile可能有不同指数，不能把整个K维都当同一scale在整数域累加。ACC目标由meta.acc_sel选择，首Tile通过add_old=0覆盖，省掉独立ZERO存储。FACC双bank承载一个51×16结果Tile，OACC承载51×256跨block累计。VPU对OACC的缩放走独立访问接口，访问所有权与读返回credit保护矩阵并行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C:\Users\fly04\Desktop\VLA\V3\rtl\DEQACC_3.3ns.sv</a:t>
            </a:r>
          </a:p>
          <a:p>
            <a:r>
              <a:t>C:\Users\fly04\Desktop\VLA\V3\rtl\pcore3_pkg.sv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连续流测试5000个事务、32lane、11拍延迟、II1；FP32 lane测试1000016事务、6拍、II1。物理报告来自2026-09-30冻结模块DEQACC_3_3ns_timing_shell，器件xcu50-fsvh2104-2-e。4ns内部时钟约束WNS+0.700ns，WHS+0.019ns，TNS0。3.3ns复核WNS0.000ns，余量接近边界。core层资源33534LUT、20552FF、14RAMB36和2RAMB18、0DSP。物理报告含ACC与模块壳子，外部I/O没有输入输出延迟约束；DRC仍有RTSTAT-10无可路由负载warning，不能声称整个PCore通过4ns。当前仿真是后续源码记录，物理证据仅覆盖冻结检查点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C:\Users\fly04\Desktop\VLA\V3\reports\tb_deqacc32_v5_stream.txt</a:t>
            </a:r>
          </a:p>
          <a:p>
            <a:r>
              <a:t>C:\Users\fly04\Desktop\VLA\V3\reports\DEQACC_3.3ns\refined_250MHz_timing.rpt</a:t>
            </a:r>
          </a:p>
          <a:p>
            <a:r>
              <a:t>C:\Users\fly04\Desktop\VLA\V3\reports\DEQACC_3.3ns\final_utilization.rpt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Q有64个K Tile、16个N Tile。对一个N Tile，重复执行64次A[51,16]乘W[16,16]，每次26个双行发射，共1664发射周期，然后获得51×16FP32结果。下一N Tile选择另一个FACC bank，在计算和后处理之间按所有权交换。矩阵输入每个Tile完整预约后发射；16拍B加载尽量藏在当前Tile26拍计算中。首Tile冷启动暴露，数据断供和bank交接依然以ready/valid和真实完成控制。独立Q测试issues26624，16输出Tile，mismatch0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C:\Users\fly04\Desktop\VLA\V3\reports\tb_v3_projection.txt</a:t>
            </a:r>
          </a:p>
          <a:p>
            <a:r>
              <a:t>C:\Users\fly04\Desktop\VLA\V3\rtl\dea8_projection_v3.sv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矩阵子序列QK0、QK1、PV0、QK2、PV1直至QK54、PV53，再留尾部时隙后PV54。每个QK或PV含16Tile×26发射，body416。历史独立调度测试steady434，带加载与交接余量。QK首块允许冷加载暴露，后续预取下一block，协议和ACC提交作为启动条件。QK后处理依赖FACC完整结果，P就绪才能PV，alpha和OACC_SCALE依赖上一PV提交。PV53到PV54缺少QK55所以必须额外留窗口，最终RECIP与A_FIN保留显式尾部。独立测试非矩阵供数由TB模拟，identity_scale_model为1，该测试证明调度而非真实SFU吞吐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C:\Users\fly04\Desktop\VLA\V3\rtl\dea8_attention_scheduler_v3.sv</a:t>
            </a:r>
          </a:p>
          <a:p>
            <a:r>
              <a:t>C:\Users\fly04\Desktop\VLA\V3\reports\tb_v3_attention_55.txt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单核Gate与Up各51×1024乘1024×512，输出512列即32个N Tile。每个N Tile两支各64个K Tile，发射数2×64×26=3328。XBC输入进入A Replay复用，减少Gate和Up重复外部供数。结果通过FACC及GU Pair BUF按同一行坐标配对。SFU做GELU，VPU做FP32乘法与量化，Z写现有QOZ而不新增ZBUF。Pair侧按51行处理，没有为了节约二十几拍复制大量后处理资源。后处理慢时只在结果slot重用处等待，保护已完成结果不被覆盖。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C:\Users\fly04\Desktop\VLA\V3\rtl\dea8_gu_scheduler_v3.sv</a:t>
            </a:r>
          </a:p>
          <a:p>
            <a:r>
              <a:t>C:\Users\fly04\Desktop\VLA\V3\rtl\dea8_gu_a_replay_v3.sv</a:t>
            </a:r>
          </a:p>
          <a:p>
            <a:r>
              <a:t>C:\Users\fly04\Desktop\VLA\V3\reports\tb_v3_gu_32_system.txt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DEA8理解层和去噪步，PCore接受七种完整任务，一次只允许一个外部Job。内部矩阵、VPU、SFU可以依据依赖重叠推进。PCore解析opcode和profile，启动Projection、Attention或GU Engine，管理ACC、QOZ与输出服务。两个单元各一条独立cmd/done通道，当前各允许一个在途命令。KV和reduce出口分开，K/V或O/Down任务完成以本核包实际被接受为准。多核Collective完成由DEA8跟踪。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C:\Users\fly04\Desktop\VLA\V3\docs\PCore_Control_Center_v3.md</a:t>
            </a:r>
          </a:p>
          <a:p>
            <a:r>
              <a:t>C:\Users\fly04\Desktop\VLA\V3\rtl\dea8_pcore_control_v3.sv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K与V本核矩阵输出32列，Q256列，GU512列。K做RoPE与feature量化，V做token量化，Q做RoPE写QOZ。Attention负责完整110子任务及最终归一化量化。O与Down不在PCore归约八核，只送本核FP32 partial。GU包括GELU乘法量化。完成条件分别对应52、64、1664个包被本核发送，或QOZ16/32Tile提交。八核后续屏障必须由DEA8根据Collective与GCore进度判断。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C:\Users\fly04\Desktop\VLA\V3\docs\PCore_Control_Center_v3.md</a:t>
            </a:r>
          </a:p>
          <a:p>
            <a:r>
              <a:t>C:\Users\fly04\Desktop\VLA\V3\rtl\pcore3_pkg.sv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K/Q RoPE必须等两半结果配对，QK_POST等FACC提交，P_EXP前先配置VPU P_POST接收，OACC_SCALE必须等前代PV提交，GU必须等Gate/Up同一行。done除了算术完成还包括约定写入和数量校验。QOZ只有一个活动region，Q读完成和响应排空后才能释放给O，O被Projection消费后再释放给Z。每个region完整提交才能由下一个Job消费。flush由VPU/SFU分别确认，协议TB已检查前置条件、非法Job、done保持和旧结果拦截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C:\Users\fly04\Desktop\VLA\V3\docs\PCore_Control_Center_v3.md</a:t>
            </a:r>
          </a:p>
          <a:p>
            <a:r>
              <a:t>C:\Users\fly04\Desktop\VLA\V3\reports\tb_v3_pcore_control_protocol_control.log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lective接八核PCore原生包。K/V使用每核272bit深度2浅FIFO，经轮询选一个非空核，不必等8核同时到齐；单路KV出口把坐标送GCore。O/Down使用每核1024bit深度4FIFO，必须所有核同序号head到齐，原子弹出后进入32lane归约树。FP32结果经深度2出口FIFO送GCore。两种路径共用事务与错误管理，数据缓存按格式拆分。KV单路每拍一包，持续输入超额时合法反压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C:\Users\fly04\Desktop\VLA\Collective\README.md</a:t>
            </a:r>
          </a:p>
          <a:p>
            <a:r>
              <a:t>C:\Users\fly04\Desktop\VLA\Collective\rtl\dea8_collective_top.sv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/V各核持有不同32个feature，拼接到51×256，不做加法。K量化块沿feature，V量化块沿token，因此坐标映射不同。K每核52包，八核416输出；V每核64包，八核512输出。O与Down每核1664个两行片段×16FP32包，各核对应同一个输出坐标，按固定树形舍入顺序求和；八核合成1664输出。树共三层，节点4拍，总12个推进拍，无反压时II1；整体暂停时latency按推进次数计算。32lane×7节点共224FP32加法器，资源不是224DSP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C:\Users\fly04\Desktop\VLA\Collective\README.md</a:t>
            </a:r>
          </a:p>
          <a:p>
            <a:r>
              <a:t>C:\Users\fly04\Desktop\VLA\Collective\rtl\dea8_collective_reduce.sv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独立模块由TB模拟八个源。已验证K、V、O、Down四类事务以及恢复后的K，共五个成功Job，八项故障注入；数值检查覆盖KV坐标和scale，以及FP32固定树形位精确参考。输入与输出均有反压，树暂停也被覆盖。这里不能解释成8个真实PCore的整机验证。最近的完整8核仿真仍在进行，完成后追加相邻页展示全Job数值、各核同步、Collective传输、端到端周期以及源版本信息。真实SFU/VPU接入后还要重新测隐藏效果，当前模块级P&amp;R不代替整核时序。</a:t>
            </a:r>
          </a:p>
          <a:p>
            <a:endParaRPr/>
          </a:p>
          <a:p>
            <a:r>
              <a:t>来源与范围：</a:t>
            </a:r>
          </a:p>
          <a:p>
            <a:r>
              <a:t>C:\Users\fly04\Desktop\VLA\Collective\reports\tb_collective.log</a:t>
            </a:r>
          </a:p>
          <a:p>
            <a:r>
              <a:t>C:\Users\fly04\Desktop\VLA\Collective\reports\simulation_summary.txt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E7639EF-A04D-4D58-BB83-405AA225E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09E558D-9599-4C5D-8B2E-5466589E1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D5DCF4A-48B3-4F85-892C-834B76A22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110933-E901-4447-A986-9CDF64B02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AFBC6EC-6CA8-4BB3-B679-E05F52028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B4C13E1-91BE-4553-8A2A-AB194BA19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E2C4170-29D4-43B8-86B7-4D4B8812D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DEA6305-7086-48DD-848B-4B582DD720C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530E0E3-B6CF-4FE8-B4B0-48312AB78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DB005B8-3F94-4089-8F7E-41A1B9955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-1">
            <a:extLst>
              <a:ext uri="{FF2B5EF4-FFF2-40B4-BE49-F238E27FC236}">
                <a16:creationId xmlns:a16="http://schemas.microsoft.com/office/drawing/2014/main" id="{2AC05EAF-57A0-4716-9765-F8BD53AB5687}"/>
              </a:ext>
            </a:extLst>
          </p:cNvPr>
          <p:cNvSpPr>
            <a:spLocks noGrp="1"/>
          </p:cNvSpPr>
          <p:nvPr/>
        </p:nvSpPr>
        <p:spPr>
          <a:xfrm>
            <a:off x="609600" y="733425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DEA-8 PCore V3</a:t>
            </a:r>
          </a:p>
        </p:txBody>
      </p:sp>
      <p:sp>
        <p:nvSpPr>
          <p:cNvPr id="2" name="heading">
            <a:extLst>
              <a:ext uri="{FF2B5EF4-FFF2-40B4-BE49-F238E27FC236}">
                <a16:creationId xmlns:a16="http://schemas.microsoft.com/office/drawing/2014/main" id="{6A801584-32CD-41DB-B0FF-3C776824E9E7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0953750" cy="1543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875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4875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近期设计与实现进展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06A907C4-F790-4743-BD4C-DEBCE9C55EA0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05727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双 INT8 计算 · DEQACC 11 拍流水</a:t>
            </a:r>
          </a:p>
          <a:p>
            <a:pPr algn="l">
              <a:def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矩阵调度 · 七种 Job 控制 · Collective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DA78733E-91F2-4E1B-905C-288DA0A7D7B8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2026.10.09</a:t>
            </a:r>
          </a:p>
        </p:txBody>
      </p:sp>
    </p:spTree>
    <p:extLst>
      <p:ext uri="{BB962C8B-B14F-4D97-AF65-F5344CB8AC3E}">
        <p14:creationId xmlns:p14="http://schemas.microsoft.com/office/powerpoint/2010/main" val="683563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id="{87222469-3936-45DF-8D23-DFF6596825D5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本轮完成的五部分工作</a:t>
            </a:r>
          </a:p>
        </p:txBody>
      </p:sp>
      <p:sp>
        <p:nvSpPr>
          <p:cNvPr id="2" name="text-6">
            <a:extLst>
              <a:ext uri="{FF2B5EF4-FFF2-40B4-BE49-F238E27FC236}">
                <a16:creationId xmlns:a16="http://schemas.microsoft.com/office/drawing/2014/main" id="{8A00FBEA-87E5-446D-8993-8B9BEB35A841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计算阵列、流水时序、任务调度和跨核输出接口逐步形成完整分工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8D9C921A-5FD4-4823-90D9-F7DD7422419B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7">
            <a:extLst>
              <a:ext uri="{FF2B5EF4-FFF2-40B4-BE49-F238E27FC236}">
                <a16:creationId xmlns:a16="http://schemas.microsoft.com/office/drawing/2014/main" id="{D32094B0-FF52-4AA6-AE55-09870204893F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依据：V3/README.md，Collective/README.md</a:t>
            </a:r>
          </a:p>
        </p:txBody>
      </p:sp>
      <p:sp>
        <p:nvSpPr>
          <p:cNvPr id="5" name="text-8">
            <a:extLst>
              <a:ext uri="{FF2B5EF4-FFF2-40B4-BE49-F238E27FC236}">
                <a16:creationId xmlns:a16="http://schemas.microsoft.com/office/drawing/2014/main" id="{7FEEA917-B274-4C6C-90A9-3CB184E8033B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387A63F-5691-496C-8736-BFD688698338}"/>
              </a:ext>
            </a:extLst>
          </p:cNvPr>
          <p:cNvGraphicFramePr/>
          <p:nvPr/>
        </p:nvGraphicFramePr>
        <p:xfrm>
          <a:off x="533400" y="1809750"/>
          <a:ext cx="11125200" cy="39433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部分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本轮完成内容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已有证据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 INT8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 B 的双乘法，双行广播与旁带对齐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RTL 结构及矩阵数值验证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DEQACC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lane，D0–D10，II=1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连续流仿真、模块综合及 P&amp;R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矩阵模式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Projection / Attention / G-U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各模式独立数值与调度测试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七种 Job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矩阵与本地后处理按事件推进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控制协议与单核测试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Collective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K/V 拼接，O/Down FP32 归约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独立模块数值与异常测试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-9">
            <a:extLst>
              <a:ext uri="{FF2B5EF4-FFF2-40B4-BE49-F238E27FC236}">
                <a16:creationId xmlns:a16="http://schemas.microsoft.com/office/drawing/2014/main" id="{088E22AB-EBB3-4303-B630-06289BF33DD3}"/>
              </a:ext>
            </a:extLst>
          </p:cNvPr>
          <p:cNvSpPr>
            <a:spLocks noGrp="1"/>
          </p:cNvSpPr>
          <p:nvPr/>
        </p:nvSpPr>
        <p:spPr>
          <a:xfrm>
            <a:off x="533400" y="5829300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后续补充：八个真实 PCore 连接后的完整仿真结果</a:t>
            </a:r>
          </a:p>
        </p:txBody>
      </p:sp>
    </p:spTree>
    <p:extLst>
      <p:ext uri="{BB962C8B-B14F-4D97-AF65-F5344CB8AC3E}">
        <p14:creationId xmlns:p14="http://schemas.microsoft.com/office/powerpoint/2010/main" val="66840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674517EB-E09F-4395-9C5F-1DEB248253DF}"/>
              </a:ext>
            </a:extLst>
          </p:cNvPr>
          <p:cNvCxnSpPr>
            <a:stCxn id="13" idx="0"/>
            <a:endCxn id="8" idx="2"/>
          </p:cNvCxnSpPr>
          <p:nvPr/>
        </p:nvCxnSpPr>
        <p:spPr>
          <a:xfrm flipV="1">
            <a:off x="6629400" y="2905125"/>
            <a:ext cx="19050" cy="39052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A5691C"/>
            </a:solidFill>
            <a:prstDash val="solid"/>
            <a:tailEnd type="arrow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A249334-D5AA-4475-AA87-432BF244A2B0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781925" y="2457450"/>
            <a:ext cx="52387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A71CDB5-486C-44F5-9022-D256A7AB7622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991100" y="2457450"/>
            <a:ext cx="52387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DD56150-F332-4B38-8253-7190DDD769E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209800" y="2457450"/>
            <a:ext cx="5048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8" name="heading">
            <a:extLst>
              <a:ext uri="{FF2B5EF4-FFF2-40B4-BE49-F238E27FC236}">
                <a16:creationId xmlns:a16="http://schemas.microsoft.com/office/drawing/2014/main" id="{01BEA8A9-4C41-4ED6-878D-D208E2203DEC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双 INT8：一个 DSP 计算两行乘积</a:t>
            </a:r>
          </a:p>
        </p:txBody>
      </p:sp>
      <p:sp>
        <p:nvSpPr>
          <p:cNvPr id="2" name="text-11">
            <a:extLst>
              <a:ext uri="{FF2B5EF4-FFF2-40B4-BE49-F238E27FC236}">
                <a16:creationId xmlns:a16="http://schemas.microsoft.com/office/drawing/2014/main" id="{16A6D630-76EC-4508-8FF5-5A8F81F04859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两行激活共享同一个驻留权重 B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5BD883-BC92-4146-A256-D6BDD405BBB5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12">
            <a:extLst>
              <a:ext uri="{FF2B5EF4-FFF2-40B4-BE49-F238E27FC236}">
                <a16:creationId xmlns:a16="http://schemas.microsoft.com/office/drawing/2014/main" id="{1786E1B9-1DC9-4466-8F6A-020F8921DCF4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依据：dea8_pe_2row_v3.sv</a:t>
            </a:r>
          </a:p>
        </p:txBody>
      </p:sp>
      <p:sp>
        <p:nvSpPr>
          <p:cNvPr id="5" name="text-13">
            <a:extLst>
              <a:ext uri="{FF2B5EF4-FFF2-40B4-BE49-F238E27FC236}">
                <a16:creationId xmlns:a16="http://schemas.microsoft.com/office/drawing/2014/main" id="{20DEAFC3-E0E1-42FD-9D2F-29ADACAA8DF9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module-14">
            <a:extLst>
              <a:ext uri="{FF2B5EF4-FFF2-40B4-BE49-F238E27FC236}">
                <a16:creationId xmlns:a16="http://schemas.microsoft.com/office/drawing/2014/main" id="{2EA943DD-C5E2-484C-BA59-06D30640BE65}"/>
              </a:ext>
            </a:extLst>
          </p:cNvPr>
          <p:cNvSpPr>
            <a:spLocks noGrp="1"/>
          </p:cNvSpPr>
          <p:nvPr/>
        </p:nvSpPr>
        <p:spPr>
          <a:xfrm>
            <a:off x="533400" y="2009775"/>
            <a:ext cx="1676400" cy="895350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A0 / A1</a:t>
            </a:r>
          </a:p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两行 INT8</a:t>
            </a:r>
          </a:p>
        </p:txBody>
      </p:sp>
      <p:sp>
        <p:nvSpPr>
          <p:cNvPr id="7" name="module-15">
            <a:extLst>
              <a:ext uri="{FF2B5EF4-FFF2-40B4-BE49-F238E27FC236}">
                <a16:creationId xmlns:a16="http://schemas.microsoft.com/office/drawing/2014/main" id="{083EB006-5EFB-4967-BC6C-BA4634F97608}"/>
              </a:ext>
            </a:extLst>
          </p:cNvPr>
          <p:cNvSpPr>
            <a:spLocks noGrp="1"/>
          </p:cNvSpPr>
          <p:nvPr/>
        </p:nvSpPr>
        <p:spPr>
          <a:xfrm>
            <a:off x="2714625" y="2009775"/>
            <a:ext cx="2276475" cy="89535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打包 / 预加</a:t>
            </a:r>
          </a:p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(A0 &lt;&lt; 18) + A1</a:t>
            </a:r>
          </a:p>
        </p:txBody>
      </p:sp>
      <p:sp>
        <p:nvSpPr>
          <p:cNvPr id="8" name="module-16">
            <a:extLst>
              <a:ext uri="{FF2B5EF4-FFF2-40B4-BE49-F238E27FC236}">
                <a16:creationId xmlns:a16="http://schemas.microsoft.com/office/drawing/2014/main" id="{A09DE191-AE39-4F74-A70D-2E982D6481F3}"/>
              </a:ext>
            </a:extLst>
          </p:cNvPr>
          <p:cNvSpPr>
            <a:spLocks noGrp="1"/>
          </p:cNvSpPr>
          <p:nvPr/>
        </p:nvSpPr>
        <p:spPr>
          <a:xfrm>
            <a:off x="5514975" y="2009775"/>
            <a:ext cx="2266950" cy="89535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DSP48E2</a:t>
            </a:r>
          </a:p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Packed A × B</a:t>
            </a:r>
          </a:p>
        </p:txBody>
      </p:sp>
      <p:sp>
        <p:nvSpPr>
          <p:cNvPr id="9" name="module-17">
            <a:extLst>
              <a:ext uri="{FF2B5EF4-FFF2-40B4-BE49-F238E27FC236}">
                <a16:creationId xmlns:a16="http://schemas.microsoft.com/office/drawing/2014/main" id="{8D173795-7451-4DA5-974A-9DB24C67BB13}"/>
              </a:ext>
            </a:extLst>
          </p:cNvPr>
          <p:cNvSpPr>
            <a:spLocks noGrp="1"/>
          </p:cNvSpPr>
          <p:nvPr/>
        </p:nvSpPr>
        <p:spPr>
          <a:xfrm>
            <a:off x="8305800" y="2009775"/>
            <a:ext cx="3333750" cy="895350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解包 + 高位修正</a:t>
            </a:r>
          </a:p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两份 INT16 乘积</a:t>
            </a:r>
          </a:p>
        </p:txBody>
      </p:sp>
      <p:sp>
        <p:nvSpPr>
          <p:cNvPr id="13" name="module-18">
            <a:extLst>
              <a:ext uri="{FF2B5EF4-FFF2-40B4-BE49-F238E27FC236}">
                <a16:creationId xmlns:a16="http://schemas.microsoft.com/office/drawing/2014/main" id="{3DAFBC9A-BAED-4111-A26A-EA856C7D2CBC}"/>
              </a:ext>
            </a:extLst>
          </p:cNvPr>
          <p:cNvSpPr>
            <a:spLocks noGrp="1"/>
          </p:cNvSpPr>
          <p:nvPr/>
        </p:nvSpPr>
        <p:spPr>
          <a:xfrm>
            <a:off x="5676900" y="3295650"/>
            <a:ext cx="1905000" cy="676275"/>
          </a:xfrm>
          <a:prstGeom prst="rect">
            <a:avLst/>
          </a:prstGeom>
          <a:solidFill>
            <a:srgbClr val="FBF3E7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B 驻留 bank A/B</a:t>
            </a:r>
          </a:p>
        </p:txBody>
      </p:sp>
      <p:sp>
        <p:nvSpPr>
          <p:cNvPr id="15" name="text-19">
            <a:extLst>
              <a:ext uri="{FF2B5EF4-FFF2-40B4-BE49-F238E27FC236}">
                <a16:creationId xmlns:a16="http://schemas.microsoft.com/office/drawing/2014/main" id="{3902AF3D-7556-4980-9AB4-0A9A11D87EB7}"/>
              </a:ext>
            </a:extLst>
          </p:cNvPr>
          <p:cNvSpPr>
            <a:spLocks noGrp="1"/>
          </p:cNvSpPr>
          <p:nvPr/>
        </p:nvSpPr>
        <p:spPr>
          <a:xfrm>
            <a:off x="533400" y="4295775"/>
            <a:ext cx="111252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25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P = ((A0 &lt;&lt; 18) + A1) × B</a:t>
            </a:r>
          </a:p>
        </p:txBody>
      </p:sp>
      <p:sp>
        <p:nvSpPr>
          <p:cNvPr id="16" name="text-20">
            <a:extLst>
              <a:ext uri="{FF2B5EF4-FFF2-40B4-BE49-F238E27FC236}">
                <a16:creationId xmlns:a16="http://schemas.microsoft.com/office/drawing/2014/main" id="{FC5A130C-B759-4D94-862C-1F4ABFB0DBEB}"/>
              </a:ext>
            </a:extLst>
          </p:cNvPr>
          <p:cNvSpPr>
            <a:spLocks noGrp="1"/>
          </p:cNvSpPr>
          <p:nvPr/>
        </p:nvSpPr>
        <p:spPr>
          <a:xfrm>
            <a:off x="533400" y="4857750"/>
            <a:ext cx="111252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product1 = signed(P[17:0])</a:t>
            </a:r>
          </a:p>
          <a:p>
            <a:pPr algn="l">
              <a:defRPr sz="21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product0 = signed(P[35:18]) + P[17]</a:t>
            </a:r>
          </a:p>
        </p:txBody>
      </p:sp>
      <p:sp>
        <p:nvSpPr>
          <p:cNvPr id="17" name="text-21">
            <a:extLst>
              <a:ext uri="{FF2B5EF4-FFF2-40B4-BE49-F238E27FC236}">
                <a16:creationId xmlns:a16="http://schemas.microsoft.com/office/drawing/2014/main" id="{850B7328-AFB5-402C-AE71-0217EE7C6916}"/>
              </a:ext>
            </a:extLst>
          </p:cNvPr>
          <p:cNvSpPr>
            <a:spLocks noGrp="1"/>
          </p:cNvSpPr>
          <p:nvPr/>
        </p:nvSpPr>
        <p:spPr>
          <a:xfrm>
            <a:off x="533400" y="58388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256 个 PE 同拍产生 512 个乘积；scale 与 tag 保留在 PE 外</a:t>
            </a:r>
          </a:p>
        </p:txBody>
      </p:sp>
    </p:spTree>
    <p:extLst>
      <p:ext uri="{BB962C8B-B14F-4D97-AF65-F5344CB8AC3E}">
        <p14:creationId xmlns:p14="http://schemas.microsoft.com/office/powerpoint/2010/main" val="28408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CD5DCC47-84AA-4E4E-9109-316D49F7863D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>
            <a:off x="10029825" y="2643188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614DD83-D8B0-47F8-98C4-9F97F80AA42C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>
            <a:off x="8420100" y="2643188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F1B89AA-451D-46CE-A5DD-2DFD1404640D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6810375" y="2643188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05DA2D6-19EE-43DD-8D31-145B6BFBD157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5200650" y="2643188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7760764-1B5F-415D-9C78-A6994C3088F7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3590925" y="2643188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6A3F9D0-81E7-4980-9583-2B03EE86C271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981200" y="2643188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1" name="heading">
            <a:extLst>
              <a:ext uri="{FF2B5EF4-FFF2-40B4-BE49-F238E27FC236}">
                <a16:creationId xmlns:a16="http://schemas.microsoft.com/office/drawing/2014/main" id="{5F0A5564-F8AF-4730-85A9-8691E2D30240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双行 MXU：七级流水与 26 拍 Tile 发射</a:t>
            </a:r>
          </a:p>
        </p:txBody>
      </p:sp>
      <p:sp>
        <p:nvSpPr>
          <p:cNvPr id="2" name="text-23">
            <a:extLst>
              <a:ext uri="{FF2B5EF4-FFF2-40B4-BE49-F238E27FC236}">
                <a16:creationId xmlns:a16="http://schemas.microsoft.com/office/drawing/2014/main" id="{E3A340E2-F471-4ABA-B672-11730DBD0914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权重驻留双 bank，激活广播给 16 个输出列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1B25F4C-6EC8-4D76-B5ED-E3DE606BD575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24">
            <a:extLst>
              <a:ext uri="{FF2B5EF4-FFF2-40B4-BE49-F238E27FC236}">
                <a16:creationId xmlns:a16="http://schemas.microsoft.com/office/drawing/2014/main" id="{8F026EE2-054D-4EE9-A0F3-B482C36F8CB4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依据：dea8_mxu_2row_v3.sv，pcore3_pkg.sv</a:t>
            </a:r>
          </a:p>
        </p:txBody>
      </p:sp>
      <p:sp>
        <p:nvSpPr>
          <p:cNvPr id="5" name="text-25">
            <a:extLst>
              <a:ext uri="{FF2B5EF4-FFF2-40B4-BE49-F238E27FC236}">
                <a16:creationId xmlns:a16="http://schemas.microsoft.com/office/drawing/2014/main" id="{7D8C8ADF-B633-41EB-9473-9F4B39F33933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module-26">
            <a:extLst>
              <a:ext uri="{FF2B5EF4-FFF2-40B4-BE49-F238E27FC236}">
                <a16:creationId xmlns:a16="http://schemas.microsoft.com/office/drawing/2014/main" id="{5B530A3F-F0EF-4CE2-A4F7-71342A61589F}"/>
              </a:ext>
            </a:extLst>
          </p:cNvPr>
          <p:cNvSpPr>
            <a:spLocks noGrp="1"/>
          </p:cNvSpPr>
          <p:nvPr/>
        </p:nvSpPr>
        <p:spPr>
          <a:xfrm>
            <a:off x="533400" y="2085975"/>
            <a:ext cx="1447800" cy="11144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Q_ACT_REG</a:t>
            </a:r>
          </a:p>
        </p:txBody>
      </p:sp>
      <p:sp>
        <p:nvSpPr>
          <p:cNvPr id="7" name="module-27">
            <a:extLst>
              <a:ext uri="{FF2B5EF4-FFF2-40B4-BE49-F238E27FC236}">
                <a16:creationId xmlns:a16="http://schemas.microsoft.com/office/drawing/2014/main" id="{4EA5817F-8E08-46CA-9083-6CD604D37106}"/>
              </a:ext>
            </a:extLst>
          </p:cNvPr>
          <p:cNvSpPr>
            <a:spLocks noGrp="1"/>
          </p:cNvSpPr>
          <p:nvPr/>
        </p:nvSpPr>
        <p:spPr>
          <a:xfrm>
            <a:off x="2143125" y="2085975"/>
            <a:ext cx="1447800" cy="11144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DSP 乘法</a:t>
            </a:r>
          </a:p>
        </p:txBody>
      </p:sp>
      <p:sp>
        <p:nvSpPr>
          <p:cNvPr id="9" name="module-28">
            <a:extLst>
              <a:ext uri="{FF2B5EF4-FFF2-40B4-BE49-F238E27FC236}">
                <a16:creationId xmlns:a16="http://schemas.microsoft.com/office/drawing/2014/main" id="{B095D2D7-284E-449D-87AC-F49A22D9FA90}"/>
              </a:ext>
            </a:extLst>
          </p:cNvPr>
          <p:cNvSpPr>
            <a:spLocks noGrp="1"/>
          </p:cNvSpPr>
          <p:nvPr/>
        </p:nvSpPr>
        <p:spPr>
          <a:xfrm>
            <a:off x="3752850" y="2085975"/>
            <a:ext cx="1447800" cy="11144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解包修正</a:t>
            </a:r>
          </a:p>
        </p:txBody>
      </p:sp>
      <p:sp>
        <p:nvSpPr>
          <p:cNvPr id="11" name="module-29">
            <a:extLst>
              <a:ext uri="{FF2B5EF4-FFF2-40B4-BE49-F238E27FC236}">
                <a16:creationId xmlns:a16="http://schemas.microsoft.com/office/drawing/2014/main" id="{488E25E0-620A-4FB6-85F9-AFCE50D98C64}"/>
              </a:ext>
            </a:extLst>
          </p:cNvPr>
          <p:cNvSpPr>
            <a:spLocks noGrp="1"/>
          </p:cNvSpPr>
          <p:nvPr/>
        </p:nvSpPr>
        <p:spPr>
          <a:xfrm>
            <a:off x="5362575" y="2085975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dirty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16 → 8</a:t>
            </a:r>
          </a:p>
        </p:txBody>
      </p:sp>
      <p:sp>
        <p:nvSpPr>
          <p:cNvPr id="13" name="module-30">
            <a:extLst>
              <a:ext uri="{FF2B5EF4-FFF2-40B4-BE49-F238E27FC236}">
                <a16:creationId xmlns:a16="http://schemas.microsoft.com/office/drawing/2014/main" id="{32A0E54B-2258-432D-A5BE-4968561987F3}"/>
              </a:ext>
            </a:extLst>
          </p:cNvPr>
          <p:cNvSpPr>
            <a:spLocks noGrp="1"/>
          </p:cNvSpPr>
          <p:nvPr/>
        </p:nvSpPr>
        <p:spPr>
          <a:xfrm>
            <a:off x="6972300" y="2085975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8 → 4</a:t>
            </a:r>
          </a:p>
        </p:txBody>
      </p:sp>
      <p:sp>
        <p:nvSpPr>
          <p:cNvPr id="15" name="module-31">
            <a:extLst>
              <a:ext uri="{FF2B5EF4-FFF2-40B4-BE49-F238E27FC236}">
                <a16:creationId xmlns:a16="http://schemas.microsoft.com/office/drawing/2014/main" id="{A187E4E7-7496-4277-8662-94763F153D5D}"/>
              </a:ext>
            </a:extLst>
          </p:cNvPr>
          <p:cNvSpPr>
            <a:spLocks noGrp="1"/>
          </p:cNvSpPr>
          <p:nvPr/>
        </p:nvSpPr>
        <p:spPr>
          <a:xfrm>
            <a:off x="8582025" y="2085975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4 → 2</a:t>
            </a:r>
          </a:p>
        </p:txBody>
      </p:sp>
      <p:sp>
        <p:nvSpPr>
          <p:cNvPr id="17" name="module-32">
            <a:extLst>
              <a:ext uri="{FF2B5EF4-FFF2-40B4-BE49-F238E27FC236}">
                <a16:creationId xmlns:a16="http://schemas.microsoft.com/office/drawing/2014/main" id="{734BC86C-0CA4-4082-BCB0-1D26B0E5EC2B}"/>
              </a:ext>
            </a:extLst>
          </p:cNvPr>
          <p:cNvSpPr>
            <a:spLocks noGrp="1"/>
          </p:cNvSpPr>
          <p:nvPr/>
        </p:nvSpPr>
        <p:spPr>
          <a:xfrm>
            <a:off x="10191750" y="2085975"/>
            <a:ext cx="1447800" cy="11144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2 → 1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Psum REG</a:t>
            </a:r>
          </a:p>
        </p:txBody>
      </p:sp>
      <p:sp>
        <p:nvSpPr>
          <p:cNvPr id="19" name="text-33">
            <a:extLst>
              <a:ext uri="{FF2B5EF4-FFF2-40B4-BE49-F238E27FC236}">
                <a16:creationId xmlns:a16="http://schemas.microsoft.com/office/drawing/2014/main" id="{B2B2A47D-463A-4A69-B7DC-D5ED7C3D639E}"/>
              </a:ext>
            </a:extLst>
          </p:cNvPr>
          <p:cNvSpPr>
            <a:spLocks noGrp="1"/>
          </p:cNvSpPr>
          <p:nvPr/>
        </p:nvSpPr>
        <p:spPr>
          <a:xfrm>
            <a:off x="660990" y="3471861"/>
            <a:ext cx="111252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E_stream</a:t>
            </a:r>
            <a:r>
              <a:rPr sz="1875" b="1" dirty="0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875" b="1" dirty="0" err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E_stat</a:t>
            </a:r>
            <a:r>
              <a:rPr sz="1875" b="1" dirty="0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 / tag </a:t>
            </a:r>
            <a:r>
              <a:rPr sz="1875" b="1" dirty="0" err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与计算事务逐级对齐，scale</a:t>
            </a:r>
            <a:r>
              <a:rPr sz="1875" b="1" dirty="0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75" b="1" dirty="0" err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不进入</a:t>
            </a:r>
            <a:r>
              <a:rPr sz="1875" b="1" dirty="0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 PE</a:t>
            </a: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CE9C8F14-AA08-47E1-9180-04FEF465782C}"/>
              </a:ext>
            </a:extLst>
          </p:cNvPr>
          <p:cNvGraphicFramePr/>
          <p:nvPr/>
        </p:nvGraphicFramePr>
        <p:xfrm>
          <a:off x="533400" y="4219575"/>
          <a:ext cx="11125200" cy="17049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624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旧单行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当前双行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24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每拍激活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行 × 16INT8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行 × 16INT8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24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 行发射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 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 拍，最后奇数行无效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24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结果宽度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× INT32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× INT32 = 1024bit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227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id="{A3F962FE-901D-44F4-9245-877F23B75E69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DEQACC：D0–D10 的 11 拍流水</a:t>
            </a:r>
          </a:p>
        </p:txBody>
      </p:sp>
      <p:sp>
        <p:nvSpPr>
          <p:cNvPr id="2" name="text-35">
            <a:extLst>
              <a:ext uri="{FF2B5EF4-FFF2-40B4-BE49-F238E27FC236}">
                <a16:creationId xmlns:a16="http://schemas.microsoft.com/office/drawing/2014/main" id="{09F08DF6-E40D-414A-B329-B1C4AC839DC0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反量化、同步 ACC 读取和 FP32 加法拆到明确的寄存器边界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E0C5DE3-481F-4B22-AA6D-DC86BCB8E7B2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36">
            <a:extLst>
              <a:ext uri="{FF2B5EF4-FFF2-40B4-BE49-F238E27FC236}">
                <a16:creationId xmlns:a16="http://schemas.microsoft.com/office/drawing/2014/main" id="{077B9101-DCAF-42CB-9F08-FA34871E96D0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依据：DEQACC_3.3ns.sv，DEQACC_3.3ns_lane.sv</a:t>
            </a:r>
          </a:p>
        </p:txBody>
      </p:sp>
      <p:sp>
        <p:nvSpPr>
          <p:cNvPr id="5" name="text-37">
            <a:extLst>
              <a:ext uri="{FF2B5EF4-FFF2-40B4-BE49-F238E27FC236}">
                <a16:creationId xmlns:a16="http://schemas.microsoft.com/office/drawing/2014/main" id="{6E1DDA48-6604-4522-94DD-D12CB62CA089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ADF35B6-9B19-498E-8365-A00111888CC9}"/>
              </a:ext>
            </a:extLst>
          </p:cNvPr>
          <p:cNvGraphicFramePr/>
          <p:nvPr/>
        </p:nvGraphicFramePr>
        <p:xfrm>
          <a:off x="533400" y="1809750"/>
          <a:ext cx="11125200" cy="3924298"/>
        </p:xfrm>
        <a:graphic>
          <a:graphicData uri="http://schemas.openxmlformats.org/drawingml/2006/table">
            <a:tbl>
              <a:tblPr/>
              <a:tblGrid>
                <a:gridCol w="1381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614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主要操作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对应数据/接口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614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符号、绝对值、前导位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INT32 Psum + 两侧指数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614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尾数规格化、指数计算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形成浮点打包输入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614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D2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舍入准备，发起</a:t>
                      </a:r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ACC </a:t>
                      </a:r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</a:t>
                      </a:r>
                      <a:endParaRPr sz="1688" b="0" dirty="0">
                        <a:solidFill>
                          <a:srgbClr val="202A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sel / addr / add_old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614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</a:t>
                      </a:r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打包，接收同步</a:t>
                      </a:r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RAM </a:t>
                      </a:r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</a:t>
                      </a:r>
                      <a:endParaRPr sz="1688" b="0" dirty="0">
                        <a:solidFill>
                          <a:srgbClr val="202A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partial / old_value 对齐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614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D4–D9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排序、对阶、加减、控制、规格化、打包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六拍 FP32 加法流水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614">
                <a:tc>
                  <a:txBody>
                    <a:bodyPr/>
                    <a:lstStyle/>
                    <a:p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 写回，输出 commit /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结果、row_valid</a:t>
                      </a:r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与 meta </a:t>
                      </a:r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</a:t>
                      </a:r>
                      <a:endParaRPr sz="1688" b="0" dirty="0">
                        <a:solidFill>
                          <a:srgbClr val="202A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-38">
            <a:extLst>
              <a:ext uri="{FF2B5EF4-FFF2-40B4-BE49-F238E27FC236}">
                <a16:creationId xmlns:a16="http://schemas.microsoft.com/office/drawing/2014/main" id="{F9F03D49-A07A-46F0-BACC-346A68F854EE}"/>
              </a:ext>
            </a:extLst>
          </p:cNvPr>
          <p:cNvSpPr>
            <a:spLocks noGrp="1"/>
          </p:cNvSpPr>
          <p:nvPr/>
        </p:nvSpPr>
        <p:spPr>
          <a:xfrm>
            <a:off x="533400" y="58388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32 lane 并行；固定延迟 11 拍；持续输入启动间隔 II=1</a:t>
            </a:r>
          </a:p>
        </p:txBody>
      </p:sp>
    </p:spTree>
    <p:extLst>
      <p:ext uri="{BB962C8B-B14F-4D97-AF65-F5344CB8AC3E}">
        <p14:creationId xmlns:p14="http://schemas.microsoft.com/office/powerpoint/2010/main" val="1556081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056CCABB-10DB-49D7-BE77-CD6A9A7DC9B0}"/>
              </a:ext>
            </a:extLst>
          </p:cNvPr>
          <p:cNvCxnSpPr>
            <a:stCxn id="10" idx="2"/>
            <a:endCxn id="9" idx="2"/>
          </p:cNvCxnSpPr>
          <p:nvPr/>
        </p:nvCxnSpPr>
        <p:spPr>
          <a:xfrm flipH="1">
            <a:off x="7620000" y="3829050"/>
            <a:ext cx="2924175" cy="228600"/>
          </a:xfrm>
          <a:prstGeom prst="bentConnector4">
            <a:avLst/>
          </a:prstGeom>
          <a:ln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BBF5CDF-5326-4AA9-B6BE-74715998736F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743950" y="3290888"/>
            <a:ext cx="70485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654D49C-A9A2-42F1-95B0-D913FB9A42B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791200" y="3290888"/>
            <a:ext cx="70485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6FE8A3A-9B4D-49AF-A01E-94CCA4A7CD8D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828925" y="3290888"/>
            <a:ext cx="62865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8" name="heading">
            <a:extLst>
              <a:ext uri="{FF2B5EF4-FFF2-40B4-BE49-F238E27FC236}">
                <a16:creationId xmlns:a16="http://schemas.microsoft.com/office/drawing/2014/main" id="{3784BA36-2C87-42A2-AA14-164EDF222191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DEQACC：scale 与累加存储的关系</a:t>
            </a:r>
          </a:p>
        </p:txBody>
      </p:sp>
      <p:sp>
        <p:nvSpPr>
          <p:cNvPr id="2" name="text-40">
            <a:extLst>
              <a:ext uri="{FF2B5EF4-FFF2-40B4-BE49-F238E27FC236}">
                <a16:creationId xmlns:a16="http://schemas.microsoft.com/office/drawing/2014/main" id="{CF0088E2-82CF-4008-9851-BB87F725523E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每个 K Tile 先反量化，再累加到 FACC 或 OACC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A9BC6CC-2164-4DE5-8398-721FAF8FD715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41">
            <a:extLst>
              <a:ext uri="{FF2B5EF4-FFF2-40B4-BE49-F238E27FC236}">
                <a16:creationId xmlns:a16="http://schemas.microsoft.com/office/drawing/2014/main" id="{F4F411C5-C853-43B8-8DFA-6DC2302D34D8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依据：DEQACC_3.3ns.sv，pcore3_pkg.sv</a:t>
            </a:r>
          </a:p>
        </p:txBody>
      </p:sp>
      <p:sp>
        <p:nvSpPr>
          <p:cNvPr id="5" name="text-42">
            <a:extLst>
              <a:ext uri="{FF2B5EF4-FFF2-40B4-BE49-F238E27FC236}">
                <a16:creationId xmlns:a16="http://schemas.microsoft.com/office/drawing/2014/main" id="{81D84CB6-4D68-4A0B-BD18-79C6C5FDDDD5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43">
            <a:extLst>
              <a:ext uri="{FF2B5EF4-FFF2-40B4-BE49-F238E27FC236}">
                <a16:creationId xmlns:a16="http://schemas.microsoft.com/office/drawing/2014/main" id="{45AB025B-EC5D-41D0-8D8F-4F8F58F6D199}"/>
              </a:ext>
            </a:extLst>
          </p:cNvPr>
          <p:cNvSpPr>
            <a:spLocks noGrp="1"/>
          </p:cNvSpPr>
          <p:nvPr/>
        </p:nvSpPr>
        <p:spPr>
          <a:xfrm>
            <a:off x="533400" y="18288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partial_FP32 = Psum × 2^(E_stream + E_stat − 266 + exp_fold)</a:t>
            </a:r>
          </a:p>
        </p:txBody>
      </p:sp>
      <p:sp>
        <p:nvSpPr>
          <p:cNvPr id="7" name="module-44">
            <a:extLst>
              <a:ext uri="{FF2B5EF4-FFF2-40B4-BE49-F238E27FC236}">
                <a16:creationId xmlns:a16="http://schemas.microsoft.com/office/drawing/2014/main" id="{8A06BA2B-BDEC-4A42-8FA1-2BC6240E6DFE}"/>
              </a:ext>
            </a:extLst>
          </p:cNvPr>
          <p:cNvSpPr>
            <a:spLocks noGrp="1"/>
          </p:cNvSpPr>
          <p:nvPr/>
        </p:nvSpPr>
        <p:spPr>
          <a:xfrm>
            <a:off x="533400" y="2752725"/>
            <a:ext cx="2295525" cy="10763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Psum + scale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+ meta</a:t>
            </a:r>
          </a:p>
        </p:txBody>
      </p:sp>
      <p:sp>
        <p:nvSpPr>
          <p:cNvPr id="8" name="module-45">
            <a:extLst>
              <a:ext uri="{FF2B5EF4-FFF2-40B4-BE49-F238E27FC236}">
                <a16:creationId xmlns:a16="http://schemas.microsoft.com/office/drawing/2014/main" id="{5B66E87E-7B13-4CA9-AFF2-32D4CDD9E23B}"/>
              </a:ext>
            </a:extLst>
          </p:cNvPr>
          <p:cNvSpPr>
            <a:spLocks noGrp="1"/>
          </p:cNvSpPr>
          <p:nvPr/>
        </p:nvSpPr>
        <p:spPr>
          <a:xfrm>
            <a:off x="3457575" y="2752725"/>
            <a:ext cx="2333625" cy="107632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反量化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INT32 → FP32</a:t>
            </a:r>
          </a:p>
        </p:txBody>
      </p:sp>
      <p:sp>
        <p:nvSpPr>
          <p:cNvPr id="9" name="module-46">
            <a:extLst>
              <a:ext uri="{FF2B5EF4-FFF2-40B4-BE49-F238E27FC236}">
                <a16:creationId xmlns:a16="http://schemas.microsoft.com/office/drawing/2014/main" id="{081188D2-381E-4F82-9CD4-75772EF8A6D1}"/>
              </a:ext>
            </a:extLst>
          </p:cNvPr>
          <p:cNvSpPr>
            <a:spLocks noGrp="1"/>
          </p:cNvSpPr>
          <p:nvPr/>
        </p:nvSpPr>
        <p:spPr>
          <a:xfrm>
            <a:off x="6496050" y="2752725"/>
            <a:ext cx="2247900" cy="10763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FP32 加法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partial + old</a:t>
            </a:r>
          </a:p>
        </p:txBody>
      </p:sp>
      <p:sp>
        <p:nvSpPr>
          <p:cNvPr id="10" name="module-47">
            <a:extLst>
              <a:ext uri="{FF2B5EF4-FFF2-40B4-BE49-F238E27FC236}">
                <a16:creationId xmlns:a16="http://schemas.microsoft.com/office/drawing/2014/main" id="{67F0D5CA-4FF3-4B9E-9E18-87475DA6E7DE}"/>
              </a:ext>
            </a:extLst>
          </p:cNvPr>
          <p:cNvSpPr>
            <a:spLocks noGrp="1"/>
          </p:cNvSpPr>
          <p:nvPr/>
        </p:nvSpPr>
        <p:spPr>
          <a:xfrm>
            <a:off x="9448800" y="2752725"/>
            <a:ext cx="2190750" cy="107632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FACC A/B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或 OACC</a:t>
            </a:r>
          </a:p>
        </p:txBody>
      </p:sp>
      <p:sp>
        <p:nvSpPr>
          <p:cNvPr id="15" name="text-48">
            <a:extLst>
              <a:ext uri="{FF2B5EF4-FFF2-40B4-BE49-F238E27FC236}">
                <a16:creationId xmlns:a16="http://schemas.microsoft.com/office/drawing/2014/main" id="{669E119A-A9BB-4D13-AAFE-1C066EF07677}"/>
              </a:ext>
            </a:extLst>
          </p:cNvPr>
          <p:cNvSpPr>
            <a:spLocks noGrp="1"/>
          </p:cNvSpPr>
          <p:nvPr/>
        </p:nvSpPr>
        <p:spPr>
          <a:xfrm>
            <a:off x="6029325" y="4257675"/>
            <a:ext cx="56102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旧值读取由 acc_sel / addr / add_old 决定</a:t>
            </a:r>
          </a:p>
        </p:txBody>
      </p:sp>
      <p:sp>
        <p:nvSpPr>
          <p:cNvPr id="16" name="text-49">
            <a:extLst>
              <a:ext uri="{FF2B5EF4-FFF2-40B4-BE49-F238E27FC236}">
                <a16:creationId xmlns:a16="http://schemas.microsoft.com/office/drawing/2014/main" id="{3F3C68EB-9AFB-4C31-8BE4-C164445BC7AE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111252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FACC：每 bank 51×16 FP32，归约 K Tile 的结果</a:t>
            </a:r>
          </a:p>
          <a:p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OACC：51×256 FP32，保存 Attention 输出累计</a:t>
            </a:r>
          </a:p>
        </p:txBody>
      </p:sp>
      <p:sp>
        <p:nvSpPr>
          <p:cNvPr id="17" name="text-50">
            <a:extLst>
              <a:ext uri="{FF2B5EF4-FFF2-40B4-BE49-F238E27FC236}">
                <a16:creationId xmlns:a16="http://schemas.microsoft.com/office/drawing/2014/main" id="{5DE0D26D-A872-4727-A16C-332EBCC03F92}"/>
              </a:ext>
            </a:extLst>
          </p:cNvPr>
          <p:cNvSpPr>
            <a:spLocks noGrp="1"/>
          </p:cNvSpPr>
          <p:nvPr/>
        </p:nvSpPr>
        <p:spPr>
          <a:xfrm>
            <a:off x="533400" y="5848350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首个 K Tile 用 add_old=0 覆盖；ZERO 只是一种控制选择</a:t>
            </a:r>
          </a:p>
        </p:txBody>
      </p:sp>
    </p:spTree>
    <p:extLst>
      <p:ext uri="{BB962C8B-B14F-4D97-AF65-F5344CB8AC3E}">
        <p14:creationId xmlns:p14="http://schemas.microsoft.com/office/powerpoint/2010/main" val="106059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:a16="http://schemas.microsoft.com/office/drawing/2014/main" id="{FD3E93E8-B922-4895-AB4B-A1AB58E04AFD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DEQACC：仿真与物理实现证据</a:t>
            </a:r>
          </a:p>
        </p:txBody>
      </p:sp>
      <p:sp>
        <p:nvSpPr>
          <p:cNvPr id="2" name="text-52">
            <a:extLst>
              <a:ext uri="{FF2B5EF4-FFF2-40B4-BE49-F238E27FC236}">
                <a16:creationId xmlns:a16="http://schemas.microsoft.com/office/drawing/2014/main" id="{58FAE397-E9A6-4CA4-A6E3-466C5264F31B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已取得模块级连续流验证和 U50 综合 / 布局布线报告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CD5A466B-0AF8-4835-B308-DB01E9791681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53">
            <a:extLst>
              <a:ext uri="{FF2B5EF4-FFF2-40B4-BE49-F238E27FC236}">
                <a16:creationId xmlns:a16="http://schemas.microsoft.com/office/drawing/2014/main" id="{AA187209-2EAA-43F1-B178-6FB3BD3AB5F9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依据：tb_deqacc32_v5_stream.txt，refined_250MHz_timing.rpt，final_utilization.rpt</a:t>
            </a:r>
          </a:p>
        </p:txBody>
      </p:sp>
      <p:sp>
        <p:nvSpPr>
          <p:cNvPr id="5" name="text-54">
            <a:extLst>
              <a:ext uri="{FF2B5EF4-FFF2-40B4-BE49-F238E27FC236}">
                <a16:creationId xmlns:a16="http://schemas.microsoft.com/office/drawing/2014/main" id="{F29E606B-689D-4028-AF98-C6AE98CD53E8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B6361C4-4973-42AE-965E-B31687DB8D29}"/>
              </a:ext>
            </a:extLst>
          </p:cNvPr>
          <p:cNvGraphicFramePr/>
          <p:nvPr/>
        </p:nvGraphicFramePr>
        <p:xfrm>
          <a:off x="533400" y="1809750"/>
          <a:ext cx="11125200" cy="1590675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仿真对象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已完成验证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lane 连续流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5,000 事务，latency=11，II=1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2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加法 lane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1,000,016 事务，latency=6，II=1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01B5903-DB75-46A5-8A98-61AE0AA154BB}"/>
              </a:ext>
            </a:extLst>
          </p:cNvPr>
          <p:cNvGraphicFramePr/>
          <p:nvPr/>
        </p:nvGraphicFramePr>
        <p:xfrm>
          <a:off x="533400" y="3667125"/>
          <a:ext cx="11125200" cy="194310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冻结模块报告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 ns 约束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WNS +0.700 </a:t>
                      </a:r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ns，WHS</a:t>
                      </a:r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+0.019 </a:t>
                      </a:r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ns，TNS</a:t>
                      </a:r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=0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 ns 约束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WNS 0.000 </a:t>
                      </a:r>
                      <a:r>
                        <a:rPr sz="1688" b="0" dirty="0" err="1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ns，接近时序边界</a:t>
                      </a:r>
                      <a:endParaRPr sz="1688" b="0" dirty="0">
                        <a:solidFill>
                          <a:srgbClr val="202A3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core 层资源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 dirty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33,534 LUT，20,552 FF，14 RAMB36 + 2 RAMB18，0 DSP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55">
            <a:extLst>
              <a:ext uri="{FF2B5EF4-FFF2-40B4-BE49-F238E27FC236}">
                <a16:creationId xmlns:a16="http://schemas.microsoft.com/office/drawing/2014/main" id="{5C41CF4F-6243-4040-9C47-4AF314B6F922}"/>
              </a:ext>
            </a:extLst>
          </p:cNvPr>
          <p:cNvSpPr>
            <a:spLocks noGrp="1"/>
          </p:cNvSpPr>
          <p:nvPr/>
        </p:nvSpPr>
        <p:spPr>
          <a:xfrm>
            <a:off x="533400" y="5753100"/>
            <a:ext cx="11125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物理报告：2026-09-30，DEQACC 冻结模块。外部 I/O 与整核时序需后续集成确认。</a:t>
            </a:r>
          </a:p>
        </p:txBody>
      </p:sp>
    </p:spTree>
    <p:extLst>
      <p:ext uri="{BB962C8B-B14F-4D97-AF65-F5344CB8AC3E}">
        <p14:creationId xmlns:p14="http://schemas.microsoft.com/office/powerpoint/2010/main" val="6644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ing">
            <a:extLst>
              <a:ext uri="{FF2B5EF4-FFF2-40B4-BE49-F238E27FC236}">
                <a16:creationId xmlns:a16="http://schemas.microsoft.com/office/drawing/2014/main" id="{6FDCEA74-F191-45B2-96BC-77C045AD6B9F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Projection：Tile 归约与权重双缓冲</a:t>
            </a:r>
          </a:p>
        </p:txBody>
      </p:sp>
      <p:sp>
        <p:nvSpPr>
          <p:cNvPr id="2" name="text-64">
            <a:extLst>
              <a:ext uri="{FF2B5EF4-FFF2-40B4-BE49-F238E27FC236}">
                <a16:creationId xmlns:a16="http://schemas.microsoft.com/office/drawing/2014/main" id="{B501BD4D-6A40-46BE-A792-A769F133C5D7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以 Q Projection 的 [51,1024] × [1024,256] 为例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DDC2E1D-4971-479E-8661-EDF753554C6D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65">
            <a:extLst>
              <a:ext uri="{FF2B5EF4-FFF2-40B4-BE49-F238E27FC236}">
                <a16:creationId xmlns:a16="http://schemas.microsoft.com/office/drawing/2014/main" id="{9E9E6F79-BE91-4DAC-BF8C-A6F69CFD7952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依据：tb_v3_projection.txt，dea8_projection_v3.sv</a:t>
            </a:r>
          </a:p>
        </p:txBody>
      </p:sp>
      <p:sp>
        <p:nvSpPr>
          <p:cNvPr id="5" name="text-66">
            <a:extLst>
              <a:ext uri="{FF2B5EF4-FFF2-40B4-BE49-F238E27FC236}">
                <a16:creationId xmlns:a16="http://schemas.microsoft.com/office/drawing/2014/main" id="{5650580E-C4F6-4FC9-8146-90C78B38F51D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ext-67">
            <a:extLst>
              <a:ext uri="{FF2B5EF4-FFF2-40B4-BE49-F238E27FC236}">
                <a16:creationId xmlns:a16="http://schemas.microsoft.com/office/drawing/2014/main" id="{FD1005AA-DFE1-4C9E-A0A3-6462DDC0D649}"/>
              </a:ext>
            </a:extLst>
          </p:cNvPr>
          <p:cNvSpPr>
            <a:spLocks noGrp="1"/>
          </p:cNvSpPr>
          <p:nvPr/>
        </p:nvSpPr>
        <p:spPr>
          <a:xfrm>
            <a:off x="533400" y="1876425"/>
            <a:ext cx="111252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64 个 K Tile × 16 个 N Tile × 26 拍 = 26,624 次矩阵发射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B9A1BF6-8B60-4F40-B82C-48B453A7545B}"/>
              </a:ext>
            </a:extLst>
          </p:cNvPr>
          <p:cNvGraphicFramePr/>
          <p:nvPr/>
        </p:nvGraphicFramePr>
        <p:xfrm>
          <a:off x="533400" y="2647950"/>
          <a:ext cx="11125200" cy="2124076"/>
        </p:xfrm>
        <a:graphic>
          <a:graphicData uri="http://schemas.openxmlformats.org/drawingml/2006/table">
            <a:tbl>
              <a:tblPr/>
              <a:tblGrid>
                <a:gridCol w="227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1019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时间窗口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active W bank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inactive W bank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ACC 操作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 Tile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两行 A 连续计算 26 拍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加载下个 Tile，16 拍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K 累加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下个 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切换 bank 后计算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加载再下个 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保持同一输出 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019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 Tile 完成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继续推进下个 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准备新权重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FACC 结果进入后处理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68">
            <a:extLst>
              <a:ext uri="{FF2B5EF4-FFF2-40B4-BE49-F238E27FC236}">
                <a16:creationId xmlns:a16="http://schemas.microsoft.com/office/drawing/2014/main" id="{13A8FB9E-9B05-47A3-82E6-FA638CE3AD18}"/>
              </a:ext>
            </a:extLst>
          </p:cNvPr>
          <p:cNvSpPr>
            <a:spLocks noGrp="1"/>
          </p:cNvSpPr>
          <p:nvPr/>
        </p:nvSpPr>
        <p:spPr>
          <a:xfrm>
            <a:off x="533400" y="5076825"/>
            <a:ext cx="1112520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 / K / V：XBC 供 A；O / Down：QOZ 供 A</a:t>
            </a:r>
          </a:p>
          <a:p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五种 Projection 共享输入、矩阵、反量化和输出控制</a:t>
            </a:r>
          </a:p>
        </p:txBody>
      </p:sp>
      <p:sp>
        <p:nvSpPr>
          <p:cNvPr id="9" name="text-69">
            <a:extLst>
              <a:ext uri="{FF2B5EF4-FFF2-40B4-BE49-F238E27FC236}">
                <a16:creationId xmlns:a16="http://schemas.microsoft.com/office/drawing/2014/main" id="{3CB373A5-A9C5-4A52-BAE5-1210DA2FE6CE}"/>
              </a:ext>
            </a:extLst>
          </p:cNvPr>
          <p:cNvSpPr>
            <a:spLocks noGrp="1"/>
          </p:cNvSpPr>
          <p:nvPr/>
        </p:nvSpPr>
        <p:spPr>
          <a:xfrm>
            <a:off x="533400" y="58388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独立 Q 矩阵验证：16 个输出 Tile，26,624 issues，mismatches=0</a:t>
            </a:r>
          </a:p>
        </p:txBody>
      </p:sp>
    </p:spTree>
    <p:extLst>
      <p:ext uri="{BB962C8B-B14F-4D97-AF65-F5344CB8AC3E}">
        <p14:creationId xmlns:p14="http://schemas.microsoft.com/office/powerpoint/2010/main" val="192031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13ECD7F7-04DC-46F8-B882-01758DD9280B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>
            <a:off x="10172700" y="410051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103B3490-A539-4C9C-B4F8-B97AC1678B32}"/>
              </a:ext>
            </a:extLst>
          </p:cNvPr>
          <p:cNvCxnSpPr>
            <a:stCxn id="16" idx="3"/>
            <a:endCxn id="18" idx="1"/>
          </p:cNvCxnSpPr>
          <p:nvPr/>
        </p:nvCxnSpPr>
        <p:spPr>
          <a:xfrm>
            <a:off x="8772525" y="410051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888AFA4-C497-4856-AC0D-3D64522CCF41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7372350" y="410051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01DD388-EA41-4746-90BD-0D2A9E10ACCA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>
            <a:off x="5972175" y="410051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C2C4D4B-AAFD-4B0D-BBF9-C7721831D277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>
            <a:off x="4572000" y="410051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717470F-D222-43E6-95F0-9AF206394AC1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3171825" y="410051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299F36C-E9F8-4F65-AD5A-A5ABFD3F60E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771650" y="4100513"/>
            <a:ext cx="1619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5" name="heading">
            <a:extLst>
              <a:ext uri="{FF2B5EF4-FFF2-40B4-BE49-F238E27FC236}">
                <a16:creationId xmlns:a16="http://schemas.microsoft.com/office/drawing/2014/main" id="{555D8126-B0C2-4309-8961-5A00E7775B32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Attention：110 个矩阵子任务与事件调度</a:t>
            </a:r>
          </a:p>
        </p:txBody>
      </p:sp>
      <p:sp>
        <p:nvSpPr>
          <p:cNvPr id="2" name="text-71">
            <a:extLst>
              <a:ext uri="{FF2B5EF4-FFF2-40B4-BE49-F238E27FC236}">
                <a16:creationId xmlns:a16="http://schemas.microsoft.com/office/drawing/2014/main" id="{98AC7265-AB47-4D2F-A2BE-7B05B341E97F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QK / PV 各 55 次，稳态阶段为非矩阵处理保留重叠窗口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4666D05-CBD1-4225-A728-C93216A41C38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72">
            <a:extLst>
              <a:ext uri="{FF2B5EF4-FFF2-40B4-BE49-F238E27FC236}">
                <a16:creationId xmlns:a16="http://schemas.microsoft.com/office/drawing/2014/main" id="{6AD80FFB-7013-48D2-99AB-AC5E58AC8153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依据：dea8_attention_scheduler_v3.sv，tb_v3_attention_55.txt</a:t>
            </a:r>
          </a:p>
        </p:txBody>
      </p:sp>
      <p:sp>
        <p:nvSpPr>
          <p:cNvPr id="5" name="text-73">
            <a:extLst>
              <a:ext uri="{FF2B5EF4-FFF2-40B4-BE49-F238E27FC236}">
                <a16:creationId xmlns:a16="http://schemas.microsoft.com/office/drawing/2014/main" id="{83BF09A5-212F-4CA2-9F77-0BEA72D4A133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BB900EF-E458-43B1-87A1-B6C2238D1224}"/>
              </a:ext>
            </a:extLst>
          </p:cNvPr>
          <p:cNvGraphicFramePr/>
          <p:nvPr/>
        </p:nvGraphicFramePr>
        <p:xfrm>
          <a:off x="533400" y="1809750"/>
          <a:ext cx="11125200" cy="15621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矩阵任务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尺寸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Tile / 发射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QK(b)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[51,256] × [256,16]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切 16 Tile，416 issues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PV(b)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[51,16] × [16,256]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切 16 Tile，416 issues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module-74">
            <a:extLst>
              <a:ext uri="{FF2B5EF4-FFF2-40B4-BE49-F238E27FC236}">
                <a16:creationId xmlns:a16="http://schemas.microsoft.com/office/drawing/2014/main" id="{C388DA4B-B1B3-4606-BB47-A9A7BAF8CB5D}"/>
              </a:ext>
            </a:extLst>
          </p:cNvPr>
          <p:cNvSpPr>
            <a:spLocks noGrp="1"/>
          </p:cNvSpPr>
          <p:nvPr/>
        </p:nvSpPr>
        <p:spPr>
          <a:xfrm>
            <a:off x="533400" y="3781425"/>
            <a:ext cx="1238250" cy="6381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QK0</a:t>
            </a:r>
          </a:p>
        </p:txBody>
      </p:sp>
      <p:sp>
        <p:nvSpPr>
          <p:cNvPr id="8" name="module-75">
            <a:extLst>
              <a:ext uri="{FF2B5EF4-FFF2-40B4-BE49-F238E27FC236}">
                <a16:creationId xmlns:a16="http://schemas.microsoft.com/office/drawing/2014/main" id="{C753DEC0-2970-4560-83E1-CBEFF55D9687}"/>
              </a:ext>
            </a:extLst>
          </p:cNvPr>
          <p:cNvSpPr>
            <a:spLocks noGrp="1"/>
          </p:cNvSpPr>
          <p:nvPr/>
        </p:nvSpPr>
        <p:spPr>
          <a:xfrm>
            <a:off x="1933575" y="3781425"/>
            <a:ext cx="1238250" cy="6381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QK1</a:t>
            </a:r>
          </a:p>
        </p:txBody>
      </p:sp>
      <p:sp>
        <p:nvSpPr>
          <p:cNvPr id="10" name="module-76">
            <a:extLst>
              <a:ext uri="{FF2B5EF4-FFF2-40B4-BE49-F238E27FC236}">
                <a16:creationId xmlns:a16="http://schemas.microsoft.com/office/drawing/2014/main" id="{8472F62B-AA5A-4327-88D4-8434B54858E7}"/>
              </a:ext>
            </a:extLst>
          </p:cNvPr>
          <p:cNvSpPr>
            <a:spLocks noGrp="1"/>
          </p:cNvSpPr>
          <p:nvPr/>
        </p:nvSpPr>
        <p:spPr>
          <a:xfrm>
            <a:off x="3333750" y="3781425"/>
            <a:ext cx="1238250" cy="6381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PV0</a:t>
            </a:r>
          </a:p>
        </p:txBody>
      </p:sp>
      <p:sp>
        <p:nvSpPr>
          <p:cNvPr id="12" name="module-77">
            <a:extLst>
              <a:ext uri="{FF2B5EF4-FFF2-40B4-BE49-F238E27FC236}">
                <a16:creationId xmlns:a16="http://schemas.microsoft.com/office/drawing/2014/main" id="{8A95BA7F-C2CF-4E1E-B0F5-5500191F65F8}"/>
              </a:ext>
            </a:extLst>
          </p:cNvPr>
          <p:cNvSpPr>
            <a:spLocks noGrp="1"/>
          </p:cNvSpPr>
          <p:nvPr/>
        </p:nvSpPr>
        <p:spPr>
          <a:xfrm>
            <a:off x="4733925" y="3781425"/>
            <a:ext cx="1238250" cy="6381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QK2</a:t>
            </a:r>
          </a:p>
        </p:txBody>
      </p:sp>
      <p:sp>
        <p:nvSpPr>
          <p:cNvPr id="14" name="module-78">
            <a:extLst>
              <a:ext uri="{FF2B5EF4-FFF2-40B4-BE49-F238E27FC236}">
                <a16:creationId xmlns:a16="http://schemas.microsoft.com/office/drawing/2014/main" id="{02BC08A4-8769-46FA-9884-0945C2511DD0}"/>
              </a:ext>
            </a:extLst>
          </p:cNvPr>
          <p:cNvSpPr>
            <a:spLocks noGrp="1"/>
          </p:cNvSpPr>
          <p:nvPr/>
        </p:nvSpPr>
        <p:spPr>
          <a:xfrm>
            <a:off x="6134100" y="3781425"/>
            <a:ext cx="1238250" cy="6381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PV1</a:t>
            </a:r>
          </a:p>
        </p:txBody>
      </p:sp>
      <p:sp>
        <p:nvSpPr>
          <p:cNvPr id="16" name="module-79">
            <a:extLst>
              <a:ext uri="{FF2B5EF4-FFF2-40B4-BE49-F238E27FC236}">
                <a16:creationId xmlns:a16="http://schemas.microsoft.com/office/drawing/2014/main" id="{F4BCBBA8-816A-4BF9-99DC-552F858B0A0F}"/>
              </a:ext>
            </a:extLst>
          </p:cNvPr>
          <p:cNvSpPr>
            <a:spLocks noGrp="1"/>
          </p:cNvSpPr>
          <p:nvPr/>
        </p:nvSpPr>
        <p:spPr>
          <a:xfrm>
            <a:off x="7534275" y="3781425"/>
            <a:ext cx="1238250" cy="6381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…</a:t>
            </a:r>
          </a:p>
        </p:txBody>
      </p:sp>
      <p:sp>
        <p:nvSpPr>
          <p:cNvPr id="18" name="module-80">
            <a:extLst>
              <a:ext uri="{FF2B5EF4-FFF2-40B4-BE49-F238E27FC236}">
                <a16:creationId xmlns:a16="http://schemas.microsoft.com/office/drawing/2014/main" id="{98AFECE9-432F-46C7-B9C7-51BC305FDF72}"/>
              </a:ext>
            </a:extLst>
          </p:cNvPr>
          <p:cNvSpPr>
            <a:spLocks noGrp="1"/>
          </p:cNvSpPr>
          <p:nvPr/>
        </p:nvSpPr>
        <p:spPr>
          <a:xfrm>
            <a:off x="8934450" y="3781425"/>
            <a:ext cx="1238250" cy="6381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QK54</a:t>
            </a:r>
          </a:p>
        </p:txBody>
      </p:sp>
      <p:sp>
        <p:nvSpPr>
          <p:cNvPr id="20" name="module-81">
            <a:extLst>
              <a:ext uri="{FF2B5EF4-FFF2-40B4-BE49-F238E27FC236}">
                <a16:creationId xmlns:a16="http://schemas.microsoft.com/office/drawing/2014/main" id="{33B2D9E4-C27E-4D11-9ABE-831EEFB4095D}"/>
              </a:ext>
            </a:extLst>
          </p:cNvPr>
          <p:cNvSpPr>
            <a:spLocks noGrp="1"/>
          </p:cNvSpPr>
          <p:nvPr/>
        </p:nvSpPr>
        <p:spPr>
          <a:xfrm>
            <a:off x="10334625" y="3781425"/>
            <a:ext cx="1238250" cy="6381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PV53</a:t>
            </a:r>
          </a:p>
        </p:txBody>
      </p:sp>
      <p:sp>
        <p:nvSpPr>
          <p:cNvPr id="22" name="text-82">
            <a:extLst>
              <a:ext uri="{FF2B5EF4-FFF2-40B4-BE49-F238E27FC236}">
                <a16:creationId xmlns:a16="http://schemas.microsoft.com/office/drawing/2014/main" id="{5FED2626-825A-42EA-9A60-6050E05C6F33}"/>
              </a:ext>
            </a:extLst>
          </p:cNvPr>
          <p:cNvSpPr>
            <a:spLocks noGrp="1"/>
          </p:cNvSpPr>
          <p:nvPr/>
        </p:nvSpPr>
        <p:spPr>
          <a:xfrm>
            <a:off x="533400" y="4610100"/>
            <a:ext cx="111252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A5691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1">
                <a:solidFill>
                  <a:srgbClr val="A569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5691C"/>
                </a:solidFill>
                <a:latin typeface="Microsoft YaHei"/>
                <a:ea typeface="Microsoft YaHei"/>
                <a:cs typeface="Microsoft YaHei"/>
              </a:rPr>
              <a:t>PV53 后保留额外窗口，再执行 PV54、RECIP 与 A_FIN</a:t>
            </a:r>
          </a:p>
        </p:txBody>
      </p:sp>
      <p:sp>
        <p:nvSpPr>
          <p:cNvPr id="23" name="text-83">
            <a:extLst>
              <a:ext uri="{FF2B5EF4-FFF2-40B4-BE49-F238E27FC236}">
                <a16:creationId xmlns:a16="http://schemas.microsoft.com/office/drawing/2014/main" id="{0C6DD269-0365-46E9-A1F0-3E9758297B01}"/>
              </a:ext>
            </a:extLst>
          </p:cNvPr>
          <p:cNvSpPr>
            <a:spLocks noGrp="1"/>
          </p:cNvSpPr>
          <p:nvPr/>
        </p:nvSpPr>
        <p:spPr>
          <a:xfrm>
            <a:off x="533400" y="5219700"/>
            <a:ext cx="111252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启动条件：PBUF 就绪、前代 PV 提交、alpha 可用、目标 bank 可复用</a:t>
            </a:r>
          </a:p>
        </p:txBody>
      </p:sp>
      <p:sp>
        <p:nvSpPr>
          <p:cNvPr id="24" name="text-84">
            <a:extLst>
              <a:ext uri="{FF2B5EF4-FFF2-40B4-BE49-F238E27FC236}">
                <a16:creationId xmlns:a16="http://schemas.microsoft.com/office/drawing/2014/main" id="{34DA10DF-8D52-4F58-9396-087AFDFEFCA6}"/>
              </a:ext>
            </a:extLst>
          </p:cNvPr>
          <p:cNvSpPr>
            <a:spLocks noGrp="1"/>
          </p:cNvSpPr>
          <p:nvPr/>
        </p:nvSpPr>
        <p:spPr>
          <a:xfrm>
            <a:off x="533400" y="58388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独立调度验证：QK=55，PV=55，最终值检查 13,056 项</a:t>
            </a:r>
          </a:p>
        </p:txBody>
      </p:sp>
    </p:spTree>
    <p:extLst>
      <p:ext uri="{BB962C8B-B14F-4D97-AF65-F5344CB8AC3E}">
        <p14:creationId xmlns:p14="http://schemas.microsoft.com/office/powerpoint/2010/main" val="104913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1D3D544-6C74-46B6-B0DC-B98E57977121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7600950" y="4105275"/>
            <a:ext cx="8477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88FDB70-7B28-4437-8FB0-33133F867CA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3038475" y="4105275"/>
            <a:ext cx="8477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E2AF6931-DF04-4FBA-A32A-220D91D62A1F}"/>
              </a:ext>
            </a:extLst>
          </p:cNvPr>
          <p:cNvCxnSpPr>
            <a:stCxn id="9" idx="2"/>
            <a:endCxn id="13" idx="0"/>
          </p:cNvCxnSpPr>
          <p:nvPr/>
        </p:nvCxnSpPr>
        <p:spPr>
          <a:xfrm flipH="1">
            <a:off x="1785938" y="2828925"/>
            <a:ext cx="8096250" cy="895350"/>
          </a:xfrm>
          <a:prstGeom prst="bentConnector4">
            <a:avLst>
              <a:gd name="adj1" fmla="val 0"/>
              <a:gd name="adj2" fmla="val 57447"/>
            </a:avLst>
          </a:prstGeom>
          <a:ln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EAE3CEF-FEAC-4C9D-A092-FDD8C731677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610475" y="2447925"/>
            <a:ext cx="49530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D3BCFA5-0894-4A0E-8E7F-D6C899EB6333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4600575" y="2447925"/>
            <a:ext cx="49530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716406C-D46C-477C-823C-F9E4F0455A77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152650" y="2447925"/>
            <a:ext cx="49530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6" name="heading">
            <a:extLst>
              <a:ext uri="{FF2B5EF4-FFF2-40B4-BE49-F238E27FC236}">
                <a16:creationId xmlns:a16="http://schemas.microsoft.com/office/drawing/2014/main" id="{6360E60A-54FE-4147-8CDB-F45F6628BA40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G-U：复用矩阵与 A Replay，流式完成 Z</a:t>
            </a:r>
          </a:p>
        </p:txBody>
      </p:sp>
      <p:sp>
        <p:nvSpPr>
          <p:cNvPr id="2" name="text-86">
            <a:extLst>
              <a:ext uri="{FF2B5EF4-FFF2-40B4-BE49-F238E27FC236}">
                <a16:creationId xmlns:a16="http://schemas.microsoft.com/office/drawing/2014/main" id="{B83B3D5B-1F27-4805-810A-1A0FE311DF65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Gate / Up 的矩阵结果按坐标配对，后处理与后续计算重叠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61DE463-2BFD-4167-B9BA-EEB6A413B712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87">
            <a:extLst>
              <a:ext uri="{FF2B5EF4-FFF2-40B4-BE49-F238E27FC236}">
                <a16:creationId xmlns:a16="http://schemas.microsoft.com/office/drawing/2014/main" id="{09F63FEE-2D45-4A6C-B32F-9EE5344453DD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依据：dea8_gu_scheduler_v3.sv，dea8_gu_a_replay_v3.sv，tb_v3_gu_32_system.txt</a:t>
            </a:r>
          </a:p>
        </p:txBody>
      </p:sp>
      <p:sp>
        <p:nvSpPr>
          <p:cNvPr id="5" name="text-88">
            <a:extLst>
              <a:ext uri="{FF2B5EF4-FFF2-40B4-BE49-F238E27FC236}">
                <a16:creationId xmlns:a16="http://schemas.microsoft.com/office/drawing/2014/main" id="{31FFF5F5-CFB1-4BD0-9F9F-369C07009657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module-89">
            <a:extLst>
              <a:ext uri="{FF2B5EF4-FFF2-40B4-BE49-F238E27FC236}">
                <a16:creationId xmlns:a16="http://schemas.microsoft.com/office/drawing/2014/main" id="{8CF9D073-324E-48BD-B02F-E47406381BEF}"/>
              </a:ext>
            </a:extLst>
          </p:cNvPr>
          <p:cNvSpPr>
            <a:spLocks noGrp="1"/>
          </p:cNvSpPr>
          <p:nvPr/>
        </p:nvSpPr>
        <p:spPr>
          <a:xfrm>
            <a:off x="533400" y="2066925"/>
            <a:ext cx="1619250" cy="76200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XBC A</a:t>
            </a:r>
          </a:p>
        </p:txBody>
      </p:sp>
      <p:sp>
        <p:nvSpPr>
          <p:cNvPr id="7" name="module-90">
            <a:extLst>
              <a:ext uri="{FF2B5EF4-FFF2-40B4-BE49-F238E27FC236}">
                <a16:creationId xmlns:a16="http://schemas.microsoft.com/office/drawing/2014/main" id="{944EF178-CCF7-4CEC-878E-574AE44AD40E}"/>
              </a:ext>
            </a:extLst>
          </p:cNvPr>
          <p:cNvSpPr>
            <a:spLocks noGrp="1"/>
          </p:cNvSpPr>
          <p:nvPr/>
        </p:nvSpPr>
        <p:spPr>
          <a:xfrm>
            <a:off x="2647950" y="2066925"/>
            <a:ext cx="1952625" cy="76200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 Replay</a:t>
            </a:r>
          </a:p>
        </p:txBody>
      </p:sp>
      <p:sp>
        <p:nvSpPr>
          <p:cNvPr id="8" name="module-91">
            <a:extLst>
              <a:ext uri="{FF2B5EF4-FFF2-40B4-BE49-F238E27FC236}">
                <a16:creationId xmlns:a16="http://schemas.microsoft.com/office/drawing/2014/main" id="{C07FE298-E1B0-4AAA-AEEA-5221F30F6328}"/>
              </a:ext>
            </a:extLst>
          </p:cNvPr>
          <p:cNvSpPr>
            <a:spLocks noGrp="1"/>
          </p:cNvSpPr>
          <p:nvPr/>
        </p:nvSpPr>
        <p:spPr>
          <a:xfrm>
            <a:off x="5095875" y="2066925"/>
            <a:ext cx="2514600" cy="762000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共享 Matrix</a:t>
            </a:r>
          </a:p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Gate / Up</a:t>
            </a:r>
          </a:p>
        </p:txBody>
      </p:sp>
      <p:sp>
        <p:nvSpPr>
          <p:cNvPr id="9" name="module-92">
            <a:extLst>
              <a:ext uri="{FF2B5EF4-FFF2-40B4-BE49-F238E27FC236}">
                <a16:creationId xmlns:a16="http://schemas.microsoft.com/office/drawing/2014/main" id="{93CFC1E0-6D0B-45AC-9B2D-81EAEFFD64D9}"/>
              </a:ext>
            </a:extLst>
          </p:cNvPr>
          <p:cNvSpPr>
            <a:spLocks noGrp="1"/>
          </p:cNvSpPr>
          <p:nvPr/>
        </p:nvSpPr>
        <p:spPr>
          <a:xfrm>
            <a:off x="8105775" y="2066925"/>
            <a:ext cx="3552825" cy="762000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FACC + GU Pair BUF</a:t>
            </a:r>
          </a:p>
        </p:txBody>
      </p:sp>
      <p:sp>
        <p:nvSpPr>
          <p:cNvPr id="13" name="module-93">
            <a:extLst>
              <a:ext uri="{FF2B5EF4-FFF2-40B4-BE49-F238E27FC236}">
                <a16:creationId xmlns:a16="http://schemas.microsoft.com/office/drawing/2014/main" id="{78BBB189-D28E-4F95-B08B-F731DE81FE2A}"/>
              </a:ext>
            </a:extLst>
          </p:cNvPr>
          <p:cNvSpPr>
            <a:spLocks noGrp="1"/>
          </p:cNvSpPr>
          <p:nvPr/>
        </p:nvSpPr>
        <p:spPr>
          <a:xfrm>
            <a:off x="533400" y="3724275"/>
            <a:ext cx="2505075" cy="762000"/>
          </a:xfrm>
          <a:prstGeom prst="rect">
            <a:avLst/>
          </a:prstGeom>
          <a:solidFill>
            <a:srgbClr val="FBF3E7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SFU：GELU(G)</a:t>
            </a:r>
          </a:p>
        </p:txBody>
      </p:sp>
      <p:sp>
        <p:nvSpPr>
          <p:cNvPr id="14" name="module-94">
            <a:extLst>
              <a:ext uri="{FF2B5EF4-FFF2-40B4-BE49-F238E27FC236}">
                <a16:creationId xmlns:a16="http://schemas.microsoft.com/office/drawing/2014/main" id="{3EEC8982-EF8A-42E3-8C57-70052406481D}"/>
              </a:ext>
            </a:extLst>
          </p:cNvPr>
          <p:cNvSpPr>
            <a:spLocks noGrp="1"/>
          </p:cNvSpPr>
          <p:nvPr/>
        </p:nvSpPr>
        <p:spPr>
          <a:xfrm>
            <a:off x="3886200" y="3724275"/>
            <a:ext cx="3714750" cy="762000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VPU：GELU(G) × U</a:t>
            </a:r>
          </a:p>
          <a:p>
            <a:pPr algn="ctr">
              <a:def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Block scale + 量化</a:t>
            </a:r>
          </a:p>
        </p:txBody>
      </p:sp>
      <p:sp>
        <p:nvSpPr>
          <p:cNvPr id="15" name="module-95">
            <a:extLst>
              <a:ext uri="{FF2B5EF4-FFF2-40B4-BE49-F238E27FC236}">
                <a16:creationId xmlns:a16="http://schemas.microsoft.com/office/drawing/2014/main" id="{CCC870C2-E9B1-4765-90EB-90D5CDBC6992}"/>
              </a:ext>
            </a:extLst>
          </p:cNvPr>
          <p:cNvSpPr>
            <a:spLocks noGrp="1"/>
          </p:cNvSpPr>
          <p:nvPr/>
        </p:nvSpPr>
        <p:spPr>
          <a:xfrm>
            <a:off x="8448675" y="3724275"/>
            <a:ext cx="3209925" cy="76200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QOZ_Z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[51,512]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234D226-1F8F-4D2B-B54E-21026FF9F6E2}"/>
              </a:ext>
            </a:extLst>
          </p:cNvPr>
          <p:cNvCxnSpPr/>
          <p:nvPr/>
        </p:nvCxnSpPr>
        <p:spPr>
          <a:xfrm>
            <a:off x="11182350" y="2828925"/>
            <a:ext cx="0" cy="666750"/>
          </a:xfrm>
          <a:prstGeom prst="straightConnector1">
            <a:avLst/>
          </a:prstGeom>
          <a:ln w="19050">
            <a:solidFill>
              <a:srgbClr val="237F6B"/>
            </a:solidFill>
            <a:tailEnd type="none" w="med" len="med"/>
          </a:ln>
        </p:spPr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9BBA686-0D98-413B-BE33-AE17EE2BE7FA}"/>
              </a:ext>
            </a:extLst>
          </p:cNvPr>
          <p:cNvCxnSpPr/>
          <p:nvPr/>
        </p:nvCxnSpPr>
        <p:spPr>
          <a:xfrm flipH="1">
            <a:off x="6096000" y="3495675"/>
            <a:ext cx="5086350" cy="0"/>
          </a:xfrm>
          <a:prstGeom prst="straightConnector1">
            <a:avLst/>
          </a:prstGeom>
          <a:ln w="19050">
            <a:solidFill>
              <a:srgbClr val="237F6B"/>
            </a:solidFill>
            <a:tailEnd type="none" w="med" len="med"/>
          </a:ln>
        </p:spPr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0040991-0084-49B2-86E2-91798DD98BD4}"/>
              </a:ext>
            </a:extLst>
          </p:cNvPr>
          <p:cNvCxnSpPr/>
          <p:nvPr/>
        </p:nvCxnSpPr>
        <p:spPr>
          <a:xfrm>
            <a:off x="6096000" y="3495675"/>
            <a:ext cx="0" cy="228600"/>
          </a:xfrm>
          <a:prstGeom prst="straightConnector1">
            <a:avLst/>
          </a:prstGeom>
          <a:ln w="19050">
            <a:solidFill>
              <a:srgbClr val="237F6B"/>
            </a:solidFill>
            <a:tailEnd type="arrow" w="sm" len="sm"/>
          </a:ln>
        </p:spPr>
      </p:cxnSp>
      <p:sp>
        <p:nvSpPr>
          <p:cNvPr id="22" name="text-96">
            <a:extLst>
              <a:ext uri="{FF2B5EF4-FFF2-40B4-BE49-F238E27FC236}">
                <a16:creationId xmlns:a16="http://schemas.microsoft.com/office/drawing/2014/main" id="{9070C948-3703-4BAC-B4A5-44DE7D74006F}"/>
              </a:ext>
            </a:extLst>
          </p:cNvPr>
          <p:cNvSpPr>
            <a:spLocks noGrp="1"/>
          </p:cNvSpPr>
          <p:nvPr/>
        </p:nvSpPr>
        <p:spPr>
          <a:xfrm>
            <a:off x="9210675" y="3514725"/>
            <a:ext cx="22860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Up FP32 配对保持</a:t>
            </a:r>
          </a:p>
        </p:txBody>
      </p:sp>
      <p:sp>
        <p:nvSpPr>
          <p:cNvPr id="23" name="text-97">
            <a:extLst>
              <a:ext uri="{FF2B5EF4-FFF2-40B4-BE49-F238E27FC236}">
                <a16:creationId xmlns:a16="http://schemas.microsoft.com/office/drawing/2014/main" id="{F431124B-01EC-4DA1-92F3-77A5DD27111D}"/>
              </a:ext>
            </a:extLst>
          </p:cNvPr>
          <p:cNvSpPr>
            <a:spLocks noGrp="1"/>
          </p:cNvSpPr>
          <p:nvPr/>
        </p:nvSpPr>
        <p:spPr>
          <a:xfrm>
            <a:off x="2857500" y="2981325"/>
            <a:ext cx="1666875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0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Gate FP32</a:t>
            </a:r>
          </a:p>
        </p:txBody>
      </p:sp>
      <p:sp>
        <p:nvSpPr>
          <p:cNvPr id="24" name="text-98">
            <a:extLst>
              <a:ext uri="{FF2B5EF4-FFF2-40B4-BE49-F238E27FC236}">
                <a16:creationId xmlns:a16="http://schemas.microsoft.com/office/drawing/2014/main" id="{C91A1233-359B-4525-9F4A-69DA6F04EA08}"/>
              </a:ext>
            </a:extLst>
          </p:cNvPr>
          <p:cNvSpPr>
            <a:spLocks noGrp="1"/>
          </p:cNvSpPr>
          <p:nvPr/>
        </p:nvSpPr>
        <p:spPr>
          <a:xfrm>
            <a:off x="533400" y="4981575"/>
            <a:ext cx="11125200" cy="561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每个 N Tile：2 × 64 × 26 = 3,328 issues；共 32 个输出 Tile</a:t>
            </a:r>
          </a:p>
        </p:txBody>
      </p:sp>
      <p:sp>
        <p:nvSpPr>
          <p:cNvPr id="25" name="text-99">
            <a:extLst>
              <a:ext uri="{FF2B5EF4-FFF2-40B4-BE49-F238E27FC236}">
                <a16:creationId xmlns:a16="http://schemas.microsoft.com/office/drawing/2014/main" id="{B4F84EA5-EB58-4A65-8F87-65C699DC4633}"/>
              </a:ext>
            </a:extLst>
          </p:cNvPr>
          <p:cNvSpPr>
            <a:spLocks noGrp="1"/>
          </p:cNvSpPr>
          <p:nvPr/>
        </p:nvSpPr>
        <p:spPr>
          <a:xfrm>
            <a:off x="533400" y="58388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独立验证：32 组后处理，832 个 Z pair 写入并读回 QOZ</a:t>
            </a:r>
          </a:p>
        </p:txBody>
      </p:sp>
    </p:spTree>
    <p:extLst>
      <p:ext uri="{BB962C8B-B14F-4D97-AF65-F5344CB8AC3E}">
        <p14:creationId xmlns:p14="http://schemas.microsoft.com/office/powerpoint/2010/main" val="166433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56ABBCCA-4D41-49CB-8F64-A80103E4CD58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5981700" y="2686050"/>
            <a:ext cx="4457700" cy="84772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7" name="连接符: 肘形 16">
            <a:extLst>
              <a:ext uri="{FF2B5EF4-FFF2-40B4-BE49-F238E27FC236}">
                <a16:creationId xmlns:a16="http://schemas.microsoft.com/office/drawing/2014/main" id="{8D559DE5-A15F-4F0A-8E54-07C8995A17C9}"/>
              </a:ext>
            </a:extLst>
          </p:cNvPr>
          <p:cNvCxnSpPr>
            <a:stCxn id="7" idx="2"/>
            <a:endCxn id="13" idx="0"/>
          </p:cNvCxnSpPr>
          <p:nvPr/>
        </p:nvCxnSpPr>
        <p:spPr>
          <a:xfrm>
            <a:off x="5981700" y="2686050"/>
            <a:ext cx="1571625" cy="84772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C0DB88C4-9015-45BA-81A3-61C5F135D85B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flipH="1">
            <a:off x="4657725" y="2686050"/>
            <a:ext cx="1323975" cy="84772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B840B2B1-27A2-4426-9EB8-D4C71AE72295}"/>
              </a:ext>
            </a:extLst>
          </p:cNvPr>
          <p:cNvCxnSpPr>
            <a:stCxn id="7" idx="2"/>
            <a:endCxn id="11" idx="0"/>
          </p:cNvCxnSpPr>
          <p:nvPr/>
        </p:nvCxnSpPr>
        <p:spPr>
          <a:xfrm flipH="1">
            <a:off x="1762125" y="2686050"/>
            <a:ext cx="4219575" cy="847725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237F6B"/>
            </a:solidFill>
            <a:prstDash val="solid"/>
            <a:tailEnd type="arrow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A9AEFD4-3CA0-4EB5-B502-7AEC078AE13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810625" y="2328863"/>
            <a:ext cx="8096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3BD973B-2D33-40BD-AEE6-FF03F58FDD22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343150" y="2328863"/>
            <a:ext cx="8096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1" name="heading">
            <a:extLst>
              <a:ext uri="{FF2B5EF4-FFF2-40B4-BE49-F238E27FC236}">
                <a16:creationId xmlns:a16="http://schemas.microsoft.com/office/drawing/2014/main" id="{AEFA9E0A-C665-49FD-9955-258C387310DF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七种 Job：PCore 控制中心统一推进</a:t>
            </a:r>
          </a:p>
        </p:txBody>
      </p:sp>
      <p:sp>
        <p:nvSpPr>
          <p:cNvPr id="2" name="text-101">
            <a:extLst>
              <a:ext uri="{FF2B5EF4-FFF2-40B4-BE49-F238E27FC236}">
                <a16:creationId xmlns:a16="http://schemas.microsoft.com/office/drawing/2014/main" id="{85FEF088-7672-4608-BFE7-F7E2F87B1E87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接收 DEA8 任务，调度矩阵、后处理、存储提交和本核外发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4C2864F6-0CCA-49B1-B9EA-84E3409CCF3F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102">
            <a:extLst>
              <a:ext uri="{FF2B5EF4-FFF2-40B4-BE49-F238E27FC236}">
                <a16:creationId xmlns:a16="http://schemas.microsoft.com/office/drawing/2014/main" id="{AC82C6E4-2A41-433C-BE6A-E87834F7E1F7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依据：PCore_Control_Center_v3.md，dea8_pcore_control_v3.sv</a:t>
            </a:r>
          </a:p>
        </p:txBody>
      </p:sp>
      <p:sp>
        <p:nvSpPr>
          <p:cNvPr id="5" name="text-103">
            <a:extLst>
              <a:ext uri="{FF2B5EF4-FFF2-40B4-BE49-F238E27FC236}">
                <a16:creationId xmlns:a16="http://schemas.microsoft.com/office/drawing/2014/main" id="{894196EE-342E-4AC4-BC16-0F63A352C9B2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module-104">
            <a:extLst>
              <a:ext uri="{FF2B5EF4-FFF2-40B4-BE49-F238E27FC236}">
                <a16:creationId xmlns:a16="http://schemas.microsoft.com/office/drawing/2014/main" id="{E2C0E9D4-BFFD-4C27-B697-A3F0237B995B}"/>
              </a:ext>
            </a:extLst>
          </p:cNvPr>
          <p:cNvSpPr>
            <a:spLocks noGrp="1"/>
          </p:cNvSpPr>
          <p:nvPr/>
        </p:nvSpPr>
        <p:spPr>
          <a:xfrm>
            <a:off x="533400" y="1971675"/>
            <a:ext cx="1809750" cy="7143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DEA8 Job</a:t>
            </a:r>
          </a:p>
        </p:txBody>
      </p:sp>
      <p:sp>
        <p:nvSpPr>
          <p:cNvPr id="7" name="module-105">
            <a:extLst>
              <a:ext uri="{FF2B5EF4-FFF2-40B4-BE49-F238E27FC236}">
                <a16:creationId xmlns:a16="http://schemas.microsoft.com/office/drawing/2014/main" id="{AF0DEDF7-8EF2-420C-8CF5-B86F1DE8B8A2}"/>
              </a:ext>
            </a:extLst>
          </p:cNvPr>
          <p:cNvSpPr>
            <a:spLocks noGrp="1"/>
          </p:cNvSpPr>
          <p:nvPr/>
        </p:nvSpPr>
        <p:spPr>
          <a:xfrm>
            <a:off x="3152775" y="1971675"/>
            <a:ext cx="5657850" cy="7143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PCore Control：profile / token / 依赖 / 退休</a:t>
            </a:r>
          </a:p>
        </p:txBody>
      </p:sp>
      <p:sp>
        <p:nvSpPr>
          <p:cNvPr id="8" name="module-106">
            <a:extLst>
              <a:ext uri="{FF2B5EF4-FFF2-40B4-BE49-F238E27FC236}">
                <a16:creationId xmlns:a16="http://schemas.microsoft.com/office/drawing/2014/main" id="{858D4548-A430-4D7C-8DB7-ECE006FF37D7}"/>
              </a:ext>
            </a:extLst>
          </p:cNvPr>
          <p:cNvSpPr>
            <a:spLocks noGrp="1"/>
          </p:cNvSpPr>
          <p:nvPr/>
        </p:nvSpPr>
        <p:spPr>
          <a:xfrm>
            <a:off x="9620250" y="1971675"/>
            <a:ext cx="2038350" cy="7143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done / status</a:t>
            </a:r>
          </a:p>
        </p:txBody>
      </p:sp>
      <p:sp>
        <p:nvSpPr>
          <p:cNvPr id="11" name="module-107">
            <a:extLst>
              <a:ext uri="{FF2B5EF4-FFF2-40B4-BE49-F238E27FC236}">
                <a16:creationId xmlns:a16="http://schemas.microsoft.com/office/drawing/2014/main" id="{429B19C5-D05D-4F9F-B0A2-FA89A10BE8B1}"/>
              </a:ext>
            </a:extLst>
          </p:cNvPr>
          <p:cNvSpPr>
            <a:spLocks noGrp="1"/>
          </p:cNvSpPr>
          <p:nvPr/>
        </p:nvSpPr>
        <p:spPr>
          <a:xfrm>
            <a:off x="533400" y="3533775"/>
            <a:ext cx="2457450" cy="95250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三种 Engine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共享 Matrix</a:t>
            </a:r>
          </a:p>
        </p:txBody>
      </p:sp>
      <p:sp>
        <p:nvSpPr>
          <p:cNvPr id="12" name="module-108">
            <a:extLst>
              <a:ext uri="{FF2B5EF4-FFF2-40B4-BE49-F238E27FC236}">
                <a16:creationId xmlns:a16="http://schemas.microsoft.com/office/drawing/2014/main" id="{47339592-59F8-4C82-BC76-5F3E8D953663}"/>
              </a:ext>
            </a:extLst>
          </p:cNvPr>
          <p:cNvSpPr>
            <a:spLocks noGrp="1"/>
          </p:cNvSpPr>
          <p:nvPr/>
        </p:nvSpPr>
        <p:spPr>
          <a:xfrm>
            <a:off x="3429000" y="3533775"/>
            <a:ext cx="2457450" cy="952500"/>
          </a:xfrm>
          <a:prstGeom prst="rect">
            <a:avLst/>
          </a:prstGeom>
          <a:solidFill>
            <a:srgbClr val="FBF3E7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VPU / SFU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cmd + done</a:t>
            </a:r>
          </a:p>
        </p:txBody>
      </p:sp>
      <p:sp>
        <p:nvSpPr>
          <p:cNvPr id="13" name="module-109">
            <a:extLst>
              <a:ext uri="{FF2B5EF4-FFF2-40B4-BE49-F238E27FC236}">
                <a16:creationId xmlns:a16="http://schemas.microsoft.com/office/drawing/2014/main" id="{E9C72325-A7AB-464F-A243-A4CD0C674F83}"/>
              </a:ext>
            </a:extLst>
          </p:cNvPr>
          <p:cNvSpPr>
            <a:spLocks noGrp="1"/>
          </p:cNvSpPr>
          <p:nvPr/>
        </p:nvSpPr>
        <p:spPr>
          <a:xfrm>
            <a:off x="6324600" y="3533775"/>
            <a:ext cx="2457450" cy="95250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ACC / Workspace</a:t>
            </a:r>
          </a:p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 Manager</a:t>
            </a:r>
          </a:p>
        </p:txBody>
      </p:sp>
      <p:sp>
        <p:nvSpPr>
          <p:cNvPr id="14" name="module-110">
            <a:extLst>
              <a:ext uri="{FF2B5EF4-FFF2-40B4-BE49-F238E27FC236}">
                <a16:creationId xmlns:a16="http://schemas.microsoft.com/office/drawing/2014/main" id="{348239E7-BC19-4015-8F02-F15FEA848A0F}"/>
              </a:ext>
            </a:extLst>
          </p:cNvPr>
          <p:cNvSpPr>
            <a:spLocks noGrp="1"/>
          </p:cNvSpPr>
          <p:nvPr/>
        </p:nvSpPr>
        <p:spPr>
          <a:xfrm>
            <a:off x="9220200" y="3533775"/>
            <a:ext cx="2438400" cy="952500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Egress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KV / reduce</a:t>
            </a:r>
          </a:p>
        </p:txBody>
      </p:sp>
      <p:sp>
        <p:nvSpPr>
          <p:cNvPr id="19" name="text-111">
            <a:extLst>
              <a:ext uri="{FF2B5EF4-FFF2-40B4-BE49-F238E27FC236}">
                <a16:creationId xmlns:a16="http://schemas.microsoft.com/office/drawing/2014/main" id="{E577A1F0-7D94-4B31-A6FE-3C1B6651CBD5}"/>
              </a:ext>
            </a:extLst>
          </p:cNvPr>
          <p:cNvSpPr>
            <a:spLocks noGrp="1"/>
          </p:cNvSpPr>
          <p:nvPr/>
        </p:nvSpPr>
        <p:spPr>
          <a:xfrm>
            <a:off x="533400" y="5143500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调度依据：数据可读、结果已提交、目标可写、单元已完成</a:t>
            </a:r>
          </a:p>
        </p:txBody>
      </p:sp>
      <p:sp>
        <p:nvSpPr>
          <p:cNvPr id="20" name="text-112">
            <a:extLst>
              <a:ext uri="{FF2B5EF4-FFF2-40B4-BE49-F238E27FC236}">
                <a16:creationId xmlns:a16="http://schemas.microsoft.com/office/drawing/2014/main" id="{046530C1-3510-4B1F-9C1E-BF428BFD5F75}"/>
              </a:ext>
            </a:extLst>
          </p:cNvPr>
          <p:cNvSpPr>
            <a:spLocks noGrp="1"/>
          </p:cNvSpPr>
          <p:nvPr/>
        </p:nvSpPr>
        <p:spPr>
          <a:xfrm>
            <a:off x="533400" y="5667375"/>
            <a:ext cx="11125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Job 身份与 generation 跟随所有命令和返回，旧事务在写入前被拦截</a:t>
            </a:r>
          </a:p>
        </p:txBody>
      </p:sp>
    </p:spTree>
    <p:extLst>
      <p:ext uri="{BB962C8B-B14F-4D97-AF65-F5344CB8AC3E}">
        <p14:creationId xmlns:p14="http://schemas.microsoft.com/office/powerpoint/2010/main" val="1988309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ing">
            <a:extLst>
              <a:ext uri="{FF2B5EF4-FFF2-40B4-BE49-F238E27FC236}">
                <a16:creationId xmlns:a16="http://schemas.microsoft.com/office/drawing/2014/main" id="{60197983-B99F-4212-B367-70E361C05B73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七种 Job 的输入、后处理与完成条件</a:t>
            </a:r>
          </a:p>
        </p:txBody>
      </p:sp>
      <p:sp>
        <p:nvSpPr>
          <p:cNvPr id="2" name="text-114">
            <a:extLst>
              <a:ext uri="{FF2B5EF4-FFF2-40B4-BE49-F238E27FC236}">
                <a16:creationId xmlns:a16="http://schemas.microsoft.com/office/drawing/2014/main" id="{F7567D2E-45D1-4D1B-8799-B6899D1751A4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对外任务包含本地后处理，DEA8 另外等待跨核提交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F06810C-E0E3-4027-9EB0-ABF852E194C0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115">
            <a:extLst>
              <a:ext uri="{FF2B5EF4-FFF2-40B4-BE49-F238E27FC236}">
                <a16:creationId xmlns:a16="http://schemas.microsoft.com/office/drawing/2014/main" id="{9BDDD58A-5F1C-460F-BF3C-87E798127017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依据：PCore_Control_Center_v3.md，pcore3_pkg.sv</a:t>
            </a:r>
          </a:p>
        </p:txBody>
      </p:sp>
      <p:sp>
        <p:nvSpPr>
          <p:cNvPr id="5" name="text-116">
            <a:extLst>
              <a:ext uri="{FF2B5EF4-FFF2-40B4-BE49-F238E27FC236}">
                <a16:creationId xmlns:a16="http://schemas.microsoft.com/office/drawing/2014/main" id="{4C50E22C-C92F-4E56-82C8-D7E2C2C84188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E73F1DD-007E-40AE-A204-C1791409AAF4}"/>
              </a:ext>
            </a:extLst>
          </p:cNvPr>
          <p:cNvGraphicFramePr/>
          <p:nvPr/>
        </p:nvGraphicFramePr>
        <p:xfrm>
          <a:off x="533400" y="1781175"/>
          <a:ext cx="11125200" cy="4086224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778"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Job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/ B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本地后处理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本核完成条件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/ HBM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RoPE + feature-B16 量化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 个 KV 包发送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/ HBM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token-B16 量化与重排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个 KV 包发送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 / HBM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RoPE + 量化写 QOZ_Q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 Tile 提交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QOZ/PBUF / KVB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 / 缩放 / A_FIN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QOZ_O 16 Tile 提交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QOZ_O / HBM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partial 外发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1,664 包发送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G-U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XBC→Replay / HBM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GELU × U，量化写 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QOZ_Z 32 Tile 提交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0778"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Down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QOZ_Z / HBM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partial 外发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1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1,664 包发送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-117">
            <a:extLst>
              <a:ext uri="{FF2B5EF4-FFF2-40B4-BE49-F238E27FC236}">
                <a16:creationId xmlns:a16="http://schemas.microsoft.com/office/drawing/2014/main" id="{BF5BCE57-2549-4F74-965D-9833B3F05D95}"/>
              </a:ext>
            </a:extLst>
          </p:cNvPr>
          <p:cNvSpPr>
            <a:spLocks noGrp="1"/>
          </p:cNvSpPr>
          <p:nvPr/>
        </p:nvSpPr>
        <p:spPr>
          <a:xfrm>
            <a:off x="533400" y="5915025"/>
            <a:ext cx="111252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5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PCore done 表示本核事务退休；DEA8 跟踪 Collective 输出及 GCore 数据可读屏障</a:t>
            </a:r>
          </a:p>
        </p:txBody>
      </p:sp>
    </p:spTree>
    <p:extLst>
      <p:ext uri="{BB962C8B-B14F-4D97-AF65-F5344CB8AC3E}">
        <p14:creationId xmlns:p14="http://schemas.microsoft.com/office/powerpoint/2010/main" val="1842855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56D8AEF-0F7F-4CE6-BD76-3B535EF44989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448550" y="5500688"/>
            <a:ext cx="129540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EBACF1C-9317-4D83-95B1-A65B8F3D7704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343275" y="5500688"/>
            <a:ext cx="1295400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3" name="heading">
            <a:extLst>
              <a:ext uri="{FF2B5EF4-FFF2-40B4-BE49-F238E27FC236}">
                <a16:creationId xmlns:a16="http://schemas.microsoft.com/office/drawing/2014/main" id="{3B902B08-7E94-4A8E-BA58-9CE3E33294A2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后处理启动条件与 QOZ 生命周期</a:t>
            </a:r>
          </a:p>
        </p:txBody>
      </p:sp>
      <p:sp>
        <p:nvSpPr>
          <p:cNvPr id="2" name="text-119">
            <a:extLst>
              <a:ext uri="{FF2B5EF4-FFF2-40B4-BE49-F238E27FC236}">
                <a16:creationId xmlns:a16="http://schemas.microsoft.com/office/drawing/2014/main" id="{D2562322-D162-4C7A-BABA-0BA79AC9BC66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模块按真实依赖启动，接口允许各负责人独立实现算术单元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458D5A7-C774-4682-9E2D-6B70E17F6085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120">
            <a:extLst>
              <a:ext uri="{FF2B5EF4-FFF2-40B4-BE49-F238E27FC236}">
                <a16:creationId xmlns:a16="http://schemas.microsoft.com/office/drawing/2014/main" id="{272C3A31-B630-4992-8979-C63C0D156753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依据：PCore_Control_Center_v3.md，tb_v3_pcore_control_protocol_control.log</a:t>
            </a:r>
          </a:p>
        </p:txBody>
      </p:sp>
      <p:sp>
        <p:nvSpPr>
          <p:cNvPr id="5" name="text-121">
            <a:extLst>
              <a:ext uri="{FF2B5EF4-FFF2-40B4-BE49-F238E27FC236}">
                <a16:creationId xmlns:a16="http://schemas.microsoft.com/office/drawing/2014/main" id="{09CEBD95-EEAF-43FB-B8A2-515D0BA4171B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FD68964-0875-43E9-840D-28D038B0432A}"/>
              </a:ext>
            </a:extLst>
          </p:cNvPr>
          <p:cNvGraphicFramePr/>
          <p:nvPr/>
        </p:nvGraphicFramePr>
        <p:xfrm>
          <a:off x="533400" y="1800225"/>
          <a:ext cx="11125200" cy="2971800"/>
        </p:xfrm>
        <a:graphic>
          <a:graphicData uri="http://schemas.openxmlformats.org/drawingml/2006/table">
            <a:tbl>
              <a:tblPr/>
              <a:tblGrid>
                <a:gridCol w="338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主要启动条件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RoPE / K、Q 量化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两个 half 配对，完整结果可读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QK_POST / P_EXP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FACC 提交；SBUF/m 有效；VPU 接收已配置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OACC_SCALE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前代 PV 提交，对应 alpha 有效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G-U 后处理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同坐标 Gate / Up 已配对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 / flush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写回及数量校验完成；两个单元独立 ack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module-122">
            <a:extLst>
              <a:ext uri="{FF2B5EF4-FFF2-40B4-BE49-F238E27FC236}">
                <a16:creationId xmlns:a16="http://schemas.microsoft.com/office/drawing/2014/main" id="{09935D6D-288D-42E0-B25D-D50B4C5EE17B}"/>
              </a:ext>
            </a:extLst>
          </p:cNvPr>
          <p:cNvSpPr>
            <a:spLocks noGrp="1"/>
          </p:cNvSpPr>
          <p:nvPr/>
        </p:nvSpPr>
        <p:spPr>
          <a:xfrm>
            <a:off x="533400" y="5181600"/>
            <a:ext cx="2809875" cy="6381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QOZ_Q：16 Tile</a:t>
            </a:r>
          </a:p>
        </p:txBody>
      </p:sp>
      <p:sp>
        <p:nvSpPr>
          <p:cNvPr id="8" name="module-123">
            <a:extLst>
              <a:ext uri="{FF2B5EF4-FFF2-40B4-BE49-F238E27FC236}">
                <a16:creationId xmlns:a16="http://schemas.microsoft.com/office/drawing/2014/main" id="{120D2E9C-4296-4E17-AAB4-062913DAD645}"/>
              </a:ext>
            </a:extLst>
          </p:cNvPr>
          <p:cNvSpPr>
            <a:spLocks noGrp="1"/>
          </p:cNvSpPr>
          <p:nvPr/>
        </p:nvSpPr>
        <p:spPr>
          <a:xfrm>
            <a:off x="4638675" y="5181600"/>
            <a:ext cx="2809875" cy="6381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QOZ_O：16 Tile</a:t>
            </a:r>
          </a:p>
        </p:txBody>
      </p:sp>
      <p:sp>
        <p:nvSpPr>
          <p:cNvPr id="9" name="module-124">
            <a:extLst>
              <a:ext uri="{FF2B5EF4-FFF2-40B4-BE49-F238E27FC236}">
                <a16:creationId xmlns:a16="http://schemas.microsoft.com/office/drawing/2014/main" id="{5A06FB3E-CF4D-451D-BF1F-0B8FAE6639D1}"/>
              </a:ext>
            </a:extLst>
          </p:cNvPr>
          <p:cNvSpPr>
            <a:spLocks noGrp="1"/>
          </p:cNvSpPr>
          <p:nvPr/>
        </p:nvSpPr>
        <p:spPr>
          <a:xfrm>
            <a:off x="8743950" y="5181600"/>
            <a:ext cx="2914650" cy="6381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QOZ_Z：32 Tile</a:t>
            </a:r>
          </a:p>
        </p:txBody>
      </p:sp>
      <p:sp>
        <p:nvSpPr>
          <p:cNvPr id="12" name="text-125">
            <a:extLst>
              <a:ext uri="{FF2B5EF4-FFF2-40B4-BE49-F238E27FC236}">
                <a16:creationId xmlns:a16="http://schemas.microsoft.com/office/drawing/2014/main" id="{52385A9B-8CA1-4398-9CBC-090693512DE3}"/>
              </a:ext>
            </a:extLst>
          </p:cNvPr>
          <p:cNvSpPr>
            <a:spLocks noGrp="1"/>
          </p:cNvSpPr>
          <p:nvPr/>
        </p:nvSpPr>
        <p:spPr>
          <a:xfrm>
            <a:off x="3400425" y="5781675"/>
            <a:ext cx="4191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ctr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消费完并排空读响应后释放 / 复用</a:t>
            </a:r>
          </a:p>
        </p:txBody>
      </p:sp>
    </p:spTree>
    <p:extLst>
      <p:ext uri="{BB962C8B-B14F-4D97-AF65-F5344CB8AC3E}">
        <p14:creationId xmlns:p14="http://schemas.microsoft.com/office/powerpoint/2010/main" val="861979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736BC1F-3AFE-4D33-B36B-20353BD714FC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8601075" y="4586288"/>
            <a:ext cx="5810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18BE6CD5-4B85-4BC3-A538-7D148F3E999A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5572125" y="4586288"/>
            <a:ext cx="5810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CA6B4CB-40C8-4A0F-B672-8F6E5345FD6E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601075" y="2509838"/>
            <a:ext cx="5810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AA9DFB5-7EE8-4002-B958-793E9750EA8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5572125" y="2509838"/>
            <a:ext cx="58102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D96C4140-FCFD-4C81-886E-1AF118BC35DA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2438400" y="3486150"/>
            <a:ext cx="552450" cy="1100138"/>
          </a:xfrm>
          <a:prstGeom prst="bentConnector3">
            <a:avLst>
              <a:gd name="adj1" fmla="val 50000"/>
            </a:avLst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51FD42F0-7B72-447E-AC76-8E3B8CA746B0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2438400" y="2509838"/>
            <a:ext cx="552450" cy="976313"/>
          </a:xfrm>
          <a:prstGeom prst="bentConnector3">
            <a:avLst>
              <a:gd name="adj1" fmla="val 50000"/>
            </a:avLst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20" name="heading">
            <a:extLst>
              <a:ext uri="{FF2B5EF4-FFF2-40B4-BE49-F238E27FC236}">
                <a16:creationId xmlns:a16="http://schemas.microsoft.com/office/drawing/2014/main" id="{47EA9939-C930-4EA8-A488-CA6631E40B2E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Collective：两类缓存，拼接与归约分流</a:t>
            </a:r>
          </a:p>
        </p:txBody>
      </p:sp>
      <p:sp>
        <p:nvSpPr>
          <p:cNvPr id="2" name="text-127">
            <a:extLst>
              <a:ext uri="{FF2B5EF4-FFF2-40B4-BE49-F238E27FC236}">
                <a16:creationId xmlns:a16="http://schemas.microsoft.com/office/drawing/2014/main" id="{A6173EDD-FC68-4C29-90FA-4AA1F7873A90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位于 PCore 外部，DEA8 配置事务，GCore 接收结果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BB501AF-C773-4550-A8D3-A75490D114B1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128">
            <a:extLst>
              <a:ext uri="{FF2B5EF4-FFF2-40B4-BE49-F238E27FC236}">
                <a16:creationId xmlns:a16="http://schemas.microsoft.com/office/drawing/2014/main" id="{2029FEA1-099C-4359-99C2-91386FD48EBD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依据：Collective/README.md，dea8_collective_top.sv</a:t>
            </a:r>
          </a:p>
        </p:txBody>
      </p:sp>
      <p:sp>
        <p:nvSpPr>
          <p:cNvPr id="5" name="text-129">
            <a:extLst>
              <a:ext uri="{FF2B5EF4-FFF2-40B4-BE49-F238E27FC236}">
                <a16:creationId xmlns:a16="http://schemas.microsoft.com/office/drawing/2014/main" id="{05C4994C-029C-434B-9AEC-90E738C84878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module-130">
            <a:extLst>
              <a:ext uri="{FF2B5EF4-FFF2-40B4-BE49-F238E27FC236}">
                <a16:creationId xmlns:a16="http://schemas.microsoft.com/office/drawing/2014/main" id="{2945BF95-DF0C-41F6-A5CA-19F22BB56642}"/>
              </a:ext>
            </a:extLst>
          </p:cNvPr>
          <p:cNvSpPr>
            <a:spLocks noGrp="1"/>
          </p:cNvSpPr>
          <p:nvPr/>
        </p:nvSpPr>
        <p:spPr>
          <a:xfrm>
            <a:off x="533400" y="2857500"/>
            <a:ext cx="1905000" cy="1257300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PCore 0..7</a:t>
            </a:r>
          </a:p>
          <a:p>
            <a:pPr algn="ctr">
              <a:def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原生输出包</a:t>
            </a:r>
          </a:p>
        </p:txBody>
      </p:sp>
      <p:sp>
        <p:nvSpPr>
          <p:cNvPr id="7" name="module-131">
            <a:extLst>
              <a:ext uri="{FF2B5EF4-FFF2-40B4-BE49-F238E27FC236}">
                <a16:creationId xmlns:a16="http://schemas.microsoft.com/office/drawing/2014/main" id="{CEB10088-89EC-453E-9CCB-DD6F19BB4A45}"/>
              </a:ext>
            </a:extLst>
          </p:cNvPr>
          <p:cNvSpPr>
            <a:spLocks noGrp="1"/>
          </p:cNvSpPr>
          <p:nvPr/>
        </p:nvSpPr>
        <p:spPr>
          <a:xfrm>
            <a:off x="2990850" y="2095500"/>
            <a:ext cx="2581275" cy="8286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KV FIFO ×8</a:t>
            </a:r>
          </a:p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272bit × 2 / 核</a:t>
            </a:r>
          </a:p>
        </p:txBody>
      </p:sp>
      <p:sp>
        <p:nvSpPr>
          <p:cNvPr id="8" name="module-132">
            <a:extLst>
              <a:ext uri="{FF2B5EF4-FFF2-40B4-BE49-F238E27FC236}">
                <a16:creationId xmlns:a16="http://schemas.microsoft.com/office/drawing/2014/main" id="{34EB501E-8CF3-4114-8190-9958CA505B1B}"/>
              </a:ext>
            </a:extLst>
          </p:cNvPr>
          <p:cNvSpPr>
            <a:spLocks noGrp="1"/>
          </p:cNvSpPr>
          <p:nvPr/>
        </p:nvSpPr>
        <p:spPr>
          <a:xfrm>
            <a:off x="6153150" y="2095500"/>
            <a:ext cx="2447925" cy="8286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轮询仲裁</a:t>
            </a:r>
          </a:p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单项出口 REG</a:t>
            </a:r>
          </a:p>
        </p:txBody>
      </p:sp>
      <p:sp>
        <p:nvSpPr>
          <p:cNvPr id="9" name="module-133">
            <a:extLst>
              <a:ext uri="{FF2B5EF4-FFF2-40B4-BE49-F238E27FC236}">
                <a16:creationId xmlns:a16="http://schemas.microsoft.com/office/drawing/2014/main" id="{07A1E709-73AA-44BA-9EE8-AA87BFD6DCDE}"/>
              </a:ext>
            </a:extLst>
          </p:cNvPr>
          <p:cNvSpPr>
            <a:spLocks noGrp="1"/>
          </p:cNvSpPr>
          <p:nvPr/>
        </p:nvSpPr>
        <p:spPr>
          <a:xfrm>
            <a:off x="9182100" y="2095500"/>
            <a:ext cx="2476500" cy="8286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GCore KV 写口</a:t>
            </a:r>
          </a:p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272bit + 坐标</a:t>
            </a:r>
          </a:p>
        </p:txBody>
      </p:sp>
      <p:sp>
        <p:nvSpPr>
          <p:cNvPr id="10" name="module-134">
            <a:extLst>
              <a:ext uri="{FF2B5EF4-FFF2-40B4-BE49-F238E27FC236}">
                <a16:creationId xmlns:a16="http://schemas.microsoft.com/office/drawing/2014/main" id="{DCFA3CC2-8552-48F5-BCDA-0D7C45D36B85}"/>
              </a:ext>
            </a:extLst>
          </p:cNvPr>
          <p:cNvSpPr>
            <a:spLocks noGrp="1"/>
          </p:cNvSpPr>
          <p:nvPr/>
        </p:nvSpPr>
        <p:spPr>
          <a:xfrm>
            <a:off x="2990850" y="4171950"/>
            <a:ext cx="2581275" cy="8286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FP FIFO ×8</a:t>
            </a:r>
          </a:p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1024bit × 4 / 核</a:t>
            </a:r>
          </a:p>
        </p:txBody>
      </p:sp>
      <p:sp>
        <p:nvSpPr>
          <p:cNvPr id="11" name="module-135">
            <a:extLst>
              <a:ext uri="{FF2B5EF4-FFF2-40B4-BE49-F238E27FC236}">
                <a16:creationId xmlns:a16="http://schemas.microsoft.com/office/drawing/2014/main" id="{1803E2CB-62EF-46E2-9590-5FBB57DBF508}"/>
              </a:ext>
            </a:extLst>
          </p:cNvPr>
          <p:cNvSpPr>
            <a:spLocks noGrp="1"/>
          </p:cNvSpPr>
          <p:nvPr/>
        </p:nvSpPr>
        <p:spPr>
          <a:xfrm>
            <a:off x="6153150" y="4171950"/>
            <a:ext cx="2447925" cy="8286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8 核对齐</a:t>
            </a:r>
          </a:p>
          <a:p>
            <a:pPr algn="ctr">
              <a:def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32 lane 归约树</a:t>
            </a:r>
          </a:p>
        </p:txBody>
      </p:sp>
      <p:sp>
        <p:nvSpPr>
          <p:cNvPr id="12" name="module-136">
            <a:extLst>
              <a:ext uri="{FF2B5EF4-FFF2-40B4-BE49-F238E27FC236}">
                <a16:creationId xmlns:a16="http://schemas.microsoft.com/office/drawing/2014/main" id="{EFA421CE-C7FA-4B6B-A983-ED16B63DFBCD}"/>
              </a:ext>
            </a:extLst>
          </p:cNvPr>
          <p:cNvSpPr>
            <a:spLocks noGrp="1"/>
          </p:cNvSpPr>
          <p:nvPr/>
        </p:nvSpPr>
        <p:spPr>
          <a:xfrm>
            <a:off x="9182100" y="4057650"/>
            <a:ext cx="2476500" cy="10572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出口 FIFO ×2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1024bit + 坐标</a:t>
            </a:r>
          </a:p>
          <a:p>
            <a:pPr algn="ctr">
              <a:def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GCore FP32 写口</a:t>
            </a:r>
          </a:p>
        </p:txBody>
      </p:sp>
      <p:sp>
        <p:nvSpPr>
          <p:cNvPr id="19" name="text-137">
            <a:extLst>
              <a:ext uri="{FF2B5EF4-FFF2-40B4-BE49-F238E27FC236}">
                <a16:creationId xmlns:a16="http://schemas.microsoft.com/office/drawing/2014/main" id="{B8255FEB-8448-4E01-B55D-8C3751E225A2}"/>
              </a:ext>
            </a:extLst>
          </p:cNvPr>
          <p:cNvSpPr>
            <a:spLocks noGrp="1"/>
          </p:cNvSpPr>
          <p:nvPr/>
        </p:nvSpPr>
        <p:spPr>
          <a:xfrm>
            <a:off x="533400" y="5438775"/>
            <a:ext cx="111252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K/V：有包就转发；O/Down：八核同坐标到齐再计算</a:t>
            </a:r>
          </a:p>
          <a:p>
            <a:pPr algn="l">
              <a:def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valid/ready 反压保持数据、坐标与身份同步</a:t>
            </a:r>
          </a:p>
        </p:txBody>
      </p:sp>
    </p:spTree>
    <p:extLst>
      <p:ext uri="{BB962C8B-B14F-4D97-AF65-F5344CB8AC3E}">
        <p14:creationId xmlns:p14="http://schemas.microsoft.com/office/powerpoint/2010/main" val="1463567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3581351-CAF9-4384-ABAB-7E8414EB724B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296275" y="4891088"/>
            <a:ext cx="75247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BDA8A75-33C1-491E-B985-C69262B9703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4295775" y="4891088"/>
            <a:ext cx="752475" cy="0"/>
          </a:xfrm>
          <a:prstGeom prst="straightConnector1">
            <a:avLst/>
          </a:prstGeom>
          <a:ln w="20955">
            <a:solidFill>
              <a:srgbClr val="245FA6"/>
            </a:solidFill>
            <a:prstDash val="solid"/>
            <a:tailEnd type="arrow" w="sm" len="sm"/>
          </a:ln>
        </p:spPr>
      </p:cxnSp>
      <p:sp>
        <p:nvSpPr>
          <p:cNvPr id="14" name="heading">
            <a:extLst>
              <a:ext uri="{FF2B5EF4-FFF2-40B4-BE49-F238E27FC236}">
                <a16:creationId xmlns:a16="http://schemas.microsoft.com/office/drawing/2014/main" id="{00980FD8-6752-40CD-8623-DA2AA0345614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Collective：K/V 拼接与 O/Down 求和</a:t>
            </a:r>
          </a:p>
        </p:txBody>
      </p:sp>
      <p:sp>
        <p:nvSpPr>
          <p:cNvPr id="2" name="text-139">
            <a:extLst>
              <a:ext uri="{FF2B5EF4-FFF2-40B4-BE49-F238E27FC236}">
                <a16:creationId xmlns:a16="http://schemas.microsoft.com/office/drawing/2014/main" id="{EFF539B8-8D69-4B7F-A48A-A8A1FFFCE978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分核方式决定数据组织，也决定是否需要算术归约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1528637C-1CD0-4C45-931A-2E486F26801F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140">
            <a:extLst>
              <a:ext uri="{FF2B5EF4-FFF2-40B4-BE49-F238E27FC236}">
                <a16:creationId xmlns:a16="http://schemas.microsoft.com/office/drawing/2014/main" id="{74FB0279-0E1D-4311-805D-2318B2E53564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依据：Collective/README.md，dea8_collective_reduce.sv</a:t>
            </a:r>
          </a:p>
        </p:txBody>
      </p:sp>
      <p:sp>
        <p:nvSpPr>
          <p:cNvPr id="5" name="text-141">
            <a:extLst>
              <a:ext uri="{FF2B5EF4-FFF2-40B4-BE49-F238E27FC236}">
                <a16:creationId xmlns:a16="http://schemas.microsoft.com/office/drawing/2014/main" id="{D27C4CA0-99F4-40EC-AFBC-F1D79E9EA501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ADDC75D-536E-497F-B209-6CDB2F5ADB5C}"/>
              </a:ext>
            </a:extLst>
          </p:cNvPr>
          <p:cNvGraphicFramePr/>
          <p:nvPr/>
        </p:nvGraphicFramePr>
        <p:xfrm>
          <a:off x="533400" y="1809750"/>
          <a:ext cx="11125200" cy="1628775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源端分核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Collective 工作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输出包数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/ V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 feature 列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按坐标摆放，保留各自 scale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K：416，V：512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/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同坐标的不同 K 维贡献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 lane 八输入 FP32 求和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88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1,664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-142">
            <a:extLst>
              <a:ext uri="{FF2B5EF4-FFF2-40B4-BE49-F238E27FC236}">
                <a16:creationId xmlns:a16="http://schemas.microsoft.com/office/drawing/2014/main" id="{1731D201-A46E-4EF2-85E0-6AF3FFE9ACDD}"/>
              </a:ext>
            </a:extLst>
          </p:cNvPr>
          <p:cNvSpPr>
            <a:spLocks noGrp="1"/>
          </p:cNvSpPr>
          <p:nvPr/>
        </p:nvSpPr>
        <p:spPr>
          <a:xfrm>
            <a:off x="533400" y="3829050"/>
            <a:ext cx="111252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每 lane 的固定树形求和</a:t>
            </a:r>
          </a:p>
        </p:txBody>
      </p:sp>
      <p:sp>
        <p:nvSpPr>
          <p:cNvPr id="8" name="module-143">
            <a:extLst>
              <a:ext uri="{FF2B5EF4-FFF2-40B4-BE49-F238E27FC236}">
                <a16:creationId xmlns:a16="http://schemas.microsoft.com/office/drawing/2014/main" id="{53352E98-625E-43B8-91B0-D5D9A2B04C6D}"/>
              </a:ext>
            </a:extLst>
          </p:cNvPr>
          <p:cNvSpPr>
            <a:spLocks noGrp="1"/>
          </p:cNvSpPr>
          <p:nvPr/>
        </p:nvSpPr>
        <p:spPr>
          <a:xfrm>
            <a:off x="533400" y="4495800"/>
            <a:ext cx="3762375" cy="790575"/>
          </a:xfrm>
          <a:prstGeom prst="rect">
            <a:avLst/>
          </a:prstGeom>
          <a:solidFill>
            <a:srgbClr val="EDF3FA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(0+1)  (2+3)</a:t>
            </a:r>
          </a:p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(4+5)  (6+7)</a:t>
            </a:r>
          </a:p>
        </p:txBody>
      </p:sp>
      <p:sp>
        <p:nvSpPr>
          <p:cNvPr id="9" name="module-144">
            <a:extLst>
              <a:ext uri="{FF2B5EF4-FFF2-40B4-BE49-F238E27FC236}">
                <a16:creationId xmlns:a16="http://schemas.microsoft.com/office/drawing/2014/main" id="{1B7B7D53-0346-4045-8BCE-7B16DBEEAE5D}"/>
              </a:ext>
            </a:extLst>
          </p:cNvPr>
          <p:cNvSpPr>
            <a:spLocks noGrp="1"/>
          </p:cNvSpPr>
          <p:nvPr/>
        </p:nvSpPr>
        <p:spPr>
          <a:xfrm>
            <a:off x="5048250" y="4495800"/>
            <a:ext cx="3248025" cy="7905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两组两两求和</a:t>
            </a:r>
          </a:p>
        </p:txBody>
      </p:sp>
      <p:sp>
        <p:nvSpPr>
          <p:cNvPr id="10" name="module-145">
            <a:extLst>
              <a:ext uri="{FF2B5EF4-FFF2-40B4-BE49-F238E27FC236}">
                <a16:creationId xmlns:a16="http://schemas.microsoft.com/office/drawing/2014/main" id="{E4A63D8A-89B4-4C1B-B813-6CE288B22DDC}"/>
              </a:ext>
            </a:extLst>
          </p:cNvPr>
          <p:cNvSpPr>
            <a:spLocks noGrp="1"/>
          </p:cNvSpPr>
          <p:nvPr/>
        </p:nvSpPr>
        <p:spPr>
          <a:xfrm>
            <a:off x="9048750" y="4495800"/>
            <a:ext cx="2609850" cy="790575"/>
          </a:xfrm>
          <a:prstGeom prst="rect">
            <a:avLst/>
          </a:prstGeom>
          <a:solidFill>
            <a:srgbClr val="EDF6F2"/>
          </a:solidFill>
          <a:ln w="11430">
            <a:solidFill>
              <a:srgbClr val="C9D0D8"/>
            </a:solidFill>
          </a:ln>
        </p:spPr>
        <p:txBody>
          <a:bodyPr lIns="76200" tIns="76200" rIns="76200" bIns="76200" anchor="ctr"/>
          <a:lstStyle>
            <a:def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最终 FP32 和</a:t>
            </a:r>
          </a:p>
        </p:txBody>
      </p:sp>
      <p:sp>
        <p:nvSpPr>
          <p:cNvPr id="13" name="text-146">
            <a:extLst>
              <a:ext uri="{FF2B5EF4-FFF2-40B4-BE49-F238E27FC236}">
                <a16:creationId xmlns:a16="http://schemas.microsoft.com/office/drawing/2014/main" id="{33C1FCEC-C0F0-4B82-BE0B-4394110EB11D}"/>
              </a:ext>
            </a:extLst>
          </p:cNvPr>
          <p:cNvSpPr>
            <a:spLocks noGrp="1"/>
          </p:cNvSpPr>
          <p:nvPr/>
        </p:nvSpPr>
        <p:spPr>
          <a:xfrm>
            <a:off x="533400" y="5848350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37F6B"/>
                </a:solidFill>
                <a:latin typeface="Microsoft YaHei"/>
                <a:ea typeface="Microsoft YaHei"/>
                <a:cs typeface="Microsoft YaHei"/>
              </a:rPr>
              <a:t>三层树 × 每节点 4 拍 = 12 个推进拍；无反压时 II=1</a:t>
            </a:r>
          </a:p>
        </p:txBody>
      </p:sp>
    </p:spTree>
    <p:extLst>
      <p:ext uri="{BB962C8B-B14F-4D97-AF65-F5344CB8AC3E}">
        <p14:creationId xmlns:p14="http://schemas.microsoft.com/office/powerpoint/2010/main" val="1897802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ading">
            <a:extLst>
              <a:ext uri="{FF2B5EF4-FFF2-40B4-BE49-F238E27FC236}">
                <a16:creationId xmlns:a16="http://schemas.microsoft.com/office/drawing/2014/main" id="{B2B62BEB-A44B-47DC-8210-30B473428EA2}"/>
              </a:ext>
            </a:extLst>
          </p:cNvPr>
          <p:cNvSpPr>
            <a:spLocks noGrp="1"/>
          </p:cNvSpPr>
          <p:nvPr/>
        </p:nvSpPr>
        <p:spPr>
          <a:xfrm>
            <a:off x="533400" y="371475"/>
            <a:ext cx="111252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Collective 模块证据与后续工作</a:t>
            </a:r>
          </a:p>
        </p:txBody>
      </p:sp>
      <p:sp>
        <p:nvSpPr>
          <p:cNvPr id="2" name="text-148">
            <a:extLst>
              <a:ext uri="{FF2B5EF4-FFF2-40B4-BE49-F238E27FC236}">
                <a16:creationId xmlns:a16="http://schemas.microsoft.com/office/drawing/2014/main" id="{7F1A3627-01BE-439B-AECD-61C27C25BF3E}"/>
              </a:ext>
            </a:extLst>
          </p:cNvPr>
          <p:cNvSpPr>
            <a:spLocks noGrp="1"/>
          </p:cNvSpPr>
          <p:nvPr/>
        </p:nvSpPr>
        <p:spPr>
          <a:xfrm>
            <a:off x="533400" y="1076325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已完成独立模块验证，八核真实链路结果后续补充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00D6D48-D63D-42F2-B444-F8D56C432699}"/>
              </a:ext>
            </a:extLst>
          </p:cNvPr>
          <p:cNvSpPr>
            <a:spLocks noGrp="1"/>
          </p:cNvSpPr>
          <p:nvPr/>
        </p:nvSpPr>
        <p:spPr>
          <a:xfrm>
            <a:off x="533400" y="1552575"/>
            <a:ext cx="11125200" cy="0"/>
          </a:xfrm>
          <a:prstGeom prst="line">
            <a:avLst/>
          </a:prstGeom>
          <a:ln w="9525">
            <a:solidFill>
              <a:srgbClr val="C9D0D8"/>
            </a:solidFill>
          </a:ln>
        </p:spPr>
      </p:sp>
      <p:sp>
        <p:nvSpPr>
          <p:cNvPr id="4" name="text-149">
            <a:extLst>
              <a:ext uri="{FF2B5EF4-FFF2-40B4-BE49-F238E27FC236}">
                <a16:creationId xmlns:a16="http://schemas.microsoft.com/office/drawing/2014/main" id="{335ECD9B-D244-408E-8948-3031BEA703E5}"/>
              </a:ext>
            </a:extLst>
          </p:cNvPr>
          <p:cNvSpPr>
            <a:spLocks noGrp="1"/>
          </p:cNvSpPr>
          <p:nvPr/>
        </p:nvSpPr>
        <p:spPr>
          <a:xfrm>
            <a:off x="533400" y="6362700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依据：tb_collective.log，simulation_summary.txt</a:t>
            </a:r>
          </a:p>
        </p:txBody>
      </p:sp>
      <p:sp>
        <p:nvSpPr>
          <p:cNvPr id="5" name="text-150">
            <a:extLst>
              <a:ext uri="{FF2B5EF4-FFF2-40B4-BE49-F238E27FC236}">
                <a16:creationId xmlns:a16="http://schemas.microsoft.com/office/drawing/2014/main" id="{6E4D19CE-EA33-4AF7-A7A9-1A21FDC5FC57}"/>
              </a:ext>
            </a:extLst>
          </p:cNvPr>
          <p:cNvSpPr>
            <a:spLocks noGrp="1"/>
          </p:cNvSpPr>
          <p:nvPr/>
        </p:nvSpPr>
        <p:spPr>
          <a:xfrm>
            <a:off x="11334750" y="6362700"/>
            <a:ext cx="3238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976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1F587A2-D56D-45B8-9014-EFF6BE196CE5}"/>
              </a:ext>
            </a:extLst>
          </p:cNvPr>
          <p:cNvGraphicFramePr/>
          <p:nvPr/>
        </p:nvGraphicFramePr>
        <p:xfrm>
          <a:off x="533400" y="1809750"/>
          <a:ext cx="11125200" cy="2171700"/>
        </p:xfrm>
        <a:graphic>
          <a:graphicData uri="http://schemas.openxmlformats.org/drawingml/2006/table">
            <a:tbl>
              <a:tblPr/>
              <a:tblGrid>
                <a:gridCol w="28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模块测试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输出检查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anchor="ctr">
                    <a:solidFill>
                      <a:srgbClr val="245FA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 / V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416 / 512 包，完整数据与 scale 坐标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/ 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 1,664 包，树形 FP32 数值比较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925"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协议与恢复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反压、树暂停、8 项异常、恢复重启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3" b="0">
                          <a:solidFill>
                            <a:srgbClr val="202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PASS</a:t>
                      </a: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151">
            <a:extLst>
              <a:ext uri="{FF2B5EF4-FFF2-40B4-BE49-F238E27FC236}">
                <a16:creationId xmlns:a16="http://schemas.microsoft.com/office/drawing/2014/main" id="{0650F18E-9676-4D6B-90D0-9D39FFBCE64D}"/>
              </a:ext>
            </a:extLst>
          </p:cNvPr>
          <p:cNvSpPr>
            <a:spLocks noGrp="1"/>
          </p:cNvSpPr>
          <p:nvPr/>
        </p:nvSpPr>
        <p:spPr>
          <a:xfrm>
            <a:off x="533400" y="4324350"/>
            <a:ext cx="1112520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FA6"/>
                </a:solidFill>
                <a:latin typeface="Microsoft YaHei"/>
                <a:ea typeface="Microsoft YaHei"/>
                <a:cs typeface="Microsoft YaHei"/>
              </a:rPr>
              <a:t>后续补充的工作</a:t>
            </a:r>
          </a:p>
        </p:txBody>
      </p:sp>
      <p:sp>
        <p:nvSpPr>
          <p:cNvPr id="8" name="text-152">
            <a:extLst>
              <a:ext uri="{FF2B5EF4-FFF2-40B4-BE49-F238E27FC236}">
                <a16:creationId xmlns:a16="http://schemas.microsoft.com/office/drawing/2014/main" id="{57608075-EF5E-48BD-9045-BB546E8A0080}"/>
              </a:ext>
            </a:extLst>
          </p:cNvPr>
          <p:cNvSpPr>
            <a:spLocks noGrp="1"/>
          </p:cNvSpPr>
          <p:nvPr/>
        </p:nvSpPr>
        <p:spPr>
          <a:xfrm>
            <a:off x="533400" y="4914900"/>
            <a:ext cx="1112520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八核完整 Job 链路的数值、同步和周期结果</a:t>
            </a:r>
          </a:p>
          <a:p>
            <a: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实际 SFU / VPU 接入后的并行隐藏效果</a:t>
            </a:r>
          </a:p>
          <a:p>
            <a:pPr algn="l">
              <a:def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2A35"/>
                </a:solidFill>
                <a:latin typeface="Microsoft YaHei"/>
                <a:ea typeface="Microsoft YaHei"/>
                <a:cs typeface="Microsoft YaHei"/>
              </a:rPr>
              <a:t>整核资源、250 MHz 时序与系统供数评估</a:t>
            </a:r>
          </a:p>
        </p:txBody>
      </p:sp>
    </p:spTree>
    <p:extLst>
      <p:ext uri="{BB962C8B-B14F-4D97-AF65-F5344CB8AC3E}">
        <p14:creationId xmlns:p14="http://schemas.microsoft.com/office/powerpoint/2010/main" val="18333445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3411</Words>
  <Application>Microsoft Office PowerPoint</Application>
  <DocSecurity>0</DocSecurity>
  <PresentationFormat>宽屏</PresentationFormat>
  <Paragraphs>419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fei zhao</cp:lastModifiedBy>
  <cp:revision>4</cp:revision>
  <dcterms:created xsi:type="dcterms:W3CDTF">2026-10-08T22:43:44Z</dcterms:created>
  <dcterms:modified xsi:type="dcterms:W3CDTF">2026-10-10T05:05:08Z</dcterms:modified>
</cp:coreProperties>
</file>