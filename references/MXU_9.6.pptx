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7" r:id="rId2"/>
    <p:sldId id="280" r:id="rId3"/>
    <p:sldId id="281" r:id="rId4"/>
    <p:sldId id="282" r:id="rId5"/>
    <p:sldId id="274" r:id="rId6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  <p:cmAuthor id="2" name="fei zhao" initials="fz" lastIdx="1" clrIdx="1">
    <p:extLst>
      <p:ext uri="{19B8F6BF-5375-455C-9EA6-DF929625EA0E}">
        <p15:presenceInfo xmlns:p15="http://schemas.microsoft.com/office/powerpoint/2012/main" userId="43de4669f2a96d4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5E8474"/>
    <a:srgbClr val="608878"/>
    <a:srgbClr val="5B8173"/>
    <a:srgbClr val="55796D"/>
    <a:srgbClr val="8B9F35"/>
    <a:srgbClr val="56796D"/>
    <a:srgbClr val="32534D"/>
    <a:srgbClr val="D9DDD6"/>
    <a:srgbClr val="6788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243" y="246"/>
      </p:cViewPr>
      <p:guideLst>
        <p:guide orient="horz" pos="216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2026/9/4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6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image" Target="../media/image8.png"/><Relationship Id="rId4" Type="http://schemas.openxmlformats.org/officeDocument/2006/relationships/tags" Target="../tags/tag14.xml"/><Relationship Id="rId9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9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4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8.xml"/><Relationship Id="rId4" Type="http://schemas.openxmlformats.org/officeDocument/2006/relationships/tags" Target="../tags/tag57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0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6" name="图片 5" descr="建筑-14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8" name="图片 7" descr="建筑_画板 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2262505" y="3310255"/>
            <a:ext cx="6789600" cy="3117029"/>
          </a:xfrm>
          <a:prstGeom prst="rect">
            <a:avLst/>
          </a:prstGeom>
        </p:spPr>
      </p:pic>
      <p:pic>
        <p:nvPicPr>
          <p:cNvPr id="10" name="图片 9" descr="建筑_画板 1 副本 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217670" y="3757930"/>
            <a:ext cx="7974000" cy="26694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底图-09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pic>
        <p:nvPicPr>
          <p:cNvPr id="4" name="图片 3" descr="建筑-14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8" name="图片 7" descr="建筑_画板 1 副本 12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8113395" y="2303145"/>
            <a:ext cx="4525200" cy="4258253"/>
          </a:xfrm>
          <a:prstGeom prst="rect">
            <a:avLst/>
          </a:prstGeom>
        </p:spPr>
      </p:pic>
      <p:pic>
        <p:nvPicPr>
          <p:cNvPr id="9" name="图片 8" descr="建筑_画板 1 副本 8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760095" y="3333750"/>
            <a:ext cx="9288000" cy="31093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bg>
      <p:bgPr>
        <a:solidFill>
          <a:srgbClr val="5E84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底图-02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>
            <a:alphaModFix amt="50000"/>
          </a:blip>
          <a:stretch>
            <a:fillRect/>
          </a:stretch>
        </p:blipFill>
        <p:spPr>
          <a:xfrm>
            <a:off x="0" y="2218690"/>
            <a:ext cx="12192000" cy="435229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5" name="图片 4" descr="建筑-14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>
            <a:alphaModFix amt="10000"/>
          </a:blip>
          <a:stretch>
            <a:fillRect/>
          </a:stretch>
        </p:blipFill>
        <p:spPr>
          <a:xfrm>
            <a:off x="4404995" y="1135380"/>
            <a:ext cx="3321050" cy="3249930"/>
          </a:xfrm>
          <a:prstGeom prst="rect">
            <a:avLst/>
          </a:prstGeom>
        </p:spPr>
      </p:pic>
      <p:pic>
        <p:nvPicPr>
          <p:cNvPr id="6" name="图片 5" descr="底图-0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-798830" y="5560060"/>
            <a:ext cx="13790295" cy="141351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2026/9/4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tags" Target="../tags/tag7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70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10" Type="http://schemas.openxmlformats.org/officeDocument/2006/relationships/image" Target="../media/image11.png"/><Relationship Id="rId4" Type="http://schemas.openxmlformats.org/officeDocument/2006/relationships/tags" Target="../tags/tag71.xml"/><Relationship Id="rId9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12" Type="http://schemas.openxmlformats.org/officeDocument/2006/relationships/image" Target="../media/image14.png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image" Target="../media/image13.png"/><Relationship Id="rId5" Type="http://schemas.openxmlformats.org/officeDocument/2006/relationships/tags" Target="../tags/tag78.xml"/><Relationship Id="rId10" Type="http://schemas.openxmlformats.org/officeDocument/2006/relationships/image" Target="../media/image12.png"/><Relationship Id="rId4" Type="http://schemas.openxmlformats.org/officeDocument/2006/relationships/tags" Target="../tags/tag77.xml"/><Relationship Id="rId9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15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13.png"/><Relationship Id="rId5" Type="http://schemas.openxmlformats.org/officeDocument/2006/relationships/tags" Target="../tags/tag86.xml"/><Relationship Id="rId10" Type="http://schemas.openxmlformats.org/officeDocument/2006/relationships/image" Target="../media/image12.png"/><Relationship Id="rId4" Type="http://schemas.openxmlformats.org/officeDocument/2006/relationships/tags" Target="../tags/tag85.xml"/><Relationship Id="rId9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image" Target="../media/image16.png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image" Target="../media/image13.png"/><Relationship Id="rId5" Type="http://schemas.openxmlformats.org/officeDocument/2006/relationships/tags" Target="../tags/tag94.xml"/><Relationship Id="rId10" Type="http://schemas.openxmlformats.org/officeDocument/2006/relationships/image" Target="../media/image12.png"/><Relationship Id="rId4" Type="http://schemas.openxmlformats.org/officeDocument/2006/relationships/tags" Target="../tags/tag93.xml"/><Relationship Id="rId9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00.xml"/><Relationship Id="rId7" Type="http://schemas.openxmlformats.org/officeDocument/2006/relationships/image" Target="../media/image17.jpeg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84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873734" y="2317418"/>
            <a:ext cx="84445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/>
                <a:ea typeface="微软雅黑"/>
                <a:cs typeface="+mn-cs"/>
              </a:rPr>
              <a:t>MXU</a:t>
            </a:r>
            <a:endParaRPr kumimoji="0" lang="en-US" altLang="zh-CN" sz="7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4735952" y="3833983"/>
            <a:ext cx="283330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zh-CN" altLang="en-US" sz="2400" b="1" u="sng" dirty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书魂体简" panose="02010609000101010101" pitchFamily="49" charset="-122"/>
                <a:ea typeface="汉仪书魂体简" panose="02010609000101010101" pitchFamily="49" charset="-122"/>
                <a:cs typeface="+mj-lt"/>
              </a:rPr>
              <a:t>组会汇报</a:t>
            </a:r>
            <a:endParaRPr lang="en-US" altLang="zh-CN" sz="2400" b="1" u="sng" dirty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书魂体简" panose="02010609000101010101" pitchFamily="49" charset="-122"/>
              <a:ea typeface="汉仪书魂体简" panose="02010609000101010101" pitchFamily="49" charset="-122"/>
              <a:cs typeface="+mj-lt"/>
            </a:endParaRPr>
          </a:p>
        </p:txBody>
      </p:sp>
      <p:pic>
        <p:nvPicPr>
          <p:cNvPr id="10" name="图片 9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308610" y="391795"/>
            <a:ext cx="1440000" cy="461303"/>
          </a:xfrm>
          <a:prstGeom prst="rect">
            <a:avLst/>
          </a:prstGeom>
          <a:noFill/>
          <a:effectLst>
            <a:outerShdw blurRad="12700" dist="25400" dir="2700000" sx="99000" sy="99000" algn="tl" rotWithShape="0">
              <a:prstClr val="black">
                <a:alpha val="25000"/>
              </a:prstClr>
            </a:outerShdw>
          </a:effectLst>
        </p:spPr>
      </p:pic>
      <p:pic>
        <p:nvPicPr>
          <p:cNvPr id="11" name="图片 10" descr="底图-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603615" y="229870"/>
            <a:ext cx="1870710" cy="78486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片 12" descr="未标题-2_画板 1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0214610" y="363220"/>
            <a:ext cx="1870710" cy="565150"/>
          </a:xfrm>
          <a:prstGeom prst="rect">
            <a:avLst/>
          </a:prstGeom>
          <a:effectLst>
            <a:outerShdw blurRad="50800" dist="127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2EF22E7D-35FF-03CA-65D3-4169352E8CE0}"/>
              </a:ext>
            </a:extLst>
          </p:cNvPr>
          <p:cNvSpPr txBox="1"/>
          <p:nvPr/>
        </p:nvSpPr>
        <p:spPr>
          <a:xfrm>
            <a:off x="9757386" y="5750659"/>
            <a:ext cx="18738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endParaRPr kumimoji="1"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17982" y="-6621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952796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01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i="0" dirty="0">
                <a:solidFill>
                  <a:schemeClr val="bg1"/>
                </a:solidFill>
                <a:effectLst/>
                <a:latin typeface="Helvetica" panose="020B0604020202020204" pitchFamily="34" charset="0"/>
              </a:rPr>
              <a:t>Weight Stationary</a:t>
            </a:r>
            <a:endParaRPr lang="zh-CN" altLang="en-US" sz="2400" b="1" dirty="0">
              <a:solidFill>
                <a:schemeClr val="bg1"/>
              </a:solidFill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1CBEC49-C65C-4118-BCD1-6F0B2049BAF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157" y="1003186"/>
            <a:ext cx="5602195" cy="428119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B579FF3-B82A-4766-951B-A00EF1E9B9A2}"/>
              </a:ext>
            </a:extLst>
          </p:cNvPr>
          <p:cNvSpPr txBox="1"/>
          <p:nvPr/>
        </p:nvSpPr>
        <p:spPr>
          <a:xfrm>
            <a:off x="5798288" y="1127051"/>
            <a:ext cx="46080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A tile:51×16    B tile:16×16  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16cycles</a:t>
            </a:r>
            <a:r>
              <a:rPr lang="zh-CN" altLang="en-US" sz="1400" dirty="0"/>
              <a:t>加载</a:t>
            </a:r>
            <a:r>
              <a:rPr lang="en-US" altLang="zh-CN" sz="1400" dirty="0"/>
              <a:t>B</a:t>
            </a:r>
            <a:r>
              <a:rPr lang="zh-CN" altLang="en-US" sz="1400" dirty="0"/>
              <a:t>，</a:t>
            </a:r>
            <a:r>
              <a:rPr lang="en-US" altLang="zh-CN" sz="1400" dirty="0"/>
              <a:t>A</a:t>
            </a:r>
            <a:r>
              <a:rPr lang="zh-CN" altLang="en-US" sz="1400" dirty="0"/>
              <a:t>按</a:t>
            </a:r>
            <a:r>
              <a:rPr lang="en-US" altLang="zh-CN" sz="1400" dirty="0"/>
              <a:t>m</a:t>
            </a:r>
            <a:r>
              <a:rPr lang="zh-CN" altLang="en-US" sz="1400" dirty="0"/>
              <a:t>维</a:t>
            </a:r>
            <a:r>
              <a:rPr lang="en-US" altLang="zh-CN" sz="1400" dirty="0"/>
              <a:t>16</a:t>
            </a:r>
            <a:r>
              <a:rPr lang="zh-CN" altLang="en-US" sz="1400" dirty="0"/>
              <a:t>路扇出至</a:t>
            </a:r>
            <a:r>
              <a:rPr lang="en-US" altLang="zh-CN" sz="1400" dirty="0"/>
              <a:t>16</a:t>
            </a:r>
            <a:r>
              <a:rPr lang="zh-CN" altLang="en-US" sz="1400" dirty="0"/>
              <a:t>路输出通道（</a:t>
            </a:r>
            <a:r>
              <a:rPr lang="en-US" altLang="zh-CN" sz="1400" dirty="0"/>
              <a:t>N=16</a:t>
            </a:r>
            <a:r>
              <a:rPr lang="zh-CN" altLang="en-US" sz="1400" dirty="0"/>
              <a:t>）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1cycle</a:t>
            </a:r>
            <a:r>
              <a:rPr lang="zh-CN" altLang="en-US" sz="1400" dirty="0"/>
              <a:t>完成</a:t>
            </a:r>
            <a:r>
              <a:rPr lang="en-US" altLang="zh-CN" sz="1400" dirty="0"/>
              <a:t>X[m</a:t>
            </a:r>
            <a:r>
              <a:rPr lang="zh-CN" altLang="en-US" sz="1400" dirty="0"/>
              <a:t>，</a:t>
            </a:r>
            <a:r>
              <a:rPr lang="en-US" altLang="zh-CN" sz="1400" dirty="0"/>
              <a:t>0-15] ×W[0-15</a:t>
            </a:r>
            <a:r>
              <a:rPr lang="zh-CN" altLang="en-US" sz="1400" dirty="0"/>
              <a:t>，</a:t>
            </a:r>
            <a:r>
              <a:rPr lang="en-US" altLang="zh-CN" sz="1400" dirty="0"/>
              <a:t>0-15] </a:t>
            </a:r>
            <a:r>
              <a:rPr lang="zh-CN" altLang="en-US" sz="1400" dirty="0"/>
              <a:t>共</a:t>
            </a:r>
            <a:r>
              <a:rPr lang="en-US" altLang="zh-CN" sz="1400" dirty="0"/>
              <a:t>256</a:t>
            </a:r>
            <a:r>
              <a:rPr lang="zh-CN" altLang="en-US" sz="1400" dirty="0"/>
              <a:t>次乘法运算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51A57F-2A7F-4BCB-BD3E-6AA968160383}"/>
              </a:ext>
            </a:extLst>
          </p:cNvPr>
          <p:cNvSpPr txBox="1"/>
          <p:nvPr/>
        </p:nvSpPr>
        <p:spPr>
          <a:xfrm>
            <a:off x="5863856" y="2716619"/>
            <a:ext cx="46464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16</a:t>
            </a:r>
            <a:r>
              <a:rPr lang="zh-CN" altLang="en-US" sz="1400" dirty="0"/>
              <a:t>组四级加法树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每组加法树按</a:t>
            </a:r>
            <a:r>
              <a:rPr lang="en-US" altLang="zh-CN" sz="1400" dirty="0"/>
              <a:t>N</a:t>
            </a:r>
            <a:r>
              <a:rPr lang="zh-CN" altLang="en-US" sz="1400" dirty="0"/>
              <a:t>维累加</a:t>
            </a:r>
            <a:r>
              <a:rPr lang="en-US" altLang="zh-CN" sz="1400" dirty="0"/>
              <a:t>16</a:t>
            </a:r>
            <a:r>
              <a:rPr lang="zh-CN" altLang="en-US" sz="1400" dirty="0"/>
              <a:t>个</a:t>
            </a:r>
            <a:r>
              <a:rPr lang="en-US" altLang="zh-CN" sz="1400" dirty="0"/>
              <a:t>PE</a:t>
            </a:r>
            <a:r>
              <a:rPr lang="zh-CN" altLang="en-US" sz="1400" dirty="0"/>
              <a:t>结果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1400" dirty="0"/>
              <a:t>第四级加法树结果直接写入</a:t>
            </a:r>
            <a:r>
              <a:rPr lang="en-US" altLang="zh-CN" sz="1400" dirty="0" err="1"/>
              <a:t>Psum_out_REG</a:t>
            </a:r>
            <a:r>
              <a:rPr lang="zh-CN" altLang="en-US" sz="1400" dirty="0"/>
              <a:t>（共</a:t>
            </a:r>
            <a:r>
              <a:rPr lang="en-US" altLang="zh-CN" sz="1400" dirty="0"/>
              <a:t>16</a:t>
            </a:r>
            <a:r>
              <a:rPr lang="zh-CN" altLang="en-US" sz="1400" dirty="0"/>
              <a:t>个</a:t>
            </a:r>
            <a:r>
              <a:rPr lang="en-US" altLang="zh-CN" sz="1400" dirty="0"/>
              <a:t>int32Psum)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C138AB-63E6-474A-98EB-EFAE648BF67D}"/>
              </a:ext>
            </a:extLst>
          </p:cNvPr>
          <p:cNvSpPr txBox="1"/>
          <p:nvPr/>
        </p:nvSpPr>
        <p:spPr>
          <a:xfrm>
            <a:off x="5980813" y="3891516"/>
            <a:ext cx="523121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PE:2</a:t>
            </a:r>
            <a:r>
              <a:rPr lang="zh-CN" altLang="en-US" sz="1400" dirty="0"/>
              <a:t>个</a:t>
            </a:r>
            <a:r>
              <a:rPr lang="en-US" altLang="zh-CN" sz="1400" dirty="0"/>
              <a:t>8b</a:t>
            </a:r>
            <a:r>
              <a:rPr lang="zh-CN" altLang="en-US" sz="1400" dirty="0"/>
              <a:t>权重寄存器   </a:t>
            </a:r>
            <a:r>
              <a:rPr lang="en-US" altLang="zh-CN" sz="1400" dirty="0"/>
              <a:t>1</a:t>
            </a:r>
            <a:r>
              <a:rPr lang="zh-CN" altLang="en-US" sz="1400" dirty="0"/>
              <a:t>个</a:t>
            </a:r>
            <a:r>
              <a:rPr lang="en-US" altLang="zh-CN" sz="1400" dirty="0"/>
              <a:t>INT8</a:t>
            </a:r>
            <a:r>
              <a:rPr lang="zh-CN" altLang="en-US" sz="1400" dirty="0"/>
              <a:t>乘法器   </a:t>
            </a:r>
            <a:r>
              <a:rPr lang="en-US" altLang="zh-CN" sz="1400" dirty="0"/>
              <a:t> 1×16b</a:t>
            </a:r>
            <a:r>
              <a:rPr lang="zh-CN" altLang="en-US" sz="1400" dirty="0"/>
              <a:t>乘积寄存器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/>
              <a:t>w_reg</a:t>
            </a:r>
            <a:r>
              <a:rPr lang="en-US" altLang="zh-CN" sz="1400" dirty="0"/>
              <a:t> </a:t>
            </a:r>
            <a:r>
              <a:rPr lang="zh-CN" altLang="en-US" sz="1400" dirty="0"/>
              <a:t>双缓冲：</a:t>
            </a:r>
            <a:r>
              <a:rPr lang="en-US" altLang="zh-CN" sz="1400" dirty="0"/>
              <a:t>active bank</a:t>
            </a:r>
            <a:r>
              <a:rPr lang="zh-CN" altLang="en-US" sz="1400" dirty="0"/>
              <a:t>参与计算，</a:t>
            </a:r>
            <a:r>
              <a:rPr lang="en-US" altLang="zh-CN" sz="1400" dirty="0"/>
              <a:t>inactive bank</a:t>
            </a:r>
            <a:r>
              <a:rPr lang="zh-CN" altLang="en-US" sz="1400" dirty="0"/>
              <a:t>加载下一个</a:t>
            </a:r>
            <a:r>
              <a:rPr lang="en-US" altLang="zh-CN" sz="1400" dirty="0" err="1"/>
              <a:t>Wtile</a:t>
            </a:r>
            <a:r>
              <a:rPr lang="zh-CN" altLang="en-US" sz="1400" dirty="0"/>
              <a:t>，</a:t>
            </a:r>
            <a:r>
              <a:rPr lang="en-US" altLang="zh-CN" sz="1400" dirty="0"/>
              <a:t>active-bank mux</a:t>
            </a:r>
            <a:r>
              <a:rPr lang="zh-CN" altLang="en-US" sz="1400" dirty="0"/>
              <a:t>切换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PE[k</a:t>
            </a:r>
            <a:r>
              <a:rPr lang="zh-CN" altLang="en-US" sz="1400" dirty="0"/>
              <a:t>，</a:t>
            </a:r>
            <a:r>
              <a:rPr lang="en-US" altLang="zh-CN" sz="1400" dirty="0"/>
              <a:t>n]</a:t>
            </a:r>
            <a:r>
              <a:rPr lang="zh-CN" altLang="en-US" sz="1400" dirty="0"/>
              <a:t>接收来自</a:t>
            </a:r>
            <a:r>
              <a:rPr lang="en-US" altLang="zh-CN" sz="1400" dirty="0"/>
              <a:t>activation input register</a:t>
            </a:r>
            <a:r>
              <a:rPr lang="zh-CN" altLang="en-US" sz="1400" dirty="0"/>
              <a:t>的</a:t>
            </a:r>
            <a:r>
              <a:rPr lang="en-US" altLang="zh-CN" sz="1400" dirty="0"/>
              <a:t>X[</a:t>
            </a:r>
            <a:r>
              <a:rPr lang="en-US" altLang="zh-CN" sz="1400" dirty="0" err="1"/>
              <a:t>m,k</a:t>
            </a:r>
            <a:r>
              <a:rPr lang="en-US" altLang="zh-CN" sz="1400" dirty="0"/>
              <a:t>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Product Reg </a:t>
            </a:r>
            <a:r>
              <a:rPr lang="zh-CN" altLang="en-US" sz="1400" dirty="0"/>
              <a:t>存放</a:t>
            </a:r>
            <a:r>
              <a:rPr lang="en-US" altLang="zh-CN" sz="1400" dirty="0"/>
              <a:t>int16</a:t>
            </a:r>
            <a:r>
              <a:rPr lang="zh-CN" altLang="en-US" sz="1400" dirty="0"/>
              <a:t>计算结果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8886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7950" y="-4912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54675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1" y="360362"/>
            <a:ext cx="64667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zh-CN" altLang="en-US" sz="2400" b="1" dirty="0">
                <a:solidFill>
                  <a:schemeClr val="bg1"/>
                </a:solidFill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流水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5C2674E-3611-4778-B160-DDDFBF3392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1943" y="929316"/>
            <a:ext cx="4868840" cy="576384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ED80A93-9A5F-40B0-B872-8D079479DA4E}"/>
              </a:ext>
            </a:extLst>
          </p:cNvPr>
          <p:cNvSpPr txBox="1"/>
          <p:nvPr/>
        </p:nvSpPr>
        <p:spPr>
          <a:xfrm>
            <a:off x="7264813" y="1378319"/>
            <a:ext cx="3781647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Stream Unpack:</a:t>
            </a:r>
            <a:r>
              <a:rPr lang="zh-CN" altLang="en-US" sz="1400" dirty="0"/>
              <a:t>把 </a:t>
            </a:r>
            <a:r>
              <a:rPr lang="en-US" altLang="zh-CN" sz="1400" dirty="0"/>
              <a:t>9 </a:t>
            </a:r>
            <a:r>
              <a:rPr lang="zh-CN" altLang="en-US" sz="1400" dirty="0"/>
              <a:t>个 </a:t>
            </a:r>
            <a:r>
              <a:rPr lang="en-US" altLang="zh-CN" sz="1400" dirty="0"/>
              <a:t>AXI beat </a:t>
            </a:r>
            <a:r>
              <a:rPr lang="zh-CN" altLang="en-US" sz="1400" dirty="0"/>
              <a:t>组装成一个完整 </a:t>
            </a:r>
            <a:r>
              <a:rPr lang="en-US" altLang="zh-CN" sz="1400" dirty="0"/>
              <a:t>tile</a:t>
            </a:r>
            <a:r>
              <a:rPr lang="zh-CN" altLang="en-US" sz="1400" dirty="0"/>
              <a:t>，并分出 </a:t>
            </a:r>
            <a:r>
              <a:rPr lang="en-US" altLang="zh-CN" sz="1400" dirty="0"/>
              <a:t>payload/Scale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/>
              <a:t>Payload/scale</a:t>
            </a:r>
            <a:r>
              <a:rPr lang="zh-CN" altLang="en-US" sz="1400" dirty="0"/>
              <a:t>分开存放，同时发送</a:t>
            </a:r>
            <a:r>
              <a:rPr lang="en-US" altLang="zh-CN" sz="1400" dirty="0"/>
              <a:t>/</a:t>
            </a:r>
            <a:r>
              <a:rPr lang="zh-CN" altLang="en-US" sz="1400" dirty="0"/>
              <a:t>接收</a:t>
            </a: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 err="1"/>
              <a:t>Sideband_pipe</a:t>
            </a:r>
            <a:r>
              <a:rPr lang="zh-CN" altLang="en-US" sz="1400" dirty="0"/>
              <a:t>存放</a:t>
            </a:r>
            <a:r>
              <a:rPr lang="en-US" altLang="zh-CN" sz="1400" dirty="0"/>
              <a:t>scale</a:t>
            </a:r>
            <a:r>
              <a:rPr lang="zh-CN" altLang="en-US" sz="1400" dirty="0"/>
              <a:t>，</a:t>
            </a:r>
            <a:r>
              <a:rPr lang="en-US" altLang="zh-CN" sz="1400" dirty="0"/>
              <a:t>tag6</a:t>
            </a:r>
            <a:r>
              <a:rPr lang="zh-CN" altLang="en-US" sz="1400" dirty="0"/>
              <a:t>级设计保证与</a:t>
            </a:r>
            <a:r>
              <a:rPr lang="en-US" altLang="zh-CN" sz="1400" dirty="0" err="1"/>
              <a:t>Psum</a:t>
            </a:r>
            <a:r>
              <a:rPr lang="zh-CN" altLang="en-US" sz="1400" dirty="0"/>
              <a:t>同步发射至</a:t>
            </a:r>
            <a:r>
              <a:rPr lang="en-US" altLang="zh-CN" sz="1400" dirty="0"/>
              <a:t>DEQACC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C7A0E2A-2FCB-49C3-83CB-30F15FBB37B5}"/>
              </a:ext>
            </a:extLst>
          </p:cNvPr>
          <p:cNvSpPr txBox="1"/>
          <p:nvPr/>
        </p:nvSpPr>
        <p:spPr>
          <a:xfrm>
            <a:off x="7325833" y="3397139"/>
            <a:ext cx="431681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t+1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：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activation input register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，</a:t>
            </a: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sideband_pipe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[0]</a:t>
            </a:r>
          </a:p>
          <a:p>
            <a:pPr marL="285750" indent="-285750" algn="l">
              <a:buFont typeface="Wingdings" panose="05000000000000000000" pitchFamily="2" charset="2"/>
              <a:buChar char="l"/>
            </a:pPr>
            <a:endParaRPr lang="en-US" altLang="zh-CN" sz="1400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t+2</a:t>
            </a: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：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MUL</a:t>
            </a: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，</a:t>
            </a:r>
            <a:r>
              <a:rPr lang="en-US" altLang="zh-CN" sz="1400" dirty="0" err="1">
                <a:solidFill>
                  <a:srgbClr val="000000"/>
                </a:solidFill>
                <a:latin typeface="Helvetica" panose="020B0604020202020204" pitchFamily="34" charset="0"/>
              </a:rPr>
              <a:t>sideband_pipe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[1]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t+3</a:t>
            </a: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：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Adder L1</a:t>
            </a: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，</a:t>
            </a:r>
            <a:r>
              <a:rPr lang="en-US" altLang="zh-CN" sz="1400" dirty="0" err="1">
                <a:solidFill>
                  <a:srgbClr val="000000"/>
                </a:solidFill>
                <a:latin typeface="Helvetica" panose="020B0604020202020204" pitchFamily="34" charset="0"/>
              </a:rPr>
              <a:t>sideband_pipe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[2]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t+4</a:t>
            </a: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：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Adder L2</a:t>
            </a: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，</a:t>
            </a:r>
            <a:r>
              <a:rPr lang="en-US" altLang="zh-CN" sz="1400" dirty="0" err="1">
                <a:solidFill>
                  <a:srgbClr val="000000"/>
                </a:solidFill>
                <a:latin typeface="Helvetica" panose="020B0604020202020204" pitchFamily="34" charset="0"/>
              </a:rPr>
              <a:t>sideband_pipe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[3]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t+5</a:t>
            </a: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：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Adder L3</a:t>
            </a: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，</a:t>
            </a:r>
            <a:r>
              <a:rPr lang="en-US" altLang="zh-CN" sz="1400" dirty="0" err="1">
                <a:solidFill>
                  <a:srgbClr val="000000"/>
                </a:solidFill>
                <a:latin typeface="Helvetica" panose="020B0604020202020204" pitchFamily="34" charset="0"/>
              </a:rPr>
              <a:t>sideband_pipe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[4]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endParaRPr lang="en-US" altLang="zh-CN" sz="1400" dirty="0">
              <a:solidFill>
                <a:srgbClr val="000000"/>
              </a:solidFill>
              <a:latin typeface="Helvetica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t+6</a:t>
            </a: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：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Adder L4 + </a:t>
            </a:r>
            <a:r>
              <a:rPr lang="en-US" altLang="zh-CN" sz="1400" dirty="0" err="1">
                <a:solidFill>
                  <a:srgbClr val="000000"/>
                </a:solidFill>
                <a:latin typeface="Helvetica" panose="020B0604020202020204" pitchFamily="34" charset="0"/>
              </a:rPr>
              <a:t>Psum_out_REG</a:t>
            </a:r>
            <a:r>
              <a:rPr lang="zh-CN" altLang="en-US" sz="1400" dirty="0">
                <a:solidFill>
                  <a:srgbClr val="000000"/>
                </a:solidFill>
                <a:latin typeface="Helvetica" panose="020B0604020202020204" pitchFamily="34" charset="0"/>
              </a:rPr>
              <a:t>，</a:t>
            </a:r>
            <a:r>
              <a:rPr lang="en-US" altLang="zh-CN" sz="1400" dirty="0" err="1">
                <a:solidFill>
                  <a:srgbClr val="000000"/>
                </a:solidFill>
                <a:latin typeface="Helvetica" panose="020B0604020202020204" pitchFamily="34" charset="0"/>
              </a:rPr>
              <a:t>sideband_pipe</a:t>
            </a:r>
            <a:r>
              <a:rPr lang="en-US" altLang="zh-CN" sz="1400" dirty="0">
                <a:solidFill>
                  <a:srgbClr val="000000"/>
                </a:solidFill>
                <a:latin typeface="Helvetica" panose="020B0604020202020204" pitchFamily="34" charset="0"/>
              </a:rPr>
              <a:t>[5]</a:t>
            </a:r>
            <a:br>
              <a:rPr lang="en-US" altLang="zh-CN" dirty="0"/>
            </a:br>
            <a:endParaRPr lang="en-US" altLang="zh-CN" b="0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82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椭圆 58"/>
          <p:cNvSpPr/>
          <p:nvPr>
            <p:custDataLst>
              <p:tags r:id="rId2"/>
            </p:custDataLst>
          </p:nvPr>
        </p:nvSpPr>
        <p:spPr>
          <a:xfrm>
            <a:off x="-369570" y="-820420"/>
            <a:ext cx="2344420" cy="2344420"/>
          </a:xfrm>
          <a:prstGeom prst="ellipse">
            <a:avLst/>
          </a:prstGeom>
          <a:solidFill>
            <a:srgbClr val="ABBB9A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微软雅黑" panose="020B050302020402020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107950" y="-49121"/>
            <a:ext cx="12299950" cy="933450"/>
            <a:chOff x="6121" y="1678"/>
            <a:chExt cx="19370" cy="1470"/>
          </a:xfrm>
        </p:grpSpPr>
        <p:sp>
          <p:nvSpPr>
            <p:cNvPr id="5" name="平行四边形 4"/>
            <p:cNvSpPr/>
            <p:nvPr/>
          </p:nvSpPr>
          <p:spPr>
            <a:xfrm rot="16200000">
              <a:off x="7584" y="2177"/>
              <a:ext cx="1470" cy="472"/>
            </a:xfrm>
            <a:prstGeom prst="parallelogram">
              <a:avLst>
                <a:gd name="adj" fmla="val 76588"/>
              </a:avLst>
            </a:prstGeom>
            <a:solidFill>
              <a:srgbClr val="56796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平行四边形 6"/>
            <p:cNvSpPr/>
            <p:nvPr>
              <p:custDataLst>
                <p:tags r:id="rId8"/>
              </p:custDataLst>
            </p:nvPr>
          </p:nvSpPr>
          <p:spPr>
            <a:xfrm rot="20760000">
              <a:off x="6121" y="1913"/>
              <a:ext cx="2130" cy="1064"/>
            </a:xfrm>
            <a:prstGeom prst="parallelogram">
              <a:avLst/>
            </a:prstGeom>
            <a:gradFill>
              <a:gsLst>
                <a:gs pos="100000">
                  <a:srgbClr val="56796D"/>
                </a:gs>
                <a:gs pos="0">
                  <a:srgbClr val="56796D">
                    <a:alpha val="55000"/>
                  </a:srgb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8540" y="2032"/>
              <a:ext cx="16951" cy="1106"/>
            </a:xfrm>
            <a:prstGeom prst="rect">
              <a:avLst/>
            </a:prstGeom>
            <a:gradFill>
              <a:gsLst>
                <a:gs pos="0">
                  <a:srgbClr val="56796D"/>
                </a:gs>
                <a:gs pos="100000">
                  <a:srgbClr val="8B9F35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1" name="图片 50" descr="建筑-10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alphaModFix amt="60000"/>
          </a:blip>
          <a:stretch>
            <a:fillRect/>
          </a:stretch>
        </p:blipFill>
        <p:spPr>
          <a:xfrm>
            <a:off x="10191750" y="182880"/>
            <a:ext cx="2113280" cy="815340"/>
          </a:xfrm>
          <a:prstGeom prst="rect">
            <a:avLst/>
          </a:prstGeom>
        </p:spPr>
      </p:pic>
      <p:grpSp>
        <p:nvGrpSpPr>
          <p:cNvPr id="33" name="组合 32"/>
          <p:cNvGrpSpPr/>
          <p:nvPr/>
        </p:nvGrpSpPr>
        <p:grpSpPr>
          <a:xfrm>
            <a:off x="11046460" y="5654675"/>
            <a:ext cx="1438142" cy="1438142"/>
            <a:chOff x="16961" y="8142"/>
            <a:chExt cx="2865" cy="2865"/>
          </a:xfrm>
        </p:grpSpPr>
        <p:sp>
          <p:nvSpPr>
            <p:cNvPr id="3" name="椭圆 2"/>
            <p:cNvSpPr/>
            <p:nvPr>
              <p:custDataLst>
                <p:tags r:id="rId6"/>
              </p:custDataLst>
            </p:nvPr>
          </p:nvSpPr>
          <p:spPr>
            <a:xfrm>
              <a:off x="16961" y="8142"/>
              <a:ext cx="2865" cy="2865"/>
            </a:xfrm>
            <a:prstGeom prst="ellipse">
              <a:avLst/>
            </a:prstGeom>
            <a:solidFill>
              <a:srgbClr val="ABBB9A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" name="图片 3" descr="建筑-1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17615" y="8787"/>
              <a:ext cx="1586" cy="1553"/>
            </a:xfrm>
            <a:prstGeom prst="rect">
              <a:avLst/>
            </a:prstGeom>
            <a:effectLst>
              <a:outerShdw blurRad="50800" dist="12700" dir="2700000" algn="tl" rotWithShape="0">
                <a:prstClr val="black">
                  <a:alpha val="25000"/>
                </a:prstClr>
              </a:outerShdw>
            </a:effectLst>
          </p:spPr>
        </p:pic>
      </p:grpSp>
      <p:sp>
        <p:nvSpPr>
          <p:cNvPr id="6" name="文本框 17"/>
          <p:cNvSpPr txBox="1"/>
          <p:nvPr>
            <p:custDataLst>
              <p:tags r:id="rId4"/>
            </p:custDataLst>
          </p:nvPr>
        </p:nvSpPr>
        <p:spPr>
          <a:xfrm rot="20700000">
            <a:off x="271725" y="61210"/>
            <a:ext cx="100965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>
            <a:spAutoFit/>
          </a:bodyPr>
          <a:lstStyle/>
          <a:p>
            <a:pPr fontAlgn="ctr"/>
            <a:r>
              <a:rPr lang="en-US" altLang="zh-CN" sz="3600" b="1" dirty="0">
                <a:solidFill>
                  <a:schemeClr val="bg1"/>
                </a:solidFill>
                <a:latin typeface="+mj-ea"/>
                <a:ea typeface="+mj-ea"/>
                <a:cs typeface="微软雅黑" panose="020B0503020204020204" charset="-122"/>
              </a:rPr>
              <a:t>03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541E347-6947-47AD-918B-FDBB3E9B5DCF}"/>
              </a:ext>
            </a:extLst>
          </p:cNvPr>
          <p:cNvSpPr>
            <a:spLocks noGrp="1"/>
          </p:cNvSpPr>
          <p:nvPr/>
        </p:nvSpPr>
        <p:spPr>
          <a:xfrm>
            <a:off x="10839450" y="323850"/>
            <a:ext cx="742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def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6D7771"/>
                </a:solidFill>
                <a:latin typeface="Microsoft YaHei UI"/>
                <a:ea typeface="Microsoft YaHei UI"/>
                <a:cs typeface="Microsoft YaHei UI"/>
              </a:rPr>
              <a:t>02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4552F0-508F-464B-BE83-3696B9837E5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561302" y="360362"/>
            <a:ext cx="4191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>
                <a:solidFill>
                  <a:schemeClr val="bg1"/>
                </a:solidFill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DEQACC</a:t>
            </a:r>
            <a:endParaRPr lang="zh-CN" altLang="en-US" sz="2400" b="1" dirty="0">
              <a:solidFill>
                <a:schemeClr val="bg1"/>
              </a:solidFill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73E5E95-1144-4AB6-82F8-6A42FF58D04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704" y="1154106"/>
            <a:ext cx="8220135" cy="2676545"/>
          </a:xfrm>
          <a:prstGeom prst="rect">
            <a:avLst/>
          </a:prstGeom>
        </p:spPr>
      </p:pic>
      <p:sp>
        <p:nvSpPr>
          <p:cNvPr id="45" name="箭头: 右 44">
            <a:extLst>
              <a:ext uri="{FF2B5EF4-FFF2-40B4-BE49-F238E27FC236}">
                <a16:creationId xmlns:a16="http://schemas.microsoft.com/office/drawing/2014/main" id="{ABFE66C1-A4A2-4657-A4E1-ECD34C878686}"/>
              </a:ext>
            </a:extLst>
          </p:cNvPr>
          <p:cNvSpPr>
            <a:spLocks noGrp="1"/>
          </p:cNvSpPr>
          <p:nvPr/>
        </p:nvSpPr>
        <p:spPr>
          <a:xfrm>
            <a:off x="2151764" y="4712666"/>
            <a:ext cx="295275" cy="228600"/>
          </a:xfrm>
          <a:prstGeom prst="rightArrow">
            <a:avLst/>
          </a:prstGeom>
          <a:solidFill>
            <a:srgbClr val="E69A2D"/>
          </a:solidFill>
          <a:ln w="7620">
            <a:solidFill>
              <a:srgbClr val="E69A2D"/>
            </a:solidFill>
            <a:prstDash val="solid"/>
          </a:ln>
        </p:spPr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A6BF80C3-8E17-46C5-8168-8929C60C8BB0}"/>
              </a:ext>
            </a:extLst>
          </p:cNvPr>
          <p:cNvSpPr>
            <a:spLocks noGrp="1"/>
          </p:cNvSpPr>
          <p:nvPr/>
        </p:nvSpPr>
        <p:spPr>
          <a:xfrm>
            <a:off x="4237739" y="4712666"/>
            <a:ext cx="295275" cy="228600"/>
          </a:xfrm>
          <a:prstGeom prst="rightArrow">
            <a:avLst/>
          </a:prstGeom>
          <a:solidFill>
            <a:srgbClr val="E69A2D"/>
          </a:solidFill>
          <a:ln w="7620">
            <a:solidFill>
              <a:srgbClr val="E69A2D"/>
            </a:solidFill>
            <a:prstDash val="solid"/>
          </a:ln>
        </p:spPr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AE8F1EA2-A584-4C3E-B43E-356506DBC437}"/>
              </a:ext>
            </a:extLst>
          </p:cNvPr>
          <p:cNvSpPr>
            <a:spLocks noGrp="1"/>
          </p:cNvSpPr>
          <p:nvPr/>
        </p:nvSpPr>
        <p:spPr>
          <a:xfrm>
            <a:off x="6323714" y="4712666"/>
            <a:ext cx="295275" cy="228600"/>
          </a:xfrm>
          <a:prstGeom prst="rightArrow">
            <a:avLst/>
          </a:prstGeom>
          <a:solidFill>
            <a:srgbClr val="E69A2D"/>
          </a:solidFill>
          <a:ln w="7620">
            <a:solidFill>
              <a:srgbClr val="E69A2D"/>
            </a:solidFill>
            <a:prstDash val="solid"/>
          </a:ln>
        </p:spPr>
      </p:sp>
      <p:sp>
        <p:nvSpPr>
          <p:cNvPr id="48" name="箭头: 右 47">
            <a:extLst>
              <a:ext uri="{FF2B5EF4-FFF2-40B4-BE49-F238E27FC236}">
                <a16:creationId xmlns:a16="http://schemas.microsoft.com/office/drawing/2014/main" id="{60BF9AB9-1C02-43E1-812F-191E438BA232}"/>
              </a:ext>
            </a:extLst>
          </p:cNvPr>
          <p:cNvSpPr>
            <a:spLocks noGrp="1"/>
          </p:cNvSpPr>
          <p:nvPr/>
        </p:nvSpPr>
        <p:spPr>
          <a:xfrm>
            <a:off x="8409689" y="4712666"/>
            <a:ext cx="295275" cy="228600"/>
          </a:xfrm>
          <a:prstGeom prst="rightArrow">
            <a:avLst/>
          </a:prstGeom>
          <a:solidFill>
            <a:srgbClr val="E69A2D"/>
          </a:solidFill>
          <a:ln w="7620">
            <a:solidFill>
              <a:srgbClr val="E69A2D"/>
            </a:solidFill>
            <a:prstDash val="solid"/>
          </a:ln>
        </p:spPr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EE346EFC-C40D-477E-941B-E7534B16E18A}"/>
              </a:ext>
            </a:extLst>
          </p:cNvPr>
          <p:cNvSpPr>
            <a:spLocks noGrp="1"/>
          </p:cNvSpPr>
          <p:nvPr/>
        </p:nvSpPr>
        <p:spPr>
          <a:xfrm>
            <a:off x="361064" y="4055441"/>
            <a:ext cx="1790700" cy="428625"/>
          </a:xfrm>
          <a:prstGeom prst="roundRect">
            <a:avLst>
              <a:gd name="adj" fmla="val 6667"/>
            </a:avLst>
          </a:prstGeom>
          <a:solidFill>
            <a:srgbClr val="356E9C"/>
          </a:solidFill>
          <a:ln w="12383">
            <a:solidFill>
              <a:srgbClr val="356E9C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L0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D43E8F69-1A73-4FA0-AD0B-EBD9EFF773CC}"/>
              </a:ext>
            </a:extLst>
          </p:cNvPr>
          <p:cNvSpPr>
            <a:spLocks noGrp="1"/>
          </p:cNvSpPr>
          <p:nvPr/>
        </p:nvSpPr>
        <p:spPr>
          <a:xfrm>
            <a:off x="361064" y="4503116"/>
            <a:ext cx="1790700" cy="1457325"/>
          </a:xfrm>
          <a:prstGeom prst="roundRect">
            <a:avLst>
              <a:gd name="adj" fmla="val 2614"/>
            </a:avLst>
          </a:prstGeom>
          <a:solidFill>
            <a:srgbClr val="E5F0FA"/>
          </a:solidFill>
          <a:ln w="12383">
            <a:solidFill>
              <a:srgbClr val="356E9C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INT32预处理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sign / abs / zero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LZC(32)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同时发出acc读地址</a:t>
            </a:r>
            <a:endParaRPr sz="1275" b="1" dirty="0">
              <a:solidFill>
                <a:srgbClr val="172019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: 圆角 51">
            <a:extLst>
              <a:ext uri="{FF2B5EF4-FFF2-40B4-BE49-F238E27FC236}">
                <a16:creationId xmlns:a16="http://schemas.microsoft.com/office/drawing/2014/main" id="{4BFED20E-3CC0-45D2-AD7E-0FD025DE96D8}"/>
              </a:ext>
            </a:extLst>
          </p:cNvPr>
          <p:cNvSpPr>
            <a:spLocks noGrp="1"/>
          </p:cNvSpPr>
          <p:nvPr/>
        </p:nvSpPr>
        <p:spPr>
          <a:xfrm>
            <a:off x="2447039" y="4055441"/>
            <a:ext cx="1790700" cy="428625"/>
          </a:xfrm>
          <a:prstGeom prst="roundRect">
            <a:avLst>
              <a:gd name="adj" fmla="val 6667"/>
            </a:avLst>
          </a:prstGeom>
          <a:solidFill>
            <a:srgbClr val="356E9C"/>
          </a:solidFill>
          <a:ln w="12383">
            <a:solidFill>
              <a:srgbClr val="356E9C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L1</a:t>
            </a: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149AD5AF-C1ED-4E41-8310-441A905D8818}"/>
              </a:ext>
            </a:extLst>
          </p:cNvPr>
          <p:cNvSpPr>
            <a:spLocks noGrp="1"/>
          </p:cNvSpPr>
          <p:nvPr/>
        </p:nvSpPr>
        <p:spPr>
          <a:xfrm>
            <a:off x="2447039" y="4503116"/>
            <a:ext cx="1790700" cy="1457325"/>
          </a:xfrm>
          <a:prstGeom prst="roundRect">
            <a:avLst>
              <a:gd name="adj" fmla="val 2614"/>
            </a:avLst>
          </a:prstGeom>
          <a:solidFill>
            <a:srgbClr val="E5F0FA"/>
          </a:solidFill>
          <a:ln w="12383">
            <a:solidFill>
              <a:srgbClr val="356E9C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barrel shift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生成尾数与base exp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old_acc读回锁存</a:t>
            </a: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74FD7E78-11B2-4D1D-8A63-98D358D37898}"/>
              </a:ext>
            </a:extLst>
          </p:cNvPr>
          <p:cNvSpPr>
            <a:spLocks noGrp="1"/>
          </p:cNvSpPr>
          <p:nvPr/>
        </p:nvSpPr>
        <p:spPr>
          <a:xfrm>
            <a:off x="4533014" y="4055441"/>
            <a:ext cx="1790700" cy="428625"/>
          </a:xfrm>
          <a:prstGeom prst="roundRect">
            <a:avLst>
              <a:gd name="adj" fmla="val 6667"/>
            </a:avLst>
          </a:prstGeom>
          <a:solidFill>
            <a:srgbClr val="E69A2D"/>
          </a:solidFill>
          <a:ln w="12383">
            <a:solidFill>
              <a:srgbClr val="E69A2D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L2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DCCA6718-B5EE-4BBE-B836-ADFC58E8DE78}"/>
              </a:ext>
            </a:extLst>
          </p:cNvPr>
          <p:cNvSpPr>
            <a:spLocks noGrp="1"/>
          </p:cNvSpPr>
          <p:nvPr/>
        </p:nvSpPr>
        <p:spPr>
          <a:xfrm>
            <a:off x="4533014" y="4503116"/>
            <a:ext cx="1790700" cy="1457325"/>
          </a:xfrm>
          <a:prstGeom prst="roundRect">
            <a:avLst>
              <a:gd name="adj" fmla="val 2614"/>
            </a:avLst>
          </a:prstGeom>
          <a:solidFill>
            <a:srgbClr val="F9E8C9"/>
          </a:solidFill>
          <a:ln w="12383">
            <a:solidFill>
              <a:srgbClr val="E69A2D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指数反量化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e = E_stream + E_stat[j]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− 266 + EXP_FOLD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形成partial_fp[j]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6FE8317C-3079-4685-81B8-267FE29DCF2C}"/>
              </a:ext>
            </a:extLst>
          </p:cNvPr>
          <p:cNvSpPr>
            <a:spLocks noGrp="1"/>
          </p:cNvSpPr>
          <p:nvPr/>
        </p:nvSpPr>
        <p:spPr>
          <a:xfrm>
            <a:off x="6618989" y="4055441"/>
            <a:ext cx="1790700" cy="428625"/>
          </a:xfrm>
          <a:prstGeom prst="roundRect">
            <a:avLst>
              <a:gd name="adj" fmla="val 6667"/>
            </a:avLst>
          </a:prstGeom>
          <a:solidFill>
            <a:srgbClr val="3F5E45"/>
          </a:solidFill>
          <a:ln w="12383">
            <a:solidFill>
              <a:srgbClr val="3F5E45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L3</a:t>
            </a:r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12DC98D2-9FB7-422A-BB41-C2408B26AA8C}"/>
              </a:ext>
            </a:extLst>
          </p:cNvPr>
          <p:cNvSpPr>
            <a:spLocks noGrp="1"/>
          </p:cNvSpPr>
          <p:nvPr/>
        </p:nvSpPr>
        <p:spPr>
          <a:xfrm>
            <a:off x="6618989" y="4503116"/>
            <a:ext cx="1790700" cy="1457325"/>
          </a:xfrm>
          <a:prstGeom prst="roundRect">
            <a:avLst>
              <a:gd name="adj" fmla="val 2614"/>
            </a:avLst>
          </a:prstGeom>
          <a:solidFill>
            <a:srgbClr val="E4ECE1"/>
          </a:solidFill>
          <a:ln w="12383">
            <a:solidFill>
              <a:srgbClr val="3F5E45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FP32累加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16×FP32 ADD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old_acc + partial_fp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first_k时直接BYPASS</a:t>
            </a:r>
          </a:p>
        </p:txBody>
      </p: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65B63942-45A1-4C6F-8B63-F0282BFC5605}"/>
              </a:ext>
            </a:extLst>
          </p:cNvPr>
          <p:cNvSpPr>
            <a:spLocks noGrp="1"/>
          </p:cNvSpPr>
          <p:nvPr/>
        </p:nvSpPr>
        <p:spPr>
          <a:xfrm>
            <a:off x="8704964" y="4055441"/>
            <a:ext cx="1790700" cy="428625"/>
          </a:xfrm>
          <a:prstGeom prst="roundRect">
            <a:avLst>
              <a:gd name="adj" fmla="val 6667"/>
            </a:avLst>
          </a:prstGeom>
          <a:solidFill>
            <a:srgbClr val="667066"/>
          </a:solidFill>
          <a:ln w="12383">
            <a:solidFill>
              <a:srgbClr val="667066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L4</a:t>
            </a: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A34055AB-291A-486C-94AC-1C1FDFCCCC7B}"/>
              </a:ext>
            </a:extLst>
          </p:cNvPr>
          <p:cNvSpPr>
            <a:spLocks noGrp="1"/>
          </p:cNvSpPr>
          <p:nvPr/>
        </p:nvSpPr>
        <p:spPr>
          <a:xfrm>
            <a:off x="8704964" y="4503116"/>
            <a:ext cx="1790700" cy="1457325"/>
          </a:xfrm>
          <a:prstGeom prst="roundRect">
            <a:avLst>
              <a:gd name="adj" fmla="val 2614"/>
            </a:avLst>
          </a:prstGeom>
          <a:solidFill>
            <a:srgbClr val="E9ECE7"/>
          </a:solidFill>
          <a:ln w="12383">
            <a:solidFill>
              <a:srgbClr val="667066"/>
            </a:solidFill>
            <a:prstDash val="solid"/>
          </a:ln>
        </p:spPr>
        <p:txBody>
          <a:bodyPr wrap="square" lIns="57150" tIns="47625" rIns="57150" bIns="47625" anchor="ctr">
            <a:normAutofit/>
          </a:bodyPr>
          <a:lstStyle/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写回提交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lane_mask / write enable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write_dst / acc_addr</a:t>
            </a:r>
          </a:p>
          <a:p>
            <a:pPr algn="ctr">
              <a:def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19"/>
                </a:solidFill>
                <a:latin typeface="Microsoft YaHei"/>
                <a:ea typeface="Microsoft YaHei"/>
                <a:cs typeface="Microsoft YaHei"/>
              </a:rPr>
              <a:t>更新完成状态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3920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图书馆3 (1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0"/>
            <a:ext cx="1218946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7000">
                <a:srgbClr val="8B9F35">
                  <a:alpha val="90000"/>
                </a:srgbClr>
              </a:gs>
              <a:gs pos="67000">
                <a:srgbClr val="8B9F35">
                  <a:alpha val="24000"/>
                </a:srgbClr>
              </a:gs>
              <a:gs pos="100000">
                <a:schemeClr val="bg1">
                  <a:alpha val="0"/>
                </a:schemeClr>
              </a:gs>
            </a:gsLst>
            <a:lin ang="2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13080" y="3368993"/>
            <a:ext cx="6483985" cy="119888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谢谢观看！</a:t>
            </a:r>
            <a:endParaRPr lang="en-US" altLang="zh-CN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40" name="直接连接符 39"/>
          <p:cNvCxnSpPr/>
          <p:nvPr/>
        </p:nvCxnSpPr>
        <p:spPr>
          <a:xfrm>
            <a:off x="560705" y="4834890"/>
            <a:ext cx="3617595" cy="0"/>
          </a:xfrm>
          <a:prstGeom prst="line">
            <a:avLst/>
          </a:prstGeom>
          <a:ln w="1270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635" y="0"/>
            <a:ext cx="12191365" cy="867410"/>
          </a:xfrm>
          <a:prstGeom prst="rect">
            <a:avLst/>
          </a:prstGeom>
          <a:gradFill>
            <a:gsLst>
              <a:gs pos="52000">
                <a:srgbClr val="56796D">
                  <a:alpha val="24000"/>
                </a:srgbClr>
              </a:gs>
              <a:gs pos="0">
                <a:srgbClr val="56796D"/>
              </a:gs>
              <a:gs pos="100000">
                <a:srgbClr val="C5D1BB">
                  <a:alpha val="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60705" y="5228445"/>
            <a:ext cx="3334385" cy="476541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日期：</a:t>
            </a:r>
            <a:r>
              <a:rPr lang="en-US" altLang="zh-CN" sz="2000" b="1" noProof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汉仪书魂体简" panose="02010609000101010101" pitchFamily="49" charset="-122"/>
                <a:ea typeface="汉仪书魂体简" panose="02010609000101010101" pitchFamily="49" charset="-122"/>
                <a:cs typeface="微软雅黑" panose="020B0503020204020204" charset="-122"/>
                <a:sym typeface="+mn-ea"/>
              </a:rPr>
              <a:t>2026.8.25</a:t>
            </a:r>
            <a:endParaRPr lang="zh-CN" altLang="en-US" sz="2000" b="1" noProof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汉仪书魂体简" panose="02010609000101010101" pitchFamily="49" charset="-122"/>
              <a:ea typeface="汉仪书魂体简" panose="02010609000101010101" pitchFamily="49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9" name="图片 18" descr="校标、校名-透空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560705" y="212725"/>
            <a:ext cx="1440000" cy="46137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489d9deb-1bb5-47c1-b574-ea765dac7701"/>
  <p:tag name="COMMONDATA" val="eyJoZGlkIjoiMTU2ZDc0ZjNmMzdmMDBlNmUzZGQ5ODRkNDBiMjE1Yz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854,&quot;width&quot;:19200}"/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PLACING_PICTURE_USER_VIEWPORT" val="{&quot;height&quot;:4535.433070866142,&quot;width&quot;:4634.51181102362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5"/>
  <p:tag name="KSO_WM_UNIT_TEXT_FILL_TYPE" val="1"/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7413</TotalTime>
  <Words>384</Words>
  <Application>Microsoft Office PowerPoint</Application>
  <PresentationFormat>宽屏</PresentationFormat>
  <Paragraphs>66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Microsoft YaHei UI</vt:lpstr>
      <vt:lpstr>汉仪书魂体简</vt:lpstr>
      <vt:lpstr>微软雅黑</vt:lpstr>
      <vt:lpstr>微软雅黑</vt:lpstr>
      <vt:lpstr>Arial</vt:lpstr>
      <vt:lpstr>Helvetica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魏昀涛</dc:creator>
  <cp:lastModifiedBy>fei zhao</cp:lastModifiedBy>
  <cp:revision>343</cp:revision>
  <dcterms:created xsi:type="dcterms:W3CDTF">2019-06-19T02:08:00Z</dcterms:created>
  <dcterms:modified xsi:type="dcterms:W3CDTF">2026-09-06T12:39:01Z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B4B9A330570349649C3A7984611FF173_11</vt:lpwstr>
  </property>
</Properties>
</file>