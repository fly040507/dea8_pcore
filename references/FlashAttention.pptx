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0" r:id="rId3"/>
    <p:sldId id="281" r:id="rId4"/>
    <p:sldId id="282" r:id="rId5"/>
    <p:sldId id="283" r:id="rId6"/>
    <p:sldId id="284" r:id="rId7"/>
    <p:sldId id="285" r:id="rId8"/>
    <p:sldId id="289" r:id="rId9"/>
    <p:sldId id="287" r:id="rId10"/>
    <p:sldId id="288" r:id="rId11"/>
    <p:sldId id="274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fei zhao" initials="fz" lastIdx="1" clrIdx="1">
    <p:extLst>
      <p:ext uri="{19B8F6BF-5375-455C-9EA6-DF929625EA0E}">
        <p15:presenceInfo xmlns:p15="http://schemas.microsoft.com/office/powerpoint/2012/main" userId="43de4669f2a96d4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E8474"/>
    <a:srgbClr val="608878"/>
    <a:srgbClr val="5B8173"/>
    <a:srgbClr val="55796D"/>
    <a:srgbClr val="8B9F35"/>
    <a:srgbClr val="56796D"/>
    <a:srgbClr val="32534D"/>
    <a:srgbClr val="D9DDD6"/>
    <a:srgbClr val="678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243" y="63"/>
      </p:cViewPr>
      <p:guideLst>
        <p:guide orient="horz" pos="216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2026/8/25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0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8" name="图片 7" descr="建筑_画板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2262505" y="3310255"/>
            <a:ext cx="6789600" cy="3117029"/>
          </a:xfrm>
          <a:prstGeom prst="rect">
            <a:avLst/>
          </a:prstGeom>
        </p:spPr>
      </p:pic>
      <p:pic>
        <p:nvPicPr>
          <p:cNvPr id="10" name="图片 9" descr="建筑_画板 1 副本 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17670" y="3757930"/>
            <a:ext cx="7974000" cy="26694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0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图片 3" descr="建筑-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8" name="图片 7" descr="建筑_画板 1 副本 1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113395" y="2303145"/>
            <a:ext cx="4525200" cy="4258253"/>
          </a:xfrm>
          <a:prstGeom prst="rect">
            <a:avLst/>
          </a:prstGeom>
        </p:spPr>
      </p:pic>
      <p:pic>
        <p:nvPicPr>
          <p:cNvPr id="9" name="图片 8" descr="建筑_画板 1 副本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760095" y="3333750"/>
            <a:ext cx="9288000" cy="31093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E84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8830" y="5560060"/>
            <a:ext cx="13790295" cy="1413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10" Type="http://schemas.openxmlformats.org/officeDocument/2006/relationships/image" Target="../media/image11.png"/><Relationship Id="rId4" Type="http://schemas.openxmlformats.org/officeDocument/2006/relationships/tags" Target="../tags/tag7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15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14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13.png"/><Relationship Id="rId5" Type="http://schemas.openxmlformats.org/officeDocument/2006/relationships/tags" Target="../tags/tag78.xml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tags" Target="../tags/tag77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image" Target="../media/image19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8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13.png"/><Relationship Id="rId5" Type="http://schemas.openxmlformats.org/officeDocument/2006/relationships/tags" Target="../tags/tag86.xml"/><Relationship Id="rId10" Type="http://schemas.openxmlformats.org/officeDocument/2006/relationships/image" Target="../media/image12.png"/><Relationship Id="rId4" Type="http://schemas.openxmlformats.org/officeDocument/2006/relationships/tags" Target="../tags/tag85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21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image" Target="../media/image13.png"/><Relationship Id="rId5" Type="http://schemas.openxmlformats.org/officeDocument/2006/relationships/tags" Target="../tags/tag94.xml"/><Relationship Id="rId10" Type="http://schemas.openxmlformats.org/officeDocument/2006/relationships/image" Target="../media/image12.png"/><Relationship Id="rId4" Type="http://schemas.openxmlformats.org/officeDocument/2006/relationships/tags" Target="../tags/tag93.xml"/><Relationship Id="rId9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image" Target="../media/image23.png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image" Target="../media/image22.pn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image" Target="../media/image13.png"/><Relationship Id="rId5" Type="http://schemas.openxmlformats.org/officeDocument/2006/relationships/tags" Target="../tags/tag102.xml"/><Relationship Id="rId10" Type="http://schemas.openxmlformats.org/officeDocument/2006/relationships/image" Target="../media/image12.png"/><Relationship Id="rId4" Type="http://schemas.openxmlformats.org/officeDocument/2006/relationships/tags" Target="../tags/tag101.xml"/><Relationship Id="rId9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image" Target="../media/image13.png"/><Relationship Id="rId5" Type="http://schemas.openxmlformats.org/officeDocument/2006/relationships/tags" Target="../tags/tag110.xml"/><Relationship Id="rId10" Type="http://schemas.openxmlformats.org/officeDocument/2006/relationships/image" Target="../media/image12.png"/><Relationship Id="rId4" Type="http://schemas.openxmlformats.org/officeDocument/2006/relationships/tags" Target="../tags/tag109.xml"/><Relationship Id="rId9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image" Target="../media/image25.png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image" Target="../media/image24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13.png"/><Relationship Id="rId5" Type="http://schemas.openxmlformats.org/officeDocument/2006/relationships/tags" Target="../tags/tag118.xml"/><Relationship Id="rId10" Type="http://schemas.openxmlformats.org/officeDocument/2006/relationships/image" Target="../media/image12.png"/><Relationship Id="rId4" Type="http://schemas.openxmlformats.org/officeDocument/2006/relationships/tags" Target="../tags/tag117.xml"/><Relationship Id="rId9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image" Target="../media/image13.png"/><Relationship Id="rId5" Type="http://schemas.openxmlformats.org/officeDocument/2006/relationships/tags" Target="../tags/tag126.xml"/><Relationship Id="rId10" Type="http://schemas.openxmlformats.org/officeDocument/2006/relationships/image" Target="../media/image12.png"/><Relationship Id="rId4" Type="http://schemas.openxmlformats.org/officeDocument/2006/relationships/tags" Target="../tags/tag125.xml"/><Relationship Id="rId9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image" Target="../media/image13.png"/><Relationship Id="rId5" Type="http://schemas.openxmlformats.org/officeDocument/2006/relationships/tags" Target="../tags/tag134.xml"/><Relationship Id="rId10" Type="http://schemas.openxmlformats.org/officeDocument/2006/relationships/image" Target="../media/image12.png"/><Relationship Id="rId4" Type="http://schemas.openxmlformats.org/officeDocument/2006/relationships/tags" Target="../tags/tag133.xml"/><Relationship Id="rId9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image" Target="../media/image13.png"/><Relationship Id="rId5" Type="http://schemas.openxmlformats.org/officeDocument/2006/relationships/tags" Target="../tags/tag142.xml"/><Relationship Id="rId10" Type="http://schemas.openxmlformats.org/officeDocument/2006/relationships/image" Target="../media/image12.png"/><Relationship Id="rId4" Type="http://schemas.openxmlformats.org/officeDocument/2006/relationships/tags" Target="../tags/tag141.xml"/><Relationship Id="rId9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48.xml"/><Relationship Id="rId7" Type="http://schemas.openxmlformats.org/officeDocument/2006/relationships/image" Target="../media/image26.jpeg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84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73734" y="2317418"/>
            <a:ext cx="8444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FlashAttention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4735952" y="3833983"/>
            <a:ext cx="28333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书魂体简" panose="02010609000101010101" pitchFamily="49" charset="-122"/>
                <a:ea typeface="汉仪书魂体简" panose="02010609000101010101" pitchFamily="49" charset="-122"/>
                <a:cs typeface="+mj-lt"/>
              </a:rPr>
              <a:t>组会汇报</a:t>
            </a:r>
            <a:endParaRPr lang="en-US" altLang="zh-CN" sz="2400" b="1" u="sng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书魂体简" panose="02010609000101010101" pitchFamily="49" charset="-122"/>
              <a:ea typeface="汉仪书魂体简" panose="02010609000101010101" pitchFamily="49" charset="-122"/>
              <a:cs typeface="+mj-lt"/>
            </a:endParaRPr>
          </a:p>
        </p:txBody>
      </p:sp>
      <p:pic>
        <p:nvPicPr>
          <p:cNvPr id="10" name="图片 9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1" name="图片 10" descr="底图-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 descr="未标题-2_画板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EF22E7D-35FF-03CA-65D3-4169352E8CE0}"/>
              </a:ext>
            </a:extLst>
          </p:cNvPr>
          <p:cNvSpPr txBox="1"/>
          <p:nvPr/>
        </p:nvSpPr>
        <p:spPr>
          <a:xfrm>
            <a:off x="9757386" y="5750659"/>
            <a:ext cx="1873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endParaRPr kumimoji="1"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17982" y="-6621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952796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 err="1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FlashAttention</a:t>
            </a:r>
            <a:endParaRPr lang="zh-CN" altLang="en-US" sz="2400" b="1" dirty="0">
              <a:solidFill>
                <a:schemeClr val="bg1"/>
              </a:solidFill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E1C17C-ACD4-4542-9BC4-653BEDC6B5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269" y="3455272"/>
            <a:ext cx="6994215" cy="3012040"/>
          </a:xfrm>
          <a:prstGeom prst="rect">
            <a:avLst/>
          </a:prstGeom>
        </p:spPr>
      </p:pic>
      <p:sp>
        <p:nvSpPr>
          <p:cNvPr id="78" name="Rounded Rectangle 7">
            <a:extLst>
              <a:ext uri="{FF2B5EF4-FFF2-40B4-BE49-F238E27FC236}">
                <a16:creationId xmlns:a16="http://schemas.microsoft.com/office/drawing/2014/main" id="{008ADBCD-79FA-49BE-BCF1-ED8526AD1D53}"/>
              </a:ext>
            </a:extLst>
          </p:cNvPr>
          <p:cNvSpPr/>
          <p:nvPr/>
        </p:nvSpPr>
        <p:spPr>
          <a:xfrm>
            <a:off x="7407112" y="1839888"/>
            <a:ext cx="3716676" cy="451714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1E6A9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TextBox 8">
            <a:extLst>
              <a:ext uri="{FF2B5EF4-FFF2-40B4-BE49-F238E27FC236}">
                <a16:creationId xmlns:a16="http://schemas.microsoft.com/office/drawing/2014/main" id="{99B12129-1AE4-4E98-B62A-C4B9CAB4351E}"/>
              </a:ext>
            </a:extLst>
          </p:cNvPr>
          <p:cNvSpPr txBox="1"/>
          <p:nvPr/>
        </p:nvSpPr>
        <p:spPr>
          <a:xfrm>
            <a:off x="7617424" y="1958761"/>
            <a:ext cx="1005690" cy="23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sz="1050" b="1" dirty="0">
                <a:solidFill>
                  <a:srgbClr val="1E6A9E"/>
                </a:solidFill>
                <a:latin typeface="Microsoft YaHei"/>
              </a:rPr>
              <a:t>Score</a:t>
            </a:r>
          </a:p>
        </p:txBody>
      </p:sp>
      <p:sp>
        <p:nvSpPr>
          <p:cNvPr id="80" name="TextBox 9">
            <a:extLst>
              <a:ext uri="{FF2B5EF4-FFF2-40B4-BE49-F238E27FC236}">
                <a16:creationId xmlns:a16="http://schemas.microsoft.com/office/drawing/2014/main" id="{4D7D8D7C-B6D9-440E-8A7B-86C202139276}"/>
              </a:ext>
            </a:extLst>
          </p:cNvPr>
          <p:cNvSpPr txBox="1"/>
          <p:nvPr/>
        </p:nvSpPr>
        <p:spPr>
          <a:xfrm>
            <a:off x="8687272" y="1878506"/>
            <a:ext cx="2230006" cy="4049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S_b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[51,16]= Q[51,256] × </a:t>
            </a: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K_b^T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[256,16] × 2^-4</a:t>
            </a:r>
          </a:p>
        </p:txBody>
      </p:sp>
      <p:sp>
        <p:nvSpPr>
          <p:cNvPr id="82" name="Rounded Rectangle 11">
            <a:extLst>
              <a:ext uri="{FF2B5EF4-FFF2-40B4-BE49-F238E27FC236}">
                <a16:creationId xmlns:a16="http://schemas.microsoft.com/office/drawing/2014/main" id="{BDBFC6A9-185F-467D-8EE7-1E085267186B}"/>
              </a:ext>
            </a:extLst>
          </p:cNvPr>
          <p:cNvSpPr/>
          <p:nvPr/>
        </p:nvSpPr>
        <p:spPr>
          <a:xfrm>
            <a:off x="7426642" y="2379631"/>
            <a:ext cx="3716676" cy="451714"/>
          </a:xfrm>
          <a:prstGeom prst="roundRect">
            <a:avLst>
              <a:gd name="adj" fmla="val 8000"/>
            </a:avLst>
          </a:prstGeom>
          <a:solidFill>
            <a:srgbClr val="FBEDEC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D6E6EC9E-946A-4474-AB23-E9EFB0D02814}"/>
              </a:ext>
            </a:extLst>
          </p:cNvPr>
          <p:cNvSpPr txBox="1"/>
          <p:nvPr/>
        </p:nvSpPr>
        <p:spPr>
          <a:xfrm>
            <a:off x="7636954" y="2498503"/>
            <a:ext cx="1005690" cy="23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sz="1050" b="1" dirty="0">
                <a:solidFill>
                  <a:srgbClr val="C23B32"/>
                </a:solidFill>
                <a:latin typeface="Microsoft YaHei"/>
              </a:rPr>
              <a:t> Mask</a:t>
            </a:r>
          </a:p>
        </p:txBody>
      </p:sp>
      <p:sp>
        <p:nvSpPr>
          <p:cNvPr id="117" name="TextBox 13">
            <a:extLst>
              <a:ext uri="{FF2B5EF4-FFF2-40B4-BE49-F238E27FC236}">
                <a16:creationId xmlns:a16="http://schemas.microsoft.com/office/drawing/2014/main" id="{737F4C34-67AF-4EA3-A646-E6A52C9F8AC5}"/>
              </a:ext>
            </a:extLst>
          </p:cNvPr>
          <p:cNvSpPr txBox="1"/>
          <p:nvPr/>
        </p:nvSpPr>
        <p:spPr>
          <a:xfrm>
            <a:off x="8706802" y="2489360"/>
            <a:ext cx="2230006" cy="23577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sz="1050" b="1" dirty="0">
                <a:solidFill>
                  <a:srgbClr val="17202A"/>
                </a:solidFill>
                <a:latin typeface="Consolas"/>
              </a:rPr>
              <a:t>invalid → −∞</a:t>
            </a:r>
          </a:p>
        </p:txBody>
      </p:sp>
      <p:sp>
        <p:nvSpPr>
          <p:cNvPr id="148" name="Rounded Rectangle 15">
            <a:extLst>
              <a:ext uri="{FF2B5EF4-FFF2-40B4-BE49-F238E27FC236}">
                <a16:creationId xmlns:a16="http://schemas.microsoft.com/office/drawing/2014/main" id="{43FDCA8B-A6E5-433C-88AD-C222EEDF39DE}"/>
              </a:ext>
            </a:extLst>
          </p:cNvPr>
          <p:cNvSpPr/>
          <p:nvPr/>
        </p:nvSpPr>
        <p:spPr>
          <a:xfrm>
            <a:off x="7426642" y="2913580"/>
            <a:ext cx="3716676" cy="451714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1E6A9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TextBox 16">
            <a:extLst>
              <a:ext uri="{FF2B5EF4-FFF2-40B4-BE49-F238E27FC236}">
                <a16:creationId xmlns:a16="http://schemas.microsoft.com/office/drawing/2014/main" id="{56828653-E495-4136-9A79-127C716E2615}"/>
              </a:ext>
            </a:extLst>
          </p:cNvPr>
          <p:cNvSpPr txBox="1"/>
          <p:nvPr/>
        </p:nvSpPr>
        <p:spPr>
          <a:xfrm>
            <a:off x="7636954" y="3032452"/>
            <a:ext cx="1005690" cy="23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sz="1050" b="1" dirty="0">
                <a:solidFill>
                  <a:srgbClr val="1E6A9E"/>
                </a:solidFill>
                <a:latin typeface="Microsoft YaHei"/>
              </a:rPr>
              <a:t>Row max</a:t>
            </a:r>
          </a:p>
        </p:txBody>
      </p:sp>
      <p:sp>
        <p:nvSpPr>
          <p:cNvPr id="150" name="TextBox 17">
            <a:extLst>
              <a:ext uri="{FF2B5EF4-FFF2-40B4-BE49-F238E27FC236}">
                <a16:creationId xmlns:a16="http://schemas.microsoft.com/office/drawing/2014/main" id="{09375D00-3CC2-4F0E-9B38-63A3C18D2FC5}"/>
              </a:ext>
            </a:extLst>
          </p:cNvPr>
          <p:cNvSpPr txBox="1"/>
          <p:nvPr/>
        </p:nvSpPr>
        <p:spPr>
          <a:xfrm>
            <a:off x="8783897" y="2939089"/>
            <a:ext cx="2320502" cy="23577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pt-BR" sz="1050" b="1" dirty="0">
                <a:solidFill>
                  <a:srgbClr val="17202A"/>
                </a:solidFill>
                <a:latin typeface="Consolas"/>
              </a:rPr>
              <a:t>ρ_b[51]= max_n(S_b[51,16])</a:t>
            </a:r>
            <a:endParaRPr sz="1050" b="1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52" name="Rounded Rectangle 19">
            <a:extLst>
              <a:ext uri="{FF2B5EF4-FFF2-40B4-BE49-F238E27FC236}">
                <a16:creationId xmlns:a16="http://schemas.microsoft.com/office/drawing/2014/main" id="{75457B87-8AEE-45EE-8BDC-A0D995146BCB}"/>
              </a:ext>
            </a:extLst>
          </p:cNvPr>
          <p:cNvSpPr/>
          <p:nvPr/>
        </p:nvSpPr>
        <p:spPr>
          <a:xfrm>
            <a:off x="7407112" y="3472940"/>
            <a:ext cx="3716676" cy="451714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1E6A9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TextBox 20">
            <a:extLst>
              <a:ext uri="{FF2B5EF4-FFF2-40B4-BE49-F238E27FC236}">
                <a16:creationId xmlns:a16="http://schemas.microsoft.com/office/drawing/2014/main" id="{32742324-B391-44B6-9A42-55C5CE3E2808}"/>
              </a:ext>
            </a:extLst>
          </p:cNvPr>
          <p:cNvSpPr txBox="1"/>
          <p:nvPr/>
        </p:nvSpPr>
        <p:spPr>
          <a:xfrm>
            <a:off x="7617424" y="3591813"/>
            <a:ext cx="1005690" cy="23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sz="1050" b="1" dirty="0">
                <a:solidFill>
                  <a:srgbClr val="1E6A9E"/>
                </a:solidFill>
                <a:latin typeface="Microsoft YaHei"/>
              </a:rPr>
              <a:t>Rebase</a:t>
            </a:r>
          </a:p>
        </p:txBody>
      </p:sp>
      <p:sp>
        <p:nvSpPr>
          <p:cNvPr id="154" name="TextBox 21">
            <a:extLst>
              <a:ext uri="{FF2B5EF4-FFF2-40B4-BE49-F238E27FC236}">
                <a16:creationId xmlns:a16="http://schemas.microsoft.com/office/drawing/2014/main" id="{7D19AE45-7431-4693-8AA3-9542EAB8B0A4}"/>
              </a:ext>
            </a:extLst>
          </p:cNvPr>
          <p:cNvSpPr txBox="1"/>
          <p:nvPr/>
        </p:nvSpPr>
        <p:spPr>
          <a:xfrm>
            <a:off x="8668984" y="3503051"/>
            <a:ext cx="2230006" cy="405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m_new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[51]= max(</a:t>
            </a: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m_old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[51],</a:t>
            </a: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ρ_b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[51])</a:t>
            </a:r>
            <a:endParaRPr sz="1050" b="1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56" name="Rounded Rectangle 23">
            <a:extLst>
              <a:ext uri="{FF2B5EF4-FFF2-40B4-BE49-F238E27FC236}">
                <a16:creationId xmlns:a16="http://schemas.microsoft.com/office/drawing/2014/main" id="{CF0334E0-CECB-4A07-ADC2-B662FBE163DF}"/>
              </a:ext>
            </a:extLst>
          </p:cNvPr>
          <p:cNvSpPr/>
          <p:nvPr/>
        </p:nvSpPr>
        <p:spPr>
          <a:xfrm>
            <a:off x="7400207" y="4507448"/>
            <a:ext cx="3716676" cy="451714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TextBox 25">
            <a:extLst>
              <a:ext uri="{FF2B5EF4-FFF2-40B4-BE49-F238E27FC236}">
                <a16:creationId xmlns:a16="http://schemas.microsoft.com/office/drawing/2014/main" id="{E295AF6B-37A3-471C-8BA3-3EE35A51D895}"/>
              </a:ext>
            </a:extLst>
          </p:cNvPr>
          <p:cNvSpPr txBox="1"/>
          <p:nvPr/>
        </p:nvSpPr>
        <p:spPr>
          <a:xfrm>
            <a:off x="8093891" y="4579265"/>
            <a:ext cx="2819014" cy="23577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P_b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[51,16]= exp(</a:t>
            </a: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S_b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- </a:t>
            </a:r>
            <a:r>
              <a:rPr lang="en-US" sz="1050" b="1" dirty="0" err="1">
                <a:solidFill>
                  <a:srgbClr val="17202A"/>
                </a:solidFill>
                <a:latin typeface="Consolas"/>
              </a:rPr>
              <a:t>m_new</a:t>
            </a:r>
            <a:r>
              <a:rPr lang="en-US" sz="1050" b="1" dirty="0">
                <a:solidFill>
                  <a:srgbClr val="17202A"/>
                </a:solidFill>
                <a:latin typeface="Consolas"/>
              </a:rPr>
              <a:t>)</a:t>
            </a:r>
            <a:endParaRPr sz="1050" b="1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60" name="Rounded Rectangle 30">
            <a:extLst>
              <a:ext uri="{FF2B5EF4-FFF2-40B4-BE49-F238E27FC236}">
                <a16:creationId xmlns:a16="http://schemas.microsoft.com/office/drawing/2014/main" id="{38B94A4C-7DE0-40E9-BA52-8BB9D35E05E0}"/>
              </a:ext>
            </a:extLst>
          </p:cNvPr>
          <p:cNvSpPr/>
          <p:nvPr/>
        </p:nvSpPr>
        <p:spPr>
          <a:xfrm>
            <a:off x="7407112" y="4022920"/>
            <a:ext cx="3759869" cy="397623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TextBox 31">
            <a:extLst>
              <a:ext uri="{FF2B5EF4-FFF2-40B4-BE49-F238E27FC236}">
                <a16:creationId xmlns:a16="http://schemas.microsoft.com/office/drawing/2014/main" id="{1B4ECB49-45CD-4D68-841B-6650883E3716}"/>
              </a:ext>
            </a:extLst>
          </p:cNvPr>
          <p:cNvSpPr txBox="1"/>
          <p:nvPr/>
        </p:nvSpPr>
        <p:spPr>
          <a:xfrm>
            <a:off x="7871203" y="4119857"/>
            <a:ext cx="3531074" cy="2434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1" dirty="0">
                <a:solidFill>
                  <a:srgbClr val="17202A"/>
                </a:solidFill>
                <a:latin typeface="Consolas"/>
              </a:rPr>
              <a:t>α_b[51]= exp(</a:t>
            </a:r>
            <a:r>
              <a:rPr lang="en-US" sz="1100" b="1" dirty="0" err="1">
                <a:solidFill>
                  <a:srgbClr val="17202A"/>
                </a:solidFill>
                <a:latin typeface="Consolas"/>
              </a:rPr>
              <a:t>m_old</a:t>
            </a:r>
            <a:r>
              <a:rPr lang="en-US" sz="1100" b="1" dirty="0">
                <a:solidFill>
                  <a:srgbClr val="17202A"/>
                </a:solidFill>
                <a:latin typeface="Consolas"/>
              </a:rPr>
              <a:t>[51] - </a:t>
            </a:r>
            <a:r>
              <a:rPr lang="en-US" sz="1100" b="1" dirty="0" err="1">
                <a:solidFill>
                  <a:srgbClr val="17202A"/>
                </a:solidFill>
                <a:latin typeface="Consolas"/>
              </a:rPr>
              <a:t>m_new</a:t>
            </a:r>
            <a:r>
              <a:rPr lang="en-US" sz="1100" b="1" dirty="0">
                <a:solidFill>
                  <a:srgbClr val="17202A"/>
                </a:solidFill>
                <a:latin typeface="Consolas"/>
              </a:rPr>
              <a:t>[51])</a:t>
            </a:r>
            <a:endParaRPr sz="1100" b="1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63" name="Rounded Rectangle 33">
            <a:extLst>
              <a:ext uri="{FF2B5EF4-FFF2-40B4-BE49-F238E27FC236}">
                <a16:creationId xmlns:a16="http://schemas.microsoft.com/office/drawing/2014/main" id="{3E028CA0-E101-43E4-ABB1-BC6905D94C4E}"/>
              </a:ext>
            </a:extLst>
          </p:cNvPr>
          <p:cNvSpPr/>
          <p:nvPr/>
        </p:nvSpPr>
        <p:spPr>
          <a:xfrm>
            <a:off x="7378610" y="5051368"/>
            <a:ext cx="3759869" cy="397623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1E6A9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TextBox 34">
            <a:extLst>
              <a:ext uri="{FF2B5EF4-FFF2-40B4-BE49-F238E27FC236}">
                <a16:creationId xmlns:a16="http://schemas.microsoft.com/office/drawing/2014/main" id="{37DCA699-29C6-4C2A-A3DD-D1AD2A5737FB}"/>
              </a:ext>
            </a:extLst>
          </p:cNvPr>
          <p:cNvSpPr txBox="1"/>
          <p:nvPr/>
        </p:nvSpPr>
        <p:spPr>
          <a:xfrm>
            <a:off x="7517931" y="5163769"/>
            <a:ext cx="3637845" cy="242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lang="en-US" sz="1100" b="1" dirty="0">
                <a:solidFill>
                  <a:srgbClr val="17202A"/>
                </a:solidFill>
                <a:latin typeface="Consolas"/>
              </a:rPr>
              <a:t>ℓ_new[51]= </a:t>
            </a:r>
            <a:r>
              <a:rPr lang="el-GR" sz="1100" b="1" dirty="0">
                <a:solidFill>
                  <a:srgbClr val="17202A"/>
                </a:solidFill>
                <a:latin typeface="Consolas"/>
              </a:rPr>
              <a:t>α_</a:t>
            </a:r>
            <a:r>
              <a:rPr lang="en-US" sz="1100" b="1" dirty="0">
                <a:solidFill>
                  <a:srgbClr val="17202A"/>
                </a:solidFill>
                <a:latin typeface="Consolas"/>
              </a:rPr>
              <a:t>b[51] ⊙ ℓ_old[51] + </a:t>
            </a:r>
            <a:r>
              <a:rPr lang="el-GR" sz="1100" b="1" dirty="0">
                <a:solidFill>
                  <a:srgbClr val="17202A"/>
                </a:solidFill>
                <a:latin typeface="Consolas"/>
              </a:rPr>
              <a:t>Σ</a:t>
            </a:r>
            <a:r>
              <a:rPr lang="en-US" sz="1100" b="1" dirty="0">
                <a:solidFill>
                  <a:srgbClr val="17202A"/>
                </a:solidFill>
                <a:latin typeface="Consolas"/>
              </a:rPr>
              <a:t> </a:t>
            </a:r>
            <a:r>
              <a:rPr lang="en-US" sz="1100" b="1" dirty="0" err="1">
                <a:solidFill>
                  <a:srgbClr val="17202A"/>
                </a:solidFill>
                <a:latin typeface="Consolas"/>
              </a:rPr>
              <a:t>P_b</a:t>
            </a:r>
            <a:endParaRPr sz="1100" b="1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66" name="Rounded Rectangle 36">
            <a:extLst>
              <a:ext uri="{FF2B5EF4-FFF2-40B4-BE49-F238E27FC236}">
                <a16:creationId xmlns:a16="http://schemas.microsoft.com/office/drawing/2014/main" id="{AD7EB38C-FBF1-4984-85F5-1C167ECF0EE6}"/>
              </a:ext>
            </a:extLst>
          </p:cNvPr>
          <p:cNvSpPr/>
          <p:nvPr/>
        </p:nvSpPr>
        <p:spPr>
          <a:xfrm>
            <a:off x="7395907" y="5604558"/>
            <a:ext cx="3759869" cy="397623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TextBox 37">
            <a:extLst>
              <a:ext uri="{FF2B5EF4-FFF2-40B4-BE49-F238E27FC236}">
                <a16:creationId xmlns:a16="http://schemas.microsoft.com/office/drawing/2014/main" id="{DEECD50B-1323-4156-AEDC-CD21AC5B49F6}"/>
              </a:ext>
            </a:extLst>
          </p:cNvPr>
          <p:cNvSpPr txBox="1"/>
          <p:nvPr/>
        </p:nvSpPr>
        <p:spPr>
          <a:xfrm>
            <a:off x="7542211" y="5695998"/>
            <a:ext cx="3531074" cy="242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100" b="1" dirty="0" err="1">
                <a:solidFill>
                  <a:srgbClr val="17202A"/>
                </a:solidFill>
                <a:latin typeface="Consolas"/>
              </a:rPr>
              <a:t>O_new</a:t>
            </a:r>
            <a:r>
              <a:rPr lang="en-US" sz="1100" b="1" dirty="0">
                <a:solidFill>
                  <a:srgbClr val="17202A"/>
                </a:solidFill>
                <a:latin typeface="Consolas"/>
              </a:rPr>
              <a:t>[51,256]</a:t>
            </a:r>
            <a:r>
              <a:rPr sz="1100" b="1" dirty="0">
                <a:solidFill>
                  <a:srgbClr val="17202A"/>
                </a:solidFill>
                <a:latin typeface="Consolas"/>
              </a:rPr>
              <a:t> = α_b </a:t>
            </a:r>
            <a:r>
              <a:rPr lang="zh-CN" altLang="en-US" sz="1100" b="1" dirty="0">
                <a:solidFill>
                  <a:srgbClr val="17202A"/>
                </a:solidFill>
                <a:latin typeface="Consolas"/>
              </a:rPr>
              <a:t>⊙ </a:t>
            </a:r>
            <a:r>
              <a:rPr sz="1100" b="1" dirty="0" err="1">
                <a:solidFill>
                  <a:srgbClr val="17202A"/>
                </a:solidFill>
                <a:latin typeface="Consolas"/>
              </a:rPr>
              <a:t>O_old</a:t>
            </a:r>
            <a:r>
              <a:rPr sz="1100" b="1" dirty="0">
                <a:solidFill>
                  <a:srgbClr val="17202A"/>
                </a:solidFill>
                <a:latin typeface="Consolas"/>
              </a:rPr>
              <a:t> + </a:t>
            </a:r>
            <a:r>
              <a:rPr sz="1100" b="1" dirty="0" err="1">
                <a:solidFill>
                  <a:srgbClr val="17202A"/>
                </a:solidFill>
                <a:latin typeface="Consolas"/>
              </a:rPr>
              <a:t>P_bV_b</a:t>
            </a:r>
            <a:endParaRPr sz="1100" b="1" dirty="0">
              <a:solidFill>
                <a:srgbClr val="17202A"/>
              </a:solidFill>
              <a:latin typeface="Consolas"/>
            </a:endParaRPr>
          </a:p>
        </p:txBody>
      </p:sp>
      <p:sp>
        <p:nvSpPr>
          <p:cNvPr id="169" name="Rounded Rectangle 39">
            <a:extLst>
              <a:ext uri="{FF2B5EF4-FFF2-40B4-BE49-F238E27FC236}">
                <a16:creationId xmlns:a16="http://schemas.microsoft.com/office/drawing/2014/main" id="{2684F521-7E54-4E56-BE2A-B4C0E964ACD1}"/>
              </a:ext>
            </a:extLst>
          </p:cNvPr>
          <p:cNvSpPr/>
          <p:nvPr/>
        </p:nvSpPr>
        <p:spPr>
          <a:xfrm>
            <a:off x="7395907" y="6132985"/>
            <a:ext cx="3759869" cy="397623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163A5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TextBox 40">
            <a:extLst>
              <a:ext uri="{FF2B5EF4-FFF2-40B4-BE49-F238E27FC236}">
                <a16:creationId xmlns:a16="http://schemas.microsoft.com/office/drawing/2014/main" id="{4AF3E4E3-45F5-45EF-800B-2E4A2CF77710}"/>
              </a:ext>
            </a:extLst>
          </p:cNvPr>
          <p:cNvSpPr txBox="1"/>
          <p:nvPr/>
        </p:nvSpPr>
        <p:spPr>
          <a:xfrm>
            <a:off x="7542211" y="6224424"/>
            <a:ext cx="3531074" cy="242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100" b="1" dirty="0">
                <a:solidFill>
                  <a:srgbClr val="17202A"/>
                </a:solidFill>
                <a:latin typeface="Consolas"/>
              </a:rPr>
              <a:t>Attention = OACC / ℓ</a:t>
            </a:r>
            <a:r>
              <a:rPr lang="zh-CN" altLang="en-US" sz="1100" b="1" dirty="0">
                <a:solidFill>
                  <a:srgbClr val="17202A"/>
                </a:solidFill>
                <a:latin typeface="Consolas"/>
              </a:rPr>
              <a:t>（</a:t>
            </a:r>
            <a:r>
              <a:rPr lang="en-US" altLang="zh-CN" sz="1100" b="1" dirty="0">
                <a:solidFill>
                  <a:srgbClr val="17202A"/>
                </a:solidFill>
                <a:latin typeface="Consolas"/>
              </a:rPr>
              <a:t>SFU+VPU</a:t>
            </a:r>
            <a:r>
              <a:rPr lang="zh-CN" altLang="en-US" sz="1100" b="1" dirty="0">
                <a:solidFill>
                  <a:srgbClr val="17202A"/>
                </a:solidFill>
                <a:latin typeface="Consolas"/>
              </a:rPr>
              <a:t>）</a:t>
            </a:r>
            <a:endParaRPr sz="1100" b="1" dirty="0">
              <a:solidFill>
                <a:srgbClr val="17202A"/>
              </a:solidFill>
              <a:latin typeface="Consolas"/>
            </a:endParaRPr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D20F5EF2-B363-4605-9197-7590B482FDC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673" y="1325556"/>
            <a:ext cx="2657494" cy="1514486"/>
          </a:xfrm>
          <a:prstGeom prst="rect">
            <a:avLst/>
          </a:prstGeom>
        </p:spPr>
      </p:pic>
      <p:pic>
        <p:nvPicPr>
          <p:cNvPr id="173" name="图片 172">
            <a:extLst>
              <a:ext uri="{FF2B5EF4-FFF2-40B4-BE49-F238E27FC236}">
                <a16:creationId xmlns:a16="http://schemas.microsoft.com/office/drawing/2014/main" id="{E3CDA2E1-92AA-48EB-9D6D-6A8A6EF598D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9496" y="1366713"/>
            <a:ext cx="2935661" cy="1546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64C02A2-468D-4B89-BCA7-AC30B970908A}"/>
                  </a:ext>
                </a:extLst>
              </p:cNvPr>
              <p:cNvSpPr txBox="1"/>
              <p:nvPr/>
            </p:nvSpPr>
            <p:spPr>
              <a:xfrm>
                <a:off x="2089385" y="2973128"/>
                <a:ext cx="1567417" cy="304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𝑓𝑖𝑛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64C02A2-468D-4B89-BCA7-AC30B9709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385" y="2973128"/>
                <a:ext cx="1567417" cy="304186"/>
              </a:xfrm>
              <a:prstGeom prst="rect">
                <a:avLst/>
              </a:prstGeom>
              <a:blipFill>
                <a:blip r:embed="rId15"/>
                <a:stretch>
                  <a:fillRect l="-3113" t="-2000" r="-2335" b="-2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8888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1" y="360362"/>
            <a:ext cx="646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分块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873E019-3DE5-4992-97A7-03BC2DDDF9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0335" y="1935800"/>
            <a:ext cx="6564074" cy="43473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CA52D1C-1A4C-4E25-A523-3349146E95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588000"/>
            <a:ext cx="5645554" cy="139374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272DE77A-0199-400A-9A16-5CD7996643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749" y="3036565"/>
            <a:ext cx="4294055" cy="34610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82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Mask</a:t>
            </a:r>
            <a:endParaRPr lang="zh-CN" altLang="en-US" sz="2400" b="1" dirty="0">
              <a:solidFill>
                <a:schemeClr val="bg1"/>
              </a:solidFill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419C7758-DDCE-42E8-945B-07D9A11F06CF}"/>
              </a:ext>
            </a:extLst>
          </p:cNvPr>
          <p:cNvSpPr txBox="1"/>
          <p:nvPr/>
        </p:nvSpPr>
        <p:spPr>
          <a:xfrm>
            <a:off x="607420" y="1102769"/>
            <a:ext cx="14630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>
              <a:lnSpc>
                <a:spcPct val="105000"/>
              </a:lnSpc>
            </a:pPr>
            <a:r>
              <a:rPr sz="1100" b="1">
                <a:solidFill>
                  <a:srgbClr val="66727C"/>
                </a:solidFill>
                <a:latin typeface="Microsoft YaHei"/>
              </a:rPr>
              <a:t>Query ↓ / Key →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EEFC80AF-35F7-44EB-9B3D-66503175DCED}"/>
              </a:ext>
            </a:extLst>
          </p:cNvPr>
          <p:cNvSpPr txBox="1"/>
          <p:nvPr/>
        </p:nvSpPr>
        <p:spPr>
          <a:xfrm>
            <a:off x="2207620" y="1102769"/>
            <a:ext cx="1051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150" b="1" dirty="0">
                <a:solidFill>
                  <a:srgbClr val="1E6A9E"/>
                </a:solidFill>
                <a:latin typeface="Microsoft YaHei"/>
              </a:rPr>
              <a:t>Prefix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8F6746B-A9A4-4BA8-A588-F810922D1AAF}"/>
              </a:ext>
            </a:extLst>
          </p:cNvPr>
          <p:cNvSpPr txBox="1"/>
          <p:nvPr/>
        </p:nvSpPr>
        <p:spPr>
          <a:xfrm>
            <a:off x="3432915" y="1102769"/>
            <a:ext cx="1051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150" b="1" dirty="0">
                <a:solidFill>
                  <a:srgbClr val="B26A00"/>
                </a:solidFill>
                <a:latin typeface="Microsoft YaHei"/>
              </a:rPr>
              <a:t>State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AAE8A29B-200E-4505-A55B-3973F9549FAA}"/>
              </a:ext>
            </a:extLst>
          </p:cNvPr>
          <p:cNvSpPr txBox="1"/>
          <p:nvPr/>
        </p:nvSpPr>
        <p:spPr>
          <a:xfrm>
            <a:off x="4658212" y="1102769"/>
            <a:ext cx="1051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150" b="1" dirty="0">
                <a:solidFill>
                  <a:srgbClr val="3D7A57"/>
                </a:solidFill>
                <a:latin typeface="Microsoft YaHei"/>
              </a:rPr>
              <a:t>Action</a:t>
            </a: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D78211E8-E53B-4EDA-A107-41A09C1397B4}"/>
              </a:ext>
            </a:extLst>
          </p:cNvPr>
          <p:cNvSpPr txBox="1"/>
          <p:nvPr/>
        </p:nvSpPr>
        <p:spPr>
          <a:xfrm>
            <a:off x="698860" y="1578257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 defTabSz="457200">
              <a:lnSpc>
                <a:spcPct val="105000"/>
              </a:lnSpc>
            </a:pPr>
            <a:r>
              <a:rPr sz="1200" b="1" dirty="0">
                <a:solidFill>
                  <a:srgbClr val="1E6A9E"/>
                </a:solidFill>
                <a:latin typeface="Microsoft YaHei"/>
              </a:rPr>
              <a:t>Prefix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66992024-3483-4926-889E-E4673D6A9D4B}"/>
              </a:ext>
            </a:extLst>
          </p:cNvPr>
          <p:cNvSpPr/>
          <p:nvPr/>
        </p:nvSpPr>
        <p:spPr>
          <a:xfrm>
            <a:off x="2161900" y="1495961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3FC09B82-A1ED-43CC-BEFF-7722586AD9B5}"/>
              </a:ext>
            </a:extLst>
          </p:cNvPr>
          <p:cNvSpPr txBox="1"/>
          <p:nvPr/>
        </p:nvSpPr>
        <p:spPr>
          <a:xfrm>
            <a:off x="2207620" y="1642265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3D7A57"/>
                </a:solidFill>
                <a:latin typeface="Microsoft YaHei"/>
              </a:rPr>
              <a:t>可见</a:t>
            </a:r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69EC79B4-E4DC-4020-8F0A-FCEDCA9DC67C}"/>
              </a:ext>
            </a:extLst>
          </p:cNvPr>
          <p:cNvSpPr/>
          <p:nvPr/>
        </p:nvSpPr>
        <p:spPr>
          <a:xfrm>
            <a:off x="3387196" y="1495961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BEDEC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A843CB1E-CFA6-42E3-A99C-975C39268625}"/>
              </a:ext>
            </a:extLst>
          </p:cNvPr>
          <p:cNvSpPr txBox="1"/>
          <p:nvPr/>
        </p:nvSpPr>
        <p:spPr>
          <a:xfrm>
            <a:off x="3432915" y="1642265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C23B32"/>
                </a:solidFill>
                <a:latin typeface="Microsoft YaHei"/>
              </a:rPr>
              <a:t>屏蔽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4EB5FA07-28CF-4A8E-A87D-8163A580B95A}"/>
              </a:ext>
            </a:extLst>
          </p:cNvPr>
          <p:cNvSpPr/>
          <p:nvPr/>
        </p:nvSpPr>
        <p:spPr>
          <a:xfrm>
            <a:off x="4612492" y="1495961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BEDEC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5A91A5CE-F679-41F9-9D76-F30AC2761059}"/>
              </a:ext>
            </a:extLst>
          </p:cNvPr>
          <p:cNvSpPr txBox="1"/>
          <p:nvPr/>
        </p:nvSpPr>
        <p:spPr>
          <a:xfrm>
            <a:off x="4658212" y="1642265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C23B32"/>
                </a:solidFill>
                <a:latin typeface="Microsoft YaHei"/>
              </a:rPr>
              <a:t>屏蔽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CCA01C95-358A-451A-84B7-5CA3669E1F09}"/>
              </a:ext>
            </a:extLst>
          </p:cNvPr>
          <p:cNvSpPr txBox="1"/>
          <p:nvPr/>
        </p:nvSpPr>
        <p:spPr>
          <a:xfrm>
            <a:off x="698860" y="2346353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 defTabSz="457200">
              <a:lnSpc>
                <a:spcPct val="105000"/>
              </a:lnSpc>
            </a:pPr>
            <a:r>
              <a:rPr sz="1200" b="1" dirty="0">
                <a:solidFill>
                  <a:srgbClr val="B26A00"/>
                </a:solidFill>
                <a:latin typeface="Microsoft YaHei"/>
              </a:rPr>
              <a:t>State</a:t>
            </a: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A5CEEBCB-3CEA-477F-B6AD-A6D0FB198309}"/>
              </a:ext>
            </a:extLst>
          </p:cNvPr>
          <p:cNvSpPr/>
          <p:nvPr/>
        </p:nvSpPr>
        <p:spPr>
          <a:xfrm>
            <a:off x="2161900" y="2264057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DD608438-CA50-4702-9810-7924F2B5111C}"/>
              </a:ext>
            </a:extLst>
          </p:cNvPr>
          <p:cNvSpPr txBox="1"/>
          <p:nvPr/>
        </p:nvSpPr>
        <p:spPr>
          <a:xfrm>
            <a:off x="2207620" y="2410361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3D7A57"/>
                </a:solidFill>
                <a:latin typeface="Microsoft YaHei"/>
              </a:rPr>
              <a:t>可见</a:t>
            </a:r>
          </a:p>
        </p:txBody>
      </p:sp>
      <p:sp>
        <p:nvSpPr>
          <p:cNvPr id="31" name="Rounded Rectangle 19">
            <a:extLst>
              <a:ext uri="{FF2B5EF4-FFF2-40B4-BE49-F238E27FC236}">
                <a16:creationId xmlns:a16="http://schemas.microsoft.com/office/drawing/2014/main" id="{ECF4881E-C704-4547-8AB2-F59690D18D7F}"/>
              </a:ext>
            </a:extLst>
          </p:cNvPr>
          <p:cNvSpPr/>
          <p:nvPr/>
        </p:nvSpPr>
        <p:spPr>
          <a:xfrm>
            <a:off x="3387196" y="2264057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B7A392EB-A70D-49E0-BF8C-923A9BCC547D}"/>
              </a:ext>
            </a:extLst>
          </p:cNvPr>
          <p:cNvSpPr txBox="1"/>
          <p:nvPr/>
        </p:nvSpPr>
        <p:spPr>
          <a:xfrm>
            <a:off x="3432915" y="2410361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3D7A57"/>
                </a:solidFill>
                <a:latin typeface="Microsoft YaHei"/>
              </a:rPr>
              <a:t>可见</a:t>
            </a:r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CBC0297E-E338-4309-BA17-AF11DFFC3933}"/>
              </a:ext>
            </a:extLst>
          </p:cNvPr>
          <p:cNvSpPr/>
          <p:nvPr/>
        </p:nvSpPr>
        <p:spPr>
          <a:xfrm>
            <a:off x="4612492" y="2264057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FBEDEC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74959C89-65DA-469E-91A6-57DEC3096728}"/>
              </a:ext>
            </a:extLst>
          </p:cNvPr>
          <p:cNvSpPr txBox="1"/>
          <p:nvPr/>
        </p:nvSpPr>
        <p:spPr>
          <a:xfrm>
            <a:off x="4658212" y="2410361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 dirty="0" err="1">
                <a:solidFill>
                  <a:srgbClr val="C23B32"/>
                </a:solidFill>
                <a:latin typeface="Microsoft YaHei"/>
              </a:rPr>
              <a:t>屏蔽</a:t>
            </a:r>
            <a:endParaRPr sz="1200" b="1" dirty="0">
              <a:solidFill>
                <a:srgbClr val="C23B32"/>
              </a:solidFill>
              <a:latin typeface="Microsoft YaHei"/>
            </a:endParaRPr>
          </a:p>
        </p:txBody>
      </p:sp>
      <p:sp>
        <p:nvSpPr>
          <p:cNvPr id="37" name="TextBox 23">
            <a:extLst>
              <a:ext uri="{FF2B5EF4-FFF2-40B4-BE49-F238E27FC236}">
                <a16:creationId xmlns:a16="http://schemas.microsoft.com/office/drawing/2014/main" id="{564A6579-4BE4-40FD-840B-07B6F2A26030}"/>
              </a:ext>
            </a:extLst>
          </p:cNvPr>
          <p:cNvSpPr txBox="1"/>
          <p:nvPr/>
        </p:nvSpPr>
        <p:spPr>
          <a:xfrm>
            <a:off x="698860" y="3114449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 defTabSz="457200">
              <a:lnSpc>
                <a:spcPct val="105000"/>
              </a:lnSpc>
            </a:pPr>
            <a:r>
              <a:rPr sz="1200" b="1" dirty="0">
                <a:solidFill>
                  <a:srgbClr val="3D7A57"/>
                </a:solidFill>
                <a:latin typeface="Microsoft YaHei"/>
              </a:rPr>
              <a:t>Action</a:t>
            </a:r>
          </a:p>
        </p:txBody>
      </p:sp>
      <p:sp>
        <p:nvSpPr>
          <p:cNvPr id="38" name="Rounded Rectangle 24">
            <a:extLst>
              <a:ext uri="{FF2B5EF4-FFF2-40B4-BE49-F238E27FC236}">
                <a16:creationId xmlns:a16="http://schemas.microsoft.com/office/drawing/2014/main" id="{765B6DCD-1C2D-4A47-90AC-39AFD613F33B}"/>
              </a:ext>
            </a:extLst>
          </p:cNvPr>
          <p:cNvSpPr/>
          <p:nvPr/>
        </p:nvSpPr>
        <p:spPr>
          <a:xfrm>
            <a:off x="2161900" y="3032153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8C51AB1A-E04B-4C18-AC75-A60B8049AD1B}"/>
              </a:ext>
            </a:extLst>
          </p:cNvPr>
          <p:cNvSpPr txBox="1"/>
          <p:nvPr/>
        </p:nvSpPr>
        <p:spPr>
          <a:xfrm>
            <a:off x="2207620" y="3178457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3D7A57"/>
                </a:solidFill>
                <a:latin typeface="Microsoft YaHei"/>
              </a:rPr>
              <a:t>可见</a:t>
            </a:r>
          </a:p>
        </p:txBody>
      </p:sp>
      <p:sp>
        <p:nvSpPr>
          <p:cNvPr id="40" name="Rounded Rectangle 26">
            <a:extLst>
              <a:ext uri="{FF2B5EF4-FFF2-40B4-BE49-F238E27FC236}">
                <a16:creationId xmlns:a16="http://schemas.microsoft.com/office/drawing/2014/main" id="{95EB28B7-E253-4857-8845-CCEE16245757}"/>
              </a:ext>
            </a:extLst>
          </p:cNvPr>
          <p:cNvSpPr/>
          <p:nvPr/>
        </p:nvSpPr>
        <p:spPr>
          <a:xfrm>
            <a:off x="3387196" y="3032153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B3E63C1C-FFEC-4BD2-93DB-E98B4C7ED3ED}"/>
              </a:ext>
            </a:extLst>
          </p:cNvPr>
          <p:cNvSpPr txBox="1"/>
          <p:nvPr/>
        </p:nvSpPr>
        <p:spPr>
          <a:xfrm>
            <a:off x="3432915" y="3178457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3D7A57"/>
                </a:solidFill>
                <a:latin typeface="Microsoft YaHei"/>
              </a:rPr>
              <a:t>可见</a:t>
            </a:r>
          </a:p>
        </p:txBody>
      </p:sp>
      <p:sp>
        <p:nvSpPr>
          <p:cNvPr id="42" name="Rounded Rectangle 28">
            <a:extLst>
              <a:ext uri="{FF2B5EF4-FFF2-40B4-BE49-F238E27FC236}">
                <a16:creationId xmlns:a16="http://schemas.microsoft.com/office/drawing/2014/main" id="{99BEE0EF-5CDE-4F49-BC06-753234157BAD}"/>
              </a:ext>
            </a:extLst>
          </p:cNvPr>
          <p:cNvSpPr/>
          <p:nvPr/>
        </p:nvSpPr>
        <p:spPr>
          <a:xfrm>
            <a:off x="4612492" y="3032153"/>
            <a:ext cx="1051560" cy="54864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29">
            <a:extLst>
              <a:ext uri="{FF2B5EF4-FFF2-40B4-BE49-F238E27FC236}">
                <a16:creationId xmlns:a16="http://schemas.microsoft.com/office/drawing/2014/main" id="{DF6D6D98-78C7-4814-9CEB-A4515A878470}"/>
              </a:ext>
            </a:extLst>
          </p:cNvPr>
          <p:cNvSpPr txBox="1"/>
          <p:nvPr/>
        </p:nvSpPr>
        <p:spPr>
          <a:xfrm>
            <a:off x="4658212" y="3178457"/>
            <a:ext cx="960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 defTabSz="457200">
              <a:lnSpc>
                <a:spcPct val="105000"/>
              </a:lnSpc>
            </a:pPr>
            <a:r>
              <a:rPr sz="1200" b="1">
                <a:solidFill>
                  <a:srgbClr val="3D7A57"/>
                </a:solidFill>
                <a:latin typeface="Microsoft YaHei"/>
              </a:rPr>
              <a:t>可见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F24D443-2772-4809-9BE9-CFF97059704A}"/>
              </a:ext>
            </a:extLst>
          </p:cNvPr>
          <p:cNvSpPr txBox="1"/>
          <p:nvPr/>
        </p:nvSpPr>
        <p:spPr>
          <a:xfrm>
            <a:off x="6320544" y="1885297"/>
            <a:ext cx="44495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jj</a:t>
            </a:r>
            <a:r>
              <a:rPr lang="en-US" altLang="zh-CN" dirty="0"/>
              <a:t> =((blk-51)&lt;&lt;4)+j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masked=(</a:t>
            </a:r>
            <a:r>
              <a:rPr lang="en-US" altLang="zh-CN" dirty="0" err="1"/>
              <a:t>jj</a:t>
            </a:r>
            <a:r>
              <a:rPr lang="en-US" altLang="zh-CN" dirty="0"/>
              <a:t>&gt;=51)OR(m==0ANDjj&gt;=1)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da-DK" altLang="zh-CN" dirty="0"/>
              <a:t>score =masked?NEG_INF_FP32:score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5ED555-7727-4649-A4ED-0651908662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45219" y="4003778"/>
            <a:ext cx="6541283" cy="19746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392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scale</a:t>
            </a:r>
            <a:endParaRPr lang="zh-CN" altLang="en-US" sz="2400" b="1" dirty="0">
              <a:solidFill>
                <a:schemeClr val="bg1"/>
              </a:solidFill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16AAD68-2FD1-4890-B12E-B65FF514712C}"/>
              </a:ext>
            </a:extLst>
          </p:cNvPr>
          <p:cNvSpPr txBox="1"/>
          <p:nvPr/>
        </p:nvSpPr>
        <p:spPr>
          <a:xfrm>
            <a:off x="382043" y="1597336"/>
            <a:ext cx="5481813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MXINT8-B16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en-US" altLang="zh-CN" sz="1400" dirty="0"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MXINT8-B16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：每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16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个连续元素共用一个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E8M0 Scale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（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维） 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一个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16×16 Tile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的存储量为：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256 Byte INT8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数据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+ 16 Byte Scale= 272 Byte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en-US" altLang="zh-CN" sz="1400" dirty="0"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it-IT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q[i] = RNE(v[i] × 2^(133-E))</a:t>
            </a:r>
            <a:br>
              <a:rPr kumimoji="0" lang="it-IT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it-IT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E8M0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指数偏置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127+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隐含缩放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</a:t>
            </a:r>
            <a:endParaRPr kumimoji="0" lang="it-IT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it-IT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x_fp32 = q × 2^(E - 133)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185141-D388-4035-8FDC-5FD85AAE283D}"/>
              </a:ext>
            </a:extLst>
          </p:cNvPr>
          <p:cNvSpPr txBox="1"/>
          <p:nvPr/>
        </p:nvSpPr>
        <p:spPr>
          <a:xfrm>
            <a:off x="462642" y="4256315"/>
            <a:ext cx="4838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shape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Q</a:t>
            </a:r>
            <a:r>
              <a:rPr lang="zh-CN" altLang="en-US" dirty="0"/>
              <a:t>：</a:t>
            </a:r>
            <a:r>
              <a:rPr lang="en-US" altLang="zh-CN" dirty="0"/>
              <a:t>[51,256]            </a:t>
            </a:r>
            <a:r>
              <a:rPr lang="en-US" altLang="zh-CN" dirty="0" err="1"/>
              <a:t>E_q</a:t>
            </a:r>
            <a:r>
              <a:rPr lang="en-US" altLang="zh-CN" dirty="0"/>
              <a:t>[</a:t>
            </a:r>
            <a:r>
              <a:rPr lang="en-US" altLang="zh-CN" dirty="0" err="1"/>
              <a:t>m,t</a:t>
            </a:r>
            <a:r>
              <a:rPr lang="en-US" altLang="zh-CN" dirty="0"/>
              <a:t>]</a:t>
            </a:r>
            <a:r>
              <a:rPr lang="zh-CN" altLang="en-US" dirty="0"/>
              <a:t>：</a:t>
            </a:r>
            <a:r>
              <a:rPr lang="en-US" altLang="zh-CN" dirty="0"/>
              <a:t>[51,16]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K</a:t>
            </a:r>
            <a:r>
              <a:rPr lang="zh-CN" altLang="en-US" dirty="0"/>
              <a:t>：</a:t>
            </a:r>
            <a:r>
              <a:rPr lang="en-US" altLang="zh-CN" dirty="0"/>
              <a:t>[880,256]         </a:t>
            </a:r>
            <a:r>
              <a:rPr lang="en-US" altLang="zh-CN" dirty="0" err="1"/>
              <a:t>E_k</a:t>
            </a:r>
            <a:r>
              <a:rPr lang="zh-CN" altLang="en-US" dirty="0"/>
              <a:t>：</a:t>
            </a:r>
            <a:r>
              <a:rPr lang="en-US" altLang="zh-CN" dirty="0"/>
              <a:t>[</a:t>
            </a:r>
            <a:r>
              <a:rPr lang="en-US" altLang="zh-CN" dirty="0" err="1"/>
              <a:t>j,t</a:t>
            </a:r>
            <a:r>
              <a:rPr lang="en-US" altLang="zh-CN" dirty="0"/>
              <a:t>]</a:t>
            </a:r>
            <a:r>
              <a:rPr lang="zh-CN" altLang="en-US" dirty="0"/>
              <a:t>：</a:t>
            </a:r>
            <a:r>
              <a:rPr lang="en-US" altLang="zh-CN" dirty="0"/>
              <a:t>[880,16]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P</a:t>
            </a:r>
            <a:r>
              <a:rPr lang="zh-CN" altLang="en-US" dirty="0"/>
              <a:t>：</a:t>
            </a:r>
            <a:r>
              <a:rPr lang="en-US" altLang="zh-CN" dirty="0"/>
              <a:t>[51,880]           </a:t>
            </a:r>
            <a:r>
              <a:rPr lang="en-US" altLang="zh-CN" dirty="0" err="1"/>
              <a:t>E_p</a:t>
            </a:r>
            <a:r>
              <a:rPr lang="en-US" altLang="zh-CN" dirty="0"/>
              <a:t>[</a:t>
            </a:r>
            <a:r>
              <a:rPr lang="en-US" altLang="zh-CN" dirty="0" err="1"/>
              <a:t>m,b</a:t>
            </a:r>
            <a:r>
              <a:rPr lang="en-US" altLang="zh-CN" dirty="0"/>
              <a:t>]</a:t>
            </a:r>
            <a:r>
              <a:rPr lang="zh-CN" altLang="en-US" dirty="0"/>
              <a:t>：</a:t>
            </a:r>
            <a:r>
              <a:rPr lang="en-US" altLang="zh-CN" dirty="0"/>
              <a:t>[51,55]</a:t>
            </a:r>
            <a:r>
              <a:rPr lang="zh-CN" altLang="en-US" dirty="0"/>
              <a:t>（逻辑，实际</a:t>
            </a:r>
            <a:r>
              <a:rPr lang="en-US" altLang="zh-CN" dirty="0" err="1"/>
              <a:t>E_p^b</a:t>
            </a:r>
            <a:r>
              <a:rPr lang="zh-CN" altLang="en-US" dirty="0"/>
              <a:t>：</a:t>
            </a:r>
            <a:r>
              <a:rPr lang="en-US" altLang="zh-CN" dirty="0"/>
              <a:t>[51]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V</a:t>
            </a:r>
            <a:r>
              <a:rPr lang="zh-CN" altLang="en-US" dirty="0"/>
              <a:t>：</a:t>
            </a:r>
            <a:r>
              <a:rPr lang="en-US" altLang="zh-CN" dirty="0"/>
              <a:t>[880,256]         </a:t>
            </a:r>
            <a:r>
              <a:rPr lang="en-US" altLang="zh-CN" dirty="0" err="1"/>
              <a:t>E_v</a:t>
            </a:r>
            <a:r>
              <a:rPr lang="en-US" altLang="zh-CN" dirty="0"/>
              <a:t>[</a:t>
            </a:r>
            <a:r>
              <a:rPr lang="en-US" altLang="zh-CN" dirty="0" err="1"/>
              <a:t>b,d</a:t>
            </a:r>
            <a:r>
              <a:rPr lang="en-US" altLang="zh-CN" dirty="0"/>
              <a:t>]</a:t>
            </a:r>
            <a:r>
              <a:rPr lang="zh-CN" altLang="en-US" dirty="0"/>
              <a:t>：</a:t>
            </a:r>
            <a:r>
              <a:rPr lang="en-US" altLang="zh-CN" dirty="0"/>
              <a:t>[55,256]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CB48041-DBCD-4CB7-8FD8-18FF9F9634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9579" y="1825170"/>
            <a:ext cx="3919870" cy="146686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2BDC0D-A7CA-4008-904B-7581AFB3A745}"/>
              </a:ext>
            </a:extLst>
          </p:cNvPr>
          <p:cNvSpPr txBox="1"/>
          <p:nvPr/>
        </p:nvSpPr>
        <p:spPr>
          <a:xfrm>
            <a:off x="7155712" y="1281223"/>
            <a:ext cx="257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反量化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8AE79A2-2008-41E3-AFA0-01F95BE36A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0446" y="3955669"/>
            <a:ext cx="3869003" cy="18669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并行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D2571B-E61C-4D00-9F6E-C352409C5063}"/>
              </a:ext>
            </a:extLst>
          </p:cNvPr>
          <p:cNvSpPr txBox="1"/>
          <p:nvPr/>
        </p:nvSpPr>
        <p:spPr>
          <a:xfrm>
            <a:off x="483780" y="1435395"/>
            <a:ext cx="507704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MXU</a:t>
            </a:r>
          </a:p>
          <a:p>
            <a:r>
              <a:rPr lang="en-US" altLang="zh-CN" sz="1400" dirty="0"/>
              <a:t>      Q</a:t>
            </a:r>
            <a:r>
              <a:rPr lang="zh-CN" altLang="en-US" sz="1400" dirty="0"/>
              <a:t>：</a:t>
            </a:r>
            <a:r>
              <a:rPr lang="en-US" altLang="zh-CN" sz="1400" dirty="0"/>
              <a:t>[51,256]   </a:t>
            </a:r>
            <a:r>
              <a:rPr lang="en-US" altLang="zh-CN" sz="1400" dirty="0" err="1"/>
              <a:t>K_b</a:t>
            </a:r>
            <a:r>
              <a:rPr lang="zh-CN" altLang="en-US" sz="1400" dirty="0"/>
              <a:t>：</a:t>
            </a:r>
            <a:r>
              <a:rPr lang="en-US" altLang="zh-CN" sz="1400" dirty="0"/>
              <a:t>[16,256]   </a:t>
            </a:r>
            <a:r>
              <a:rPr lang="fr-FR" altLang="zh-CN" sz="1400" dirty="0"/>
              <a:t>T_QK  = 816 cycles</a:t>
            </a:r>
          </a:p>
          <a:p>
            <a:r>
              <a:rPr lang="en-US" altLang="zh-CN" sz="1400" dirty="0"/>
              <a:t>      </a:t>
            </a:r>
            <a:r>
              <a:rPr lang="en-US" altLang="zh-CN" sz="1400" dirty="0" err="1"/>
              <a:t>P_b</a:t>
            </a:r>
            <a:r>
              <a:rPr lang="zh-CN" altLang="en-US" sz="1400" dirty="0"/>
              <a:t>：</a:t>
            </a:r>
            <a:r>
              <a:rPr lang="en-US" altLang="zh-CN" sz="1400" dirty="0"/>
              <a:t>[51,16]  </a:t>
            </a:r>
            <a:r>
              <a:rPr lang="en-US" altLang="zh-CN" sz="1400" dirty="0" err="1"/>
              <a:t>V_b</a:t>
            </a:r>
            <a:r>
              <a:rPr lang="zh-CN" altLang="en-US" sz="1400" dirty="0"/>
              <a:t>：</a:t>
            </a:r>
            <a:r>
              <a:rPr lang="en-US" altLang="zh-CN" sz="1400" dirty="0"/>
              <a:t>[16,256]   </a:t>
            </a:r>
            <a:r>
              <a:rPr lang="fr-FR" altLang="zh-CN" sz="1400" dirty="0"/>
              <a:t>T_PV = 816 cycles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fr-FR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fr-FR" altLang="zh-CN" sz="1400" dirty="0"/>
              <a:t>SFU</a:t>
            </a:r>
            <a:r>
              <a:rPr lang="zh-CN" altLang="en-US" sz="1400" dirty="0"/>
              <a:t>为</a:t>
            </a:r>
            <a:r>
              <a:rPr lang="en-US" altLang="zh-CN" sz="1400" dirty="0"/>
              <a:t>2lane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en-US" altLang="zh-CN" sz="1400" dirty="0"/>
              <a:t>      P</a:t>
            </a:r>
            <a:r>
              <a:rPr lang="zh-CN" altLang="en-US" sz="1400" dirty="0"/>
              <a:t>：</a:t>
            </a:r>
            <a:r>
              <a:rPr lang="en-US" altLang="zh-CN" sz="1400" dirty="0"/>
              <a:t>51×16÷2 = 408 cycles</a:t>
            </a:r>
          </a:p>
          <a:p>
            <a:r>
              <a:rPr lang="en-US" altLang="zh-CN" sz="1400" dirty="0"/>
              <a:t>      α=exp(</a:t>
            </a:r>
            <a:r>
              <a:rPr lang="en-US" altLang="zh-CN" sz="1400" dirty="0" err="1"/>
              <a:t>μ_old-μ_new</a:t>
            </a:r>
            <a:r>
              <a:rPr lang="en-US" altLang="zh-CN" sz="1400" dirty="0"/>
              <a:t>)</a:t>
            </a:r>
            <a:r>
              <a:rPr lang="zh-CN" altLang="en-US" sz="1400" dirty="0"/>
              <a:t>：</a:t>
            </a:r>
            <a:r>
              <a:rPr lang="en-US" altLang="zh-CN" sz="1400" dirty="0"/>
              <a:t>51÷2 = 26 cycles</a:t>
            </a:r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fr-FR" altLang="zh-CN" sz="1400" dirty="0"/>
              <a:t>VPU</a:t>
            </a:r>
            <a:r>
              <a:rPr lang="zh-CN" altLang="en-US" sz="1400" dirty="0"/>
              <a:t>：</a:t>
            </a:r>
            <a:r>
              <a:rPr lang="en-US" altLang="zh-CN" sz="1400" dirty="0"/>
              <a:t>512-bit  16lane</a:t>
            </a:r>
            <a:br>
              <a:rPr lang="en-US" altLang="zh-CN" sz="1400" dirty="0"/>
            </a:br>
            <a:r>
              <a:rPr lang="en-US" altLang="zh-CN" sz="1400" dirty="0"/>
              <a:t>OACC_SCALE</a:t>
            </a:r>
            <a:r>
              <a:rPr lang="zh-CN" altLang="en-US" sz="1400" dirty="0"/>
              <a:t>：</a:t>
            </a:r>
            <a:r>
              <a:rPr lang="en-US" altLang="zh-CN" sz="1400" dirty="0"/>
              <a:t>51×256÷16 = 816 cycles</a:t>
            </a:r>
          </a:p>
          <a:p>
            <a:r>
              <a:rPr lang="en-US" altLang="zh-CN" sz="1400" dirty="0"/>
              <a:t>      P[51,16]</a:t>
            </a:r>
            <a:r>
              <a:rPr lang="zh-CN" altLang="en-US" sz="1400" dirty="0"/>
              <a:t>量化</a:t>
            </a:r>
            <a:r>
              <a:rPr lang="en-US" altLang="zh-CN" sz="1400" dirty="0"/>
              <a:t>/</a:t>
            </a:r>
            <a:r>
              <a:rPr lang="zh-CN" altLang="en-US" sz="1400" dirty="0"/>
              <a:t>更新</a:t>
            </a:r>
            <a:r>
              <a:rPr lang="en-US" altLang="zh-CN" sz="1400" dirty="0"/>
              <a:t>l</a:t>
            </a:r>
            <a:r>
              <a:rPr lang="zh-CN" altLang="en-US" sz="1400" dirty="0"/>
              <a:t>：</a:t>
            </a:r>
            <a:r>
              <a:rPr lang="en-US" altLang="zh-CN" sz="1400" dirty="0"/>
              <a:t>51×16÷16 = 51cycles</a:t>
            </a:r>
          </a:p>
          <a:p>
            <a:r>
              <a:rPr lang="en-US" altLang="zh-CN" sz="1400" dirty="0"/>
              <a:t>      S[51,16]Mask/</a:t>
            </a:r>
            <a:r>
              <a:rPr lang="el-GR" altLang="zh-CN" sz="1400" dirty="0"/>
              <a:t>ρ_</a:t>
            </a:r>
            <a:r>
              <a:rPr lang="en-US" altLang="zh-CN" sz="1400" dirty="0"/>
              <a:t>b/m</a:t>
            </a:r>
            <a:r>
              <a:rPr lang="el-GR" altLang="zh-CN" sz="1400" dirty="0"/>
              <a:t>_</a:t>
            </a:r>
            <a:r>
              <a:rPr lang="en-US" altLang="zh-CN" sz="1400" dirty="0"/>
              <a:t>new</a:t>
            </a:r>
            <a:r>
              <a:rPr lang="zh-CN" altLang="en-US" sz="1400" dirty="0"/>
              <a:t>：</a:t>
            </a:r>
            <a:r>
              <a:rPr lang="en-US" altLang="zh-CN" sz="1400" dirty="0"/>
              <a:t>51cycles</a:t>
            </a:r>
          </a:p>
          <a:p>
            <a:endParaRPr lang="fr-FR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fr-FR" altLang="zh-CN" sz="1400" dirty="0"/>
              <a:t>DEQACC</a:t>
            </a:r>
            <a:r>
              <a:rPr lang="zh-CN" altLang="en-US" sz="1400" dirty="0"/>
              <a:t>：</a:t>
            </a:r>
            <a:r>
              <a:rPr lang="en-US" altLang="zh-CN" sz="1400" dirty="0"/>
              <a:t>16 lane</a:t>
            </a:r>
          </a:p>
          <a:p>
            <a:r>
              <a:rPr lang="fr-FR" altLang="zh-CN" sz="1400" dirty="0"/>
              <a:t>      S = Q[51,256] × Kᵀ[256,16] </a:t>
            </a:r>
            <a:r>
              <a:rPr lang="zh-CN" altLang="en-US" sz="1400" dirty="0"/>
              <a:t>：</a:t>
            </a:r>
            <a:r>
              <a:rPr lang="en-US" altLang="zh-CN" sz="1400" dirty="0"/>
              <a:t>51×16</a:t>
            </a:r>
            <a:r>
              <a:rPr lang="zh-CN" altLang="en-US" sz="1400" dirty="0"/>
              <a:t>（</a:t>
            </a:r>
            <a:r>
              <a:rPr lang="en-US" altLang="zh-CN" sz="1400" dirty="0"/>
              <a:t>tile)×16÷16 = 816</a:t>
            </a:r>
            <a:endParaRPr lang="fr-FR" altLang="zh-CN" sz="1400" dirty="0"/>
          </a:p>
          <a:p>
            <a:r>
              <a:rPr lang="en-US" altLang="zh-CN" sz="1400" dirty="0"/>
              <a:t>      P[51,16] × V[16,256]</a:t>
            </a:r>
            <a:r>
              <a:rPr lang="zh-CN" altLang="en-US" sz="1400" dirty="0"/>
              <a:t>：</a:t>
            </a:r>
            <a:r>
              <a:rPr lang="en-US" altLang="zh-CN" sz="1400" dirty="0"/>
              <a:t>51×256÷16 = 816</a:t>
            </a:r>
          </a:p>
          <a:p>
            <a:r>
              <a:rPr lang="en-US" altLang="zh-CN" sz="1400" dirty="0"/>
              <a:t>      </a:t>
            </a:r>
            <a:r>
              <a:rPr lang="en-US" altLang="zh-CN" sz="1400" dirty="0" err="1"/>
              <a:t>PV+O_old</a:t>
            </a:r>
            <a:r>
              <a:rPr lang="en-US" altLang="zh-CN" sz="1400" dirty="0"/>
              <a:t>                            816</a:t>
            </a:r>
          </a:p>
          <a:p>
            <a:r>
              <a:rPr lang="en-US" altLang="zh-CN" sz="1400" dirty="0"/>
              <a:t>      MXU</a:t>
            </a:r>
            <a:r>
              <a:rPr lang="zh-CN" altLang="en-US" sz="1400" dirty="0"/>
              <a:t>延时</a:t>
            </a:r>
            <a:r>
              <a:rPr lang="en-US" altLang="zh-CN" sz="1400" dirty="0"/>
              <a:t>6 + DEQACC</a:t>
            </a:r>
            <a:r>
              <a:rPr lang="zh-CN" altLang="en-US" sz="1400" dirty="0"/>
              <a:t>内部延时</a:t>
            </a:r>
            <a:r>
              <a:rPr lang="en-US" altLang="zh-CN" sz="1400" dirty="0"/>
              <a:t>5 = 11</a:t>
            </a:r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A_FIN:</a:t>
            </a:r>
            <a:br>
              <a:rPr lang="en-US" altLang="zh-CN" sz="1400" dirty="0"/>
            </a:br>
            <a:r>
              <a:rPr lang="en-US" altLang="zh-CN" sz="1400" dirty="0"/>
              <a:t>SFU</a:t>
            </a:r>
            <a:r>
              <a:rPr lang="zh-CN" altLang="en-US" sz="1400" dirty="0"/>
              <a:t>计算</a:t>
            </a:r>
            <a:r>
              <a:rPr lang="en-US" altLang="zh-CN" sz="1400" dirty="0"/>
              <a:t>1/l</a:t>
            </a:r>
            <a:r>
              <a:rPr lang="zh-CN" altLang="en-US" sz="1400" dirty="0"/>
              <a:t>：</a:t>
            </a:r>
            <a:r>
              <a:rPr lang="en-US" altLang="zh-CN" sz="1400" dirty="0"/>
              <a:t>51÷2 = 26</a:t>
            </a:r>
          </a:p>
          <a:p>
            <a:r>
              <a:rPr lang="en-US" altLang="zh-CN" sz="1400" dirty="0"/>
              <a:t>      VPU</a:t>
            </a:r>
            <a:r>
              <a:rPr lang="zh-CN" altLang="en-US" sz="1400" dirty="0"/>
              <a:t>计算</a:t>
            </a:r>
            <a:r>
              <a:rPr lang="en-US" altLang="zh-CN" sz="1400" dirty="0"/>
              <a:t>OACC×1/l</a:t>
            </a:r>
            <a:r>
              <a:rPr lang="zh-CN" altLang="en-US" sz="1400" dirty="0"/>
              <a:t>：</a:t>
            </a:r>
            <a:r>
              <a:rPr lang="en-US" altLang="zh-CN" sz="1400" dirty="0"/>
              <a:t>816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EA2E12-B96B-4C01-956C-9A3520615D85}"/>
              </a:ext>
            </a:extLst>
          </p:cNvPr>
          <p:cNvSpPr txBox="1"/>
          <p:nvPr/>
        </p:nvSpPr>
        <p:spPr>
          <a:xfrm>
            <a:off x="7279760" y="2426761"/>
            <a:ext cx="420827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启动</a:t>
            </a:r>
            <a:endParaRPr lang="en-US" altLang="zh-CN" sz="1400" dirty="0"/>
          </a:p>
          <a:p>
            <a:r>
              <a:rPr lang="zh-CN" altLang="en-US" sz="1400" dirty="0"/>
              <a:t>阶段</a:t>
            </a:r>
            <a:r>
              <a:rPr lang="en-US" altLang="zh-CN" sz="1400" dirty="0"/>
              <a:t>1</a:t>
            </a:r>
            <a:r>
              <a:rPr lang="zh-CN" altLang="en-US" sz="1400" dirty="0"/>
              <a:t>：</a:t>
            </a:r>
            <a:r>
              <a:rPr lang="en-US" altLang="zh-CN" sz="1400" dirty="0"/>
              <a:t>QK(0)                         </a:t>
            </a:r>
          </a:p>
          <a:p>
            <a:r>
              <a:rPr lang="zh-CN" altLang="en-US" sz="1400" dirty="0"/>
              <a:t>拍阶段</a:t>
            </a:r>
            <a:r>
              <a:rPr lang="en-US" altLang="zh-CN" sz="1400" dirty="0"/>
              <a:t>2</a:t>
            </a:r>
            <a:r>
              <a:rPr lang="zh-CN" altLang="en-US" sz="1400" dirty="0"/>
              <a:t>：</a:t>
            </a:r>
            <a:r>
              <a:rPr lang="en-US" altLang="zh-CN" sz="1400" dirty="0"/>
              <a:t>QK(1) || EXP(0)               </a:t>
            </a:r>
          </a:p>
          <a:p>
            <a:r>
              <a:rPr lang="zh-CN" altLang="en-US" sz="1400" dirty="0"/>
              <a:t>拍阶段</a:t>
            </a:r>
            <a:r>
              <a:rPr lang="en-US" altLang="zh-CN" sz="1400" dirty="0"/>
              <a:t>3</a:t>
            </a:r>
            <a:r>
              <a:rPr lang="zh-CN" altLang="en-US" sz="1400" dirty="0"/>
              <a:t>：</a:t>
            </a:r>
            <a:r>
              <a:rPr lang="en-US" altLang="zh-CN" sz="1400" dirty="0"/>
              <a:t>PV(0) || EXP(1)             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/>
              <a:t>稳态</a:t>
            </a:r>
            <a:endParaRPr lang="en-US" altLang="zh-CN" sz="1400" dirty="0"/>
          </a:p>
          <a:p>
            <a:r>
              <a:rPr lang="en-US" altLang="zh-CN" sz="1400" dirty="0"/>
              <a:t>QK(b+1) || OACC_SCALE(</a:t>
            </a:r>
            <a:r>
              <a:rPr lang="el-GR" altLang="zh-CN" sz="1400" dirty="0"/>
              <a:t>α_</a:t>
            </a:r>
            <a:r>
              <a:rPr lang="en-US" altLang="zh-CN" sz="1400" dirty="0"/>
              <a:t>b)</a:t>
            </a:r>
          </a:p>
          <a:p>
            <a:r>
              <a:rPr lang="en-US" altLang="zh-CN" sz="1400" dirty="0"/>
              <a:t>PV(b)   || EXP(b+1)</a:t>
            </a:r>
          </a:p>
          <a:p>
            <a:endParaRPr lang="en-US" altLang="zh-CN" sz="1400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/>
              <a:t>结尾</a:t>
            </a:r>
            <a:endParaRPr lang="en-US" altLang="zh-CN" sz="1400" dirty="0"/>
          </a:p>
          <a:p>
            <a:r>
              <a:rPr lang="it-IT" altLang="zh-CN" sz="1400" dirty="0"/>
              <a:t>            ||OACC_SCALE(α_54)       </a:t>
            </a:r>
            <a:endParaRPr lang="zh-CN" altLang="it-IT" sz="1400" dirty="0"/>
          </a:p>
          <a:p>
            <a:r>
              <a:rPr lang="it-IT" altLang="zh-CN" sz="1400" dirty="0"/>
              <a:t>PV(54) || </a:t>
            </a:r>
          </a:p>
          <a:p>
            <a:r>
              <a:rPr lang="it-IT" altLang="zh-CN" sz="1400" dirty="0"/>
              <a:t>            ||A_FIN       </a:t>
            </a:r>
            <a:endParaRPr lang="en-US" altLang="zh-CN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617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计算单元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129840B-36BC-49C2-B076-E55046144825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744" b="13018"/>
          <a:stretch/>
        </p:blipFill>
        <p:spPr>
          <a:xfrm>
            <a:off x="341436" y="1149807"/>
            <a:ext cx="10918443" cy="304204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51F0CFD-D8B2-468D-9A49-748DF6D38E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9965" y="4286489"/>
            <a:ext cx="7137255" cy="25715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101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微软雅黑" panose="020B0503020204020204" charset="-122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kumimoji="0" sz="975" b="0" i="0" u="none" strike="noStrike" kern="1200" cap="none" spc="0" normalizeH="0" baseline="0" noProof="0">
                <a:ln>
                  <a:noFill/>
                </a:ln>
                <a:solidFill>
                  <a:srgbClr val="6D7771"/>
                </a:solidFill>
                <a:effectLst/>
                <a:uLnTx/>
                <a:uFillTx/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计算单元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0CA81AE0-45CB-4016-A000-23D4B022384D}"/>
              </a:ext>
            </a:extLst>
          </p:cNvPr>
          <p:cNvSpPr txBox="1"/>
          <p:nvPr/>
        </p:nvSpPr>
        <p:spPr>
          <a:xfrm>
            <a:off x="657860" y="1345850"/>
            <a:ext cx="9601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66727C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计算单元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F55D3679-52B7-4907-B05B-F5C9CED650B7}"/>
              </a:ext>
            </a:extLst>
          </p:cNvPr>
          <p:cNvSpPr/>
          <p:nvPr/>
        </p:nvSpPr>
        <p:spPr>
          <a:xfrm>
            <a:off x="1782572" y="1226978"/>
            <a:ext cx="4434840" cy="43891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 cap="flat" cmpd="sng" algn="ctr">
            <a:solidFill>
              <a:srgbClr val="1E6A9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F64131BE-6B8E-4013-9497-5532824C3DAE}"/>
              </a:ext>
            </a:extLst>
          </p:cNvPr>
          <p:cNvSpPr/>
          <p:nvPr/>
        </p:nvSpPr>
        <p:spPr>
          <a:xfrm>
            <a:off x="6354572" y="1226978"/>
            <a:ext cx="4434840" cy="438912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C701CE0F-4C50-4054-874D-5B23FEAF473C}"/>
              </a:ext>
            </a:extLst>
          </p:cNvPr>
          <p:cNvSpPr txBox="1"/>
          <p:nvPr/>
        </p:nvSpPr>
        <p:spPr>
          <a:xfrm>
            <a:off x="1910588" y="1345850"/>
            <a:ext cx="4178808" cy="2582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6A9E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前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E6A9E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816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6A9E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拍：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6A9E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QK(b+1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6A9E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E6A9E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||OACC_SCALE(b)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1E6A9E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E6F3F8C2-27F7-4846-99B0-C48ED1DA6BFD}"/>
              </a:ext>
            </a:extLst>
          </p:cNvPr>
          <p:cNvSpPr txBox="1"/>
          <p:nvPr/>
        </p:nvSpPr>
        <p:spPr>
          <a:xfrm>
            <a:off x="6482588" y="1345850"/>
            <a:ext cx="4178808" cy="2582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3D7A57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后816拍：PV(b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D7A57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）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D7A57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||EXP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D7A57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D7A57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b+1)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3D7A57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4FBBB339-D026-4B94-B707-C7EB472552D2}"/>
              </a:ext>
            </a:extLst>
          </p:cNvPr>
          <p:cNvSpPr txBox="1"/>
          <p:nvPr/>
        </p:nvSpPr>
        <p:spPr>
          <a:xfrm>
            <a:off x="685292" y="2004218"/>
            <a:ext cx="84124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MXU</a:t>
            </a:r>
          </a:p>
        </p:txBody>
      </p:sp>
      <p:cxnSp>
        <p:nvCxnSpPr>
          <p:cNvPr id="24" name="Connector 11">
            <a:extLst>
              <a:ext uri="{FF2B5EF4-FFF2-40B4-BE49-F238E27FC236}">
                <a16:creationId xmlns:a16="http://schemas.microsoft.com/office/drawing/2014/main" id="{03868825-8654-4446-87BA-79946D211AEE}"/>
              </a:ext>
            </a:extLst>
          </p:cNvPr>
          <p:cNvCxnSpPr/>
          <p:nvPr/>
        </p:nvCxnSpPr>
        <p:spPr>
          <a:xfrm>
            <a:off x="1691132" y="2324258"/>
            <a:ext cx="9162288" cy="0"/>
          </a:xfrm>
          <a:prstGeom prst="line">
            <a:avLst/>
          </a:prstGeom>
          <a:noFill/>
          <a:ln w="8255" cap="flat" cmpd="sng" algn="ctr">
            <a:solidFill>
              <a:srgbClr val="D8DEE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5" name="TextBox 12">
            <a:extLst>
              <a:ext uri="{FF2B5EF4-FFF2-40B4-BE49-F238E27FC236}">
                <a16:creationId xmlns:a16="http://schemas.microsoft.com/office/drawing/2014/main" id="{68918478-562F-404D-A90B-CEA27C33A227}"/>
              </a:ext>
            </a:extLst>
          </p:cNvPr>
          <p:cNvSpPr txBox="1"/>
          <p:nvPr/>
        </p:nvSpPr>
        <p:spPr>
          <a:xfrm>
            <a:off x="685292" y="2479706"/>
            <a:ext cx="841248" cy="2511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" b="1" dirty="0">
                <a:solidFill>
                  <a:srgbClr val="163A5F"/>
                </a:solidFill>
                <a:latin typeface="Consolas"/>
                <a:ea typeface="微软雅黑"/>
              </a:rPr>
              <a:t>FP ACC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163A5F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cxnSp>
        <p:nvCxnSpPr>
          <p:cNvPr id="26" name="Connector 13">
            <a:extLst>
              <a:ext uri="{FF2B5EF4-FFF2-40B4-BE49-F238E27FC236}">
                <a16:creationId xmlns:a16="http://schemas.microsoft.com/office/drawing/2014/main" id="{18ECB4DE-5A26-4996-BE1D-CCB298D8D635}"/>
              </a:ext>
            </a:extLst>
          </p:cNvPr>
          <p:cNvCxnSpPr/>
          <p:nvPr/>
        </p:nvCxnSpPr>
        <p:spPr>
          <a:xfrm>
            <a:off x="1691132" y="2799746"/>
            <a:ext cx="9162288" cy="0"/>
          </a:xfrm>
          <a:prstGeom prst="line">
            <a:avLst/>
          </a:prstGeom>
          <a:noFill/>
          <a:ln w="8255" cap="flat" cmpd="sng" algn="ctr">
            <a:solidFill>
              <a:srgbClr val="D8DEE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7" name="TextBox 14">
            <a:extLst>
              <a:ext uri="{FF2B5EF4-FFF2-40B4-BE49-F238E27FC236}">
                <a16:creationId xmlns:a16="http://schemas.microsoft.com/office/drawing/2014/main" id="{B962A8BB-F008-4CE4-B07C-DF8BFA77A9A9}"/>
              </a:ext>
            </a:extLst>
          </p:cNvPr>
          <p:cNvSpPr txBox="1"/>
          <p:nvPr/>
        </p:nvSpPr>
        <p:spPr>
          <a:xfrm>
            <a:off x="685292" y="2955194"/>
            <a:ext cx="84124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SFU</a:t>
            </a:r>
          </a:p>
        </p:txBody>
      </p:sp>
      <p:cxnSp>
        <p:nvCxnSpPr>
          <p:cNvPr id="28" name="Connector 15">
            <a:extLst>
              <a:ext uri="{FF2B5EF4-FFF2-40B4-BE49-F238E27FC236}">
                <a16:creationId xmlns:a16="http://schemas.microsoft.com/office/drawing/2014/main" id="{3CADB685-A0B9-48A6-BF36-21D734DDB6E2}"/>
              </a:ext>
            </a:extLst>
          </p:cNvPr>
          <p:cNvCxnSpPr/>
          <p:nvPr/>
        </p:nvCxnSpPr>
        <p:spPr>
          <a:xfrm>
            <a:off x="1691132" y="3275234"/>
            <a:ext cx="9162288" cy="0"/>
          </a:xfrm>
          <a:prstGeom prst="line">
            <a:avLst/>
          </a:prstGeom>
          <a:noFill/>
          <a:ln w="8255" cap="flat" cmpd="sng" algn="ctr">
            <a:solidFill>
              <a:srgbClr val="D8DEE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9" name="TextBox 16">
            <a:extLst>
              <a:ext uri="{FF2B5EF4-FFF2-40B4-BE49-F238E27FC236}">
                <a16:creationId xmlns:a16="http://schemas.microsoft.com/office/drawing/2014/main" id="{47F86146-5C7F-4393-92F8-ED1832F96E21}"/>
              </a:ext>
            </a:extLst>
          </p:cNvPr>
          <p:cNvSpPr txBox="1"/>
          <p:nvPr/>
        </p:nvSpPr>
        <p:spPr>
          <a:xfrm>
            <a:off x="685292" y="3430682"/>
            <a:ext cx="841248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163A5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VPU</a:t>
            </a:r>
          </a:p>
        </p:txBody>
      </p:sp>
      <p:sp>
        <p:nvSpPr>
          <p:cNvPr id="31" name="Rounded Rectangle 18">
            <a:extLst>
              <a:ext uri="{FF2B5EF4-FFF2-40B4-BE49-F238E27FC236}">
                <a16:creationId xmlns:a16="http://schemas.microsoft.com/office/drawing/2014/main" id="{8FCD269F-1461-426C-878E-27E4CF713045}"/>
              </a:ext>
            </a:extLst>
          </p:cNvPr>
          <p:cNvSpPr/>
          <p:nvPr/>
        </p:nvSpPr>
        <p:spPr>
          <a:xfrm>
            <a:off x="1837436" y="1903634"/>
            <a:ext cx="4325112" cy="393192"/>
          </a:xfrm>
          <a:prstGeom prst="roundRect">
            <a:avLst>
              <a:gd name="adj" fmla="val 8000"/>
            </a:avLst>
          </a:prstGeom>
          <a:solidFill>
            <a:srgbClr val="1E6A9E"/>
          </a:solidFill>
          <a:ln w="12700" cap="flat" cmpd="sng" algn="ctr">
            <a:solidFill>
              <a:srgbClr val="1E6A9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138EC351-1A1D-42E0-9736-ACF41ADC7735}"/>
              </a:ext>
            </a:extLst>
          </p:cNvPr>
          <p:cNvSpPr txBox="1"/>
          <p:nvPr/>
        </p:nvSpPr>
        <p:spPr>
          <a:xfrm>
            <a:off x="1938020" y="1995074"/>
            <a:ext cx="4114800" cy="2326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3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QK(b+1): 816</a:t>
            </a:r>
          </a:p>
        </p:txBody>
      </p:sp>
      <p:sp>
        <p:nvSpPr>
          <p:cNvPr id="35" name="Rounded Rectangle 20">
            <a:extLst>
              <a:ext uri="{FF2B5EF4-FFF2-40B4-BE49-F238E27FC236}">
                <a16:creationId xmlns:a16="http://schemas.microsoft.com/office/drawing/2014/main" id="{1D5E16E3-50B6-4694-87A1-C2062293BA5B}"/>
              </a:ext>
            </a:extLst>
          </p:cNvPr>
          <p:cNvSpPr/>
          <p:nvPr/>
        </p:nvSpPr>
        <p:spPr>
          <a:xfrm>
            <a:off x="6409436" y="1903634"/>
            <a:ext cx="4325112" cy="393192"/>
          </a:xfrm>
          <a:prstGeom prst="roundRect">
            <a:avLst>
              <a:gd name="adj" fmla="val 8000"/>
            </a:avLst>
          </a:prstGeom>
          <a:solidFill>
            <a:srgbClr val="3D7A57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D2582E5B-B63E-4748-8409-D043D8FFE15A}"/>
              </a:ext>
            </a:extLst>
          </p:cNvPr>
          <p:cNvSpPr txBox="1"/>
          <p:nvPr/>
        </p:nvSpPr>
        <p:spPr>
          <a:xfrm>
            <a:off x="6510020" y="1995074"/>
            <a:ext cx="4114800" cy="2326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3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PV(b):  816</a:t>
            </a:r>
          </a:p>
        </p:txBody>
      </p:sp>
      <p:sp>
        <p:nvSpPr>
          <p:cNvPr id="37" name="Rounded Rectangle 22">
            <a:extLst>
              <a:ext uri="{FF2B5EF4-FFF2-40B4-BE49-F238E27FC236}">
                <a16:creationId xmlns:a16="http://schemas.microsoft.com/office/drawing/2014/main" id="{3F2252EC-8AF2-4F01-8340-D220F401D7C0}"/>
              </a:ext>
            </a:extLst>
          </p:cNvPr>
          <p:cNvSpPr/>
          <p:nvPr/>
        </p:nvSpPr>
        <p:spPr>
          <a:xfrm>
            <a:off x="1837436" y="2379122"/>
            <a:ext cx="4325112" cy="39319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1F7BBDDB-673E-4454-A8C9-A3A3CC696081}"/>
              </a:ext>
            </a:extLst>
          </p:cNvPr>
          <p:cNvSpPr txBox="1"/>
          <p:nvPr/>
        </p:nvSpPr>
        <p:spPr>
          <a:xfrm>
            <a:off x="1938020" y="2470562"/>
            <a:ext cx="4114800" cy="2150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QK反量化：Eq+Ek−266−4 → FACC</a:t>
            </a:r>
          </a:p>
        </p:txBody>
      </p:sp>
      <p:sp>
        <p:nvSpPr>
          <p:cNvPr id="39" name="Rounded Rectangle 24">
            <a:extLst>
              <a:ext uri="{FF2B5EF4-FFF2-40B4-BE49-F238E27FC236}">
                <a16:creationId xmlns:a16="http://schemas.microsoft.com/office/drawing/2014/main" id="{7E74FBC2-6794-4FAD-8C95-7493B75CB740}"/>
              </a:ext>
            </a:extLst>
          </p:cNvPr>
          <p:cNvSpPr/>
          <p:nvPr/>
        </p:nvSpPr>
        <p:spPr>
          <a:xfrm>
            <a:off x="6409436" y="2379122"/>
            <a:ext cx="4325112" cy="39319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47969178-867E-45DD-8D73-20BC743ADD1E}"/>
              </a:ext>
            </a:extLst>
          </p:cNvPr>
          <p:cNvSpPr txBox="1"/>
          <p:nvPr/>
        </p:nvSpPr>
        <p:spPr>
          <a:xfrm>
            <a:off x="6510020" y="2470562"/>
            <a:ext cx="4114800" cy="2150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PV反量化：Ep+Ev−266 →</a:t>
            </a:r>
            <a:r>
              <a:rPr kumimoji="0" lang="en-US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PV+</a:t>
            </a:r>
            <a:r>
              <a:rPr kumimoji="0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OACC</a:t>
            </a:r>
          </a:p>
        </p:txBody>
      </p:sp>
      <p:sp>
        <p:nvSpPr>
          <p:cNvPr id="41" name="Rounded Rectangle 26">
            <a:extLst>
              <a:ext uri="{FF2B5EF4-FFF2-40B4-BE49-F238E27FC236}">
                <a16:creationId xmlns:a16="http://schemas.microsoft.com/office/drawing/2014/main" id="{6E759385-AAF4-4ED6-94F4-00A19E7C47BB}"/>
              </a:ext>
            </a:extLst>
          </p:cNvPr>
          <p:cNvSpPr/>
          <p:nvPr/>
        </p:nvSpPr>
        <p:spPr>
          <a:xfrm>
            <a:off x="1837436" y="2854610"/>
            <a:ext cx="4325112" cy="393192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 cap="flat" cmpd="sng" algn="ctr">
            <a:solidFill>
              <a:srgbClr val="D8DEE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059106C3-B96F-4E6B-92DB-F7B89DB54CA8}"/>
              </a:ext>
            </a:extLst>
          </p:cNvPr>
          <p:cNvSpPr txBox="1"/>
          <p:nvPr/>
        </p:nvSpPr>
        <p:spPr>
          <a:xfrm>
            <a:off x="1983740" y="2955194"/>
            <a:ext cx="4023360" cy="2332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66727C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空闲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66727C"/>
              </a:solidFill>
              <a:effectLst/>
              <a:uLnTx/>
              <a:uFillTx/>
              <a:latin typeface="Microsoft YaHei"/>
              <a:ea typeface="微软雅黑"/>
              <a:cs typeface="+mn-cs"/>
            </a:endParaRPr>
          </a:p>
        </p:txBody>
      </p:sp>
      <p:sp>
        <p:nvSpPr>
          <p:cNvPr id="43" name="Rounded Rectangle 28">
            <a:extLst>
              <a:ext uri="{FF2B5EF4-FFF2-40B4-BE49-F238E27FC236}">
                <a16:creationId xmlns:a16="http://schemas.microsoft.com/office/drawing/2014/main" id="{AF871E5A-8329-470E-988F-DCC6B790D390}"/>
              </a:ext>
            </a:extLst>
          </p:cNvPr>
          <p:cNvSpPr/>
          <p:nvPr/>
        </p:nvSpPr>
        <p:spPr>
          <a:xfrm>
            <a:off x="6895214" y="2815254"/>
            <a:ext cx="347472" cy="39319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A6B0C3AD-21FF-4D8F-AF8B-C9AFDD2EC11B}"/>
              </a:ext>
            </a:extLst>
          </p:cNvPr>
          <p:cNvSpPr txBox="1"/>
          <p:nvPr/>
        </p:nvSpPr>
        <p:spPr>
          <a:xfrm>
            <a:off x="6895214" y="2828653"/>
            <a:ext cx="338328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α exp
26</a:t>
            </a:r>
          </a:p>
        </p:txBody>
      </p:sp>
      <p:sp>
        <p:nvSpPr>
          <p:cNvPr id="45" name="Rounded Rectangle 30">
            <a:extLst>
              <a:ext uri="{FF2B5EF4-FFF2-40B4-BE49-F238E27FC236}">
                <a16:creationId xmlns:a16="http://schemas.microsoft.com/office/drawing/2014/main" id="{F815A199-BB6E-40CF-ABC9-01D4F672EC30}"/>
              </a:ext>
            </a:extLst>
          </p:cNvPr>
          <p:cNvSpPr/>
          <p:nvPr/>
        </p:nvSpPr>
        <p:spPr>
          <a:xfrm>
            <a:off x="7306694" y="2835390"/>
            <a:ext cx="2148840" cy="393192"/>
          </a:xfrm>
          <a:prstGeom prst="roundRect">
            <a:avLst>
              <a:gd name="adj" fmla="val 8000"/>
            </a:avLst>
          </a:prstGeom>
          <a:solidFill>
            <a:srgbClr val="3D7A57"/>
          </a:solidFill>
          <a:ln w="12700" cap="flat" cmpd="sng" algn="ctr">
            <a:solidFill>
              <a:srgbClr val="3D7A5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6" name="TextBox 31">
            <a:extLst>
              <a:ext uri="{FF2B5EF4-FFF2-40B4-BE49-F238E27FC236}">
                <a16:creationId xmlns:a16="http://schemas.microsoft.com/office/drawing/2014/main" id="{0EA61E8A-1859-4D97-ADFB-624D49DB06F4}"/>
              </a:ext>
            </a:extLst>
          </p:cNvPr>
          <p:cNvSpPr txBox="1"/>
          <p:nvPr/>
        </p:nvSpPr>
        <p:spPr>
          <a:xfrm>
            <a:off x="7608021" y="2931940"/>
            <a:ext cx="1965960" cy="2155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P</a:t>
            </a:r>
            <a:r>
              <a:rPr kumimoji="0" lang="en-US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(b+1)</a:t>
            </a:r>
            <a:r>
              <a:rPr kumimoji="0" sz="9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=exp(S−μ)</a:t>
            </a:r>
          </a:p>
        </p:txBody>
      </p:sp>
      <p:sp>
        <p:nvSpPr>
          <p:cNvPr id="48" name="Rounded Rectangle 33">
            <a:extLst>
              <a:ext uri="{FF2B5EF4-FFF2-40B4-BE49-F238E27FC236}">
                <a16:creationId xmlns:a16="http://schemas.microsoft.com/office/drawing/2014/main" id="{0E995861-67B6-4BCA-93F3-CFC99E25A8D0}"/>
              </a:ext>
            </a:extLst>
          </p:cNvPr>
          <p:cNvSpPr/>
          <p:nvPr/>
        </p:nvSpPr>
        <p:spPr>
          <a:xfrm>
            <a:off x="1837436" y="3330098"/>
            <a:ext cx="4325112" cy="39319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49" name="TextBox 34">
            <a:extLst>
              <a:ext uri="{FF2B5EF4-FFF2-40B4-BE49-F238E27FC236}">
                <a16:creationId xmlns:a16="http://schemas.microsoft.com/office/drawing/2014/main" id="{21B20466-4CED-44A5-9E23-65F43AED7C0F}"/>
              </a:ext>
            </a:extLst>
          </p:cNvPr>
          <p:cNvSpPr txBox="1"/>
          <p:nvPr/>
        </p:nvSpPr>
        <p:spPr>
          <a:xfrm>
            <a:off x="1874012" y="3430682"/>
            <a:ext cx="4242816" cy="230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OACC_SCALE(α_b)：816拍</a:t>
            </a:r>
          </a:p>
        </p:txBody>
      </p:sp>
      <p:sp>
        <p:nvSpPr>
          <p:cNvPr id="50" name="Rounded Rectangle 35">
            <a:extLst>
              <a:ext uri="{FF2B5EF4-FFF2-40B4-BE49-F238E27FC236}">
                <a16:creationId xmlns:a16="http://schemas.microsoft.com/office/drawing/2014/main" id="{B9691BCC-BACC-4085-96C0-D22060F69D4C}"/>
              </a:ext>
            </a:extLst>
          </p:cNvPr>
          <p:cNvSpPr/>
          <p:nvPr/>
        </p:nvSpPr>
        <p:spPr>
          <a:xfrm>
            <a:off x="6409436" y="3284377"/>
            <a:ext cx="485778" cy="492864"/>
          </a:xfrm>
          <a:prstGeom prst="roundRect">
            <a:avLst>
              <a:gd name="adj" fmla="val 8000"/>
            </a:avLst>
          </a:prstGeom>
          <a:solidFill>
            <a:srgbClr val="FBEDEC"/>
          </a:solidFill>
          <a:ln w="12700" cap="flat" cmpd="sng" algn="ctr">
            <a:solidFill>
              <a:srgbClr val="C23B3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52" name="TextBox 36">
            <a:extLst>
              <a:ext uri="{FF2B5EF4-FFF2-40B4-BE49-F238E27FC236}">
                <a16:creationId xmlns:a16="http://schemas.microsoft.com/office/drawing/2014/main" id="{82B5D773-9C82-405A-B320-4D13996FAAAE}"/>
              </a:ext>
            </a:extLst>
          </p:cNvPr>
          <p:cNvSpPr txBox="1"/>
          <p:nvPr/>
        </p:nvSpPr>
        <p:spPr>
          <a:xfrm>
            <a:off x="6295709" y="3360674"/>
            <a:ext cx="713232" cy="3138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60" b="1" i="0" u="none" strike="noStrike" kern="1200" cap="none" spc="0" normalizeH="0" baseline="0" noProof="0" dirty="0">
                <a:ln>
                  <a:noFill/>
                </a:ln>
                <a:solidFill>
                  <a:srgbClr val="C23B32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MASK
+ρ/</a:t>
            </a:r>
            <a:r>
              <a:rPr kumimoji="0" lang="en-US" sz="760" b="1" i="0" u="none" strike="noStrike" kern="1200" cap="none" spc="0" normalizeH="0" baseline="0" noProof="0" dirty="0">
                <a:ln>
                  <a:noFill/>
                </a:ln>
                <a:solidFill>
                  <a:srgbClr val="C23B32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m</a:t>
            </a:r>
            <a:endParaRPr kumimoji="0" sz="760" b="1" i="0" u="none" strike="noStrike" kern="1200" cap="none" spc="0" normalizeH="0" baseline="0" noProof="0" dirty="0">
              <a:ln>
                <a:noFill/>
              </a:ln>
              <a:solidFill>
                <a:srgbClr val="C23B32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sp>
        <p:nvSpPr>
          <p:cNvPr id="53" name="Rounded Rectangle 37">
            <a:extLst>
              <a:ext uri="{FF2B5EF4-FFF2-40B4-BE49-F238E27FC236}">
                <a16:creationId xmlns:a16="http://schemas.microsoft.com/office/drawing/2014/main" id="{BF087F6C-BB1C-4A1C-846D-A6B115053D13}"/>
              </a:ext>
            </a:extLst>
          </p:cNvPr>
          <p:cNvSpPr/>
          <p:nvPr/>
        </p:nvSpPr>
        <p:spPr>
          <a:xfrm>
            <a:off x="9774428" y="3293086"/>
            <a:ext cx="804672" cy="405232"/>
          </a:xfrm>
          <a:prstGeom prst="roundRect">
            <a:avLst>
              <a:gd name="adj" fmla="val 8000"/>
            </a:avLst>
          </a:prstGeom>
          <a:solidFill>
            <a:srgbClr val="2F8FA8"/>
          </a:solidFill>
          <a:ln w="12700" cap="flat" cmpd="sng" algn="ctr">
            <a:solidFill>
              <a:srgbClr val="2F8FA8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sp>
        <p:nvSpPr>
          <p:cNvPr id="54" name="TextBox 38">
            <a:extLst>
              <a:ext uri="{FF2B5EF4-FFF2-40B4-BE49-F238E27FC236}">
                <a16:creationId xmlns:a16="http://schemas.microsoft.com/office/drawing/2014/main" id="{CDD6D347-F2F9-4563-B330-A707F90B000C}"/>
              </a:ext>
            </a:extLst>
          </p:cNvPr>
          <p:cNvSpPr txBox="1"/>
          <p:nvPr/>
        </p:nvSpPr>
        <p:spPr>
          <a:xfrm>
            <a:off x="9383280" y="3352128"/>
            <a:ext cx="1451852" cy="3260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P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(b+1)</a:t>
            </a: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量化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</a:t>
            </a:r>
          </a:p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l</a:t>
            </a: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更新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graphicFrame>
        <p:nvGraphicFramePr>
          <p:cNvPr id="66" name="Table 48">
            <a:extLst>
              <a:ext uri="{FF2B5EF4-FFF2-40B4-BE49-F238E27FC236}">
                <a16:creationId xmlns:a16="http://schemas.microsoft.com/office/drawing/2014/main" id="{90867290-AB8E-4C7D-B421-61C1E0641492}"/>
              </a:ext>
            </a:extLst>
          </p:cNvPr>
          <p:cNvGraphicFramePr>
            <a:graphicFrameLocks noGrp="1"/>
          </p:cNvGraphicFramePr>
          <p:nvPr/>
        </p:nvGraphicFramePr>
        <p:xfrm>
          <a:off x="921630" y="4620610"/>
          <a:ext cx="10104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Microsoft YaHei"/>
                        </a:rPr>
                        <a:t>单元</a:t>
                      </a:r>
                    </a:p>
                  </a:txBody>
                  <a:tcPr marL="54864" marR="54864" marT="36576" marB="36576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Microsoft YaHei"/>
                        </a:rPr>
                        <a:t>QK阶段（前816拍）</a:t>
                      </a:r>
                    </a:p>
                  </a:txBody>
                  <a:tcPr marL="54864" marR="54864" marT="36576" marB="36576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54864" marR="54864" marT="36576" marB="36576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Microsoft YaHei"/>
                        </a:rPr>
                        <a:t>PV阶段（后816拍）</a:t>
                      </a:r>
                    </a:p>
                  </a:txBody>
                  <a:tcPr marL="54864" marR="54864" marT="36576" marB="36576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54864" marR="54864" marT="36576" marB="36576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Microsoft YaHei"/>
                        </a:rPr>
                        <a:t>完整窗口</a:t>
                      </a:r>
                    </a:p>
                  </a:txBody>
                  <a:tcPr marL="54864" marR="54864" marT="36576" marB="36576">
                    <a:solidFill>
                      <a:srgbClr val="16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MXU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QK矩阵乘：Q×Kᵀ→S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816 / 100%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PV矩阵乘：P×V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816 / 100%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DEQACC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反量化+FP32累加→FACC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816×16 lane；尾11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反量化+FP32累加→OACC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816×16 lane；尾11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100%吞吐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FACC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跨16个K-tile FP32累加→SBUF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816 / 100%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Kt=1，不参与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50%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SFU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 dirty="0" err="1">
                          <a:solidFill>
                            <a:srgbClr val="29343D"/>
                          </a:solidFill>
                          <a:latin typeface="Microsoft YaHei"/>
                        </a:rPr>
                        <a:t>无xp请求</a:t>
                      </a:r>
                      <a:endParaRPr sz="810" b="0" dirty="0">
                        <a:solidFill>
                          <a:srgbClr val="29343D"/>
                        </a:solidFill>
                        <a:latin typeface="Microsoft YaHei"/>
                      </a:endParaRP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P exp 408 + α exp 26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434 / 53.2%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26.6%≈27%</a:t>
                      </a:r>
                    </a:p>
                  </a:txBody>
                  <a:tcPr marL="54864" marR="54864" marT="36576" marB="36576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VPU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α×OACC 816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816 / 100%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 dirty="0" err="1">
                          <a:solidFill>
                            <a:srgbClr val="29343D"/>
                          </a:solidFill>
                          <a:latin typeface="Microsoft YaHei"/>
                        </a:rPr>
                        <a:t>MASK+ρ</a:t>
                      </a: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/</a:t>
                      </a:r>
                      <a:r>
                        <a:rPr lang="en-US"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m</a:t>
                      </a: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 51 + </a:t>
                      </a:r>
                      <a:r>
                        <a:rPr sz="810" b="0" dirty="0" err="1">
                          <a:solidFill>
                            <a:srgbClr val="29343D"/>
                          </a:solidFill>
                          <a:latin typeface="Microsoft YaHei"/>
                        </a:rPr>
                        <a:t>P量化</a:t>
                      </a: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/ℓ 51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9343D"/>
                          </a:solidFill>
                          <a:latin typeface="Microsoft YaHei"/>
                        </a:rPr>
                        <a:t>102 / 12.5%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 dirty="0">
                          <a:solidFill>
                            <a:srgbClr val="29343D"/>
                          </a:solidFill>
                          <a:latin typeface="Microsoft YaHei"/>
                        </a:rPr>
                        <a:t>56.25%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205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7738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存储单元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E80C4BBE-317D-4DF7-9857-5D9C869B3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345382"/>
              </p:ext>
            </p:extLst>
          </p:nvPr>
        </p:nvGraphicFramePr>
        <p:xfrm>
          <a:off x="384048" y="1170432"/>
          <a:ext cx="11411712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0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Microsoft YaHei"/>
                        </a:rPr>
                        <a:t>存储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Microsoft YaHei"/>
                        </a:rPr>
                        <a:t>格式 / 形状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容量</a:t>
                      </a:r>
                      <a:endParaRPr sz="1400" b="1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Microsoft YaHei"/>
                        </a:rPr>
                        <a:t>端口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Microsoft YaHei"/>
                        </a:rPr>
                        <a:t>理由与时序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SBUF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ping-pong</a:t>
                      </a:r>
                      <a:endParaRPr sz="14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2×[51,16] FP32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512b×51×2 = 6.38 KiB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各1RW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QK填充的同时，较早块被EXP消费；双代避免生产/消费冲突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0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PBUF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Ping-pong</a:t>
                      </a:r>
                      <a:endParaRPr sz="14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2×[51,16] INT8 + E8M0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1.59 + 0.10 = 1.69 KiB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各1R1W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EXP写一代的同时PV读另一代；P与E_p代号同步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0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OACC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[51,256] FP32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512b×816 = 51.00 KiB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512b 1R1W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PV与OACC_SCALE都要全速率RMW，但两者永不重叠；单体足够</a:t>
                      </a:r>
                      <a:endParaRPr sz="14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0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m</a:t>
                      </a: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 / ℓ / α RF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每状态51个FP32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32b×51×4 = 0.80 KiB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1R1W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固定行序；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m</a:t>
                      </a: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、ℓ</a:t>
                      </a:r>
                      <a:r>
                        <a:rPr sz="1400" b="0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各一代</a:t>
                      </a: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，α</a:t>
                      </a:r>
                      <a:r>
                        <a:rPr sz="1400" b="0" dirty="0" err="1">
                          <a:solidFill>
                            <a:schemeClr val="tx1"/>
                          </a:solidFill>
                          <a:latin typeface="Microsoft YaHei"/>
                        </a:rPr>
                        <a:t>保留两代，支撑在线递推</a:t>
                      </a:r>
                      <a:endParaRPr sz="1400" b="0" dirty="0">
                        <a:solidFill>
                          <a:schemeClr val="tx1"/>
                        </a:solidFill>
                        <a:latin typeface="Microsoft YaHei"/>
                      </a:endParaRP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0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Q-Memory（单体复用）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[51,256] MXINT8-B16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逻辑13.55 KiB；物理QOZ数据+Scale=27.09 KiB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1RW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先存Q并供55个QK读取；确认最后一次读后，A_FIN原地覆写为Attention输出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0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FACC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2×[51,16] FP32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512b×51×2 = 6.38 KiB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Microsoft YaHei"/>
                        </a:rPr>
                        <a:t>各1R1W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dirty="0">
                          <a:solidFill>
                            <a:schemeClr val="tx1"/>
                          </a:solidFill>
                          <a:latin typeface="Microsoft YaHei"/>
                        </a:rPr>
                        <a:t>QK跨16个K-tile累加；块末51拍冲刷与下一块首tile重叠；PV的Kt=1不参与</a:t>
                      </a:r>
                    </a:p>
                  </a:txBody>
                  <a:tcPr marL="54864" marR="54864" marT="36576" marB="3657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1950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利用率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F203E498-60B6-4263-AA28-F063A31A3216}"/>
              </a:ext>
            </a:extLst>
          </p:cNvPr>
          <p:cNvSpPr txBox="1"/>
          <p:nvPr/>
        </p:nvSpPr>
        <p:spPr>
          <a:xfrm>
            <a:off x="579262" y="166497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727C"/>
                </a:solidFill>
                <a:latin typeface="Microsoft YaHei"/>
              </a:rPr>
              <a:t>资源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65D2790D-3697-4223-B1A2-6FB5211DC0B3}"/>
              </a:ext>
            </a:extLst>
          </p:cNvPr>
          <p:cNvSpPr txBox="1"/>
          <p:nvPr/>
        </p:nvSpPr>
        <p:spPr>
          <a:xfrm>
            <a:off x="1786270" y="1664970"/>
            <a:ext cx="3246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6A9E"/>
                </a:solidFill>
                <a:latin typeface="Microsoft YaHei"/>
              </a:rPr>
              <a:t>前816：QK + SCALE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00530E35-FC6E-4283-8FEE-EEC6EC815B1C}"/>
              </a:ext>
            </a:extLst>
          </p:cNvPr>
          <p:cNvSpPr txBox="1"/>
          <p:nvPr/>
        </p:nvSpPr>
        <p:spPr>
          <a:xfrm>
            <a:off x="5306710" y="1664970"/>
            <a:ext cx="3246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7A57"/>
                </a:solidFill>
                <a:latin typeface="Microsoft YaHei"/>
              </a:rPr>
              <a:t>后816：PV + EXP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0266815F-FB70-4611-86D4-F1A698A9BA44}"/>
              </a:ext>
            </a:extLst>
          </p:cNvPr>
          <p:cNvSpPr txBox="1"/>
          <p:nvPr/>
        </p:nvSpPr>
        <p:spPr>
          <a:xfrm>
            <a:off x="8827150" y="166497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3B32"/>
                </a:solidFill>
                <a:latin typeface="Microsoft YaHei"/>
              </a:rPr>
              <a:t>完整窗口</a:t>
            </a: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1A8BB37F-2DB4-4047-A7D6-16A800E513D8}"/>
              </a:ext>
            </a:extLst>
          </p:cNvPr>
          <p:cNvSpPr txBox="1"/>
          <p:nvPr/>
        </p:nvSpPr>
        <p:spPr>
          <a:xfrm>
            <a:off x="10015870" y="1664970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727C"/>
                </a:solidFill>
                <a:latin typeface="Microsoft YaHei"/>
              </a:rPr>
              <a:t>任务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EE72D07F-4615-4BF5-A1B6-121CD1707C1D}"/>
              </a:ext>
            </a:extLst>
          </p:cNvPr>
          <p:cNvSpPr txBox="1"/>
          <p:nvPr/>
        </p:nvSpPr>
        <p:spPr>
          <a:xfrm>
            <a:off x="579262" y="2186178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6A9E"/>
                </a:solidFill>
                <a:latin typeface="Consolas"/>
              </a:rPr>
              <a:t>MXU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AE5DA70C-D5BC-48AB-B289-CEB44E1D7351}"/>
              </a:ext>
            </a:extLst>
          </p:cNvPr>
          <p:cNvSpPr/>
          <p:nvPr/>
        </p:nvSpPr>
        <p:spPr>
          <a:xfrm>
            <a:off x="1786270" y="2094738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31593030-CF60-414F-A633-0E496CDD8AD9}"/>
              </a:ext>
            </a:extLst>
          </p:cNvPr>
          <p:cNvSpPr/>
          <p:nvPr/>
        </p:nvSpPr>
        <p:spPr>
          <a:xfrm>
            <a:off x="1786270" y="2094738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1E6A9E"/>
          </a:solidFill>
          <a:ln w="12700">
            <a:solidFill>
              <a:srgbClr val="1E6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0C0903DE-83CD-4DCA-A910-E634A617C901}"/>
              </a:ext>
            </a:extLst>
          </p:cNvPr>
          <p:cNvSpPr txBox="1"/>
          <p:nvPr/>
        </p:nvSpPr>
        <p:spPr>
          <a:xfrm>
            <a:off x="1786270" y="2167890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89AF4537-EA33-4C76-AA68-31DAD53F40C4}"/>
              </a:ext>
            </a:extLst>
          </p:cNvPr>
          <p:cNvSpPr/>
          <p:nvPr/>
        </p:nvSpPr>
        <p:spPr>
          <a:xfrm>
            <a:off x="5306710" y="2094738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36D94B2F-25FE-4543-92C9-637512113455}"/>
              </a:ext>
            </a:extLst>
          </p:cNvPr>
          <p:cNvSpPr/>
          <p:nvPr/>
        </p:nvSpPr>
        <p:spPr>
          <a:xfrm>
            <a:off x="5306710" y="2094738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1E6A9E"/>
          </a:solidFill>
          <a:ln w="12700">
            <a:solidFill>
              <a:srgbClr val="1E6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C8372621-F4A5-481B-A39B-EB964F34FF2C}"/>
              </a:ext>
            </a:extLst>
          </p:cNvPr>
          <p:cNvSpPr txBox="1"/>
          <p:nvPr/>
        </p:nvSpPr>
        <p:spPr>
          <a:xfrm>
            <a:off x="5306710" y="2167890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C0D1025-9A1F-49B9-BAD3-4150F85F26A4}"/>
              </a:ext>
            </a:extLst>
          </p:cNvPr>
          <p:cNvSpPr txBox="1"/>
          <p:nvPr/>
        </p:nvSpPr>
        <p:spPr>
          <a:xfrm>
            <a:off x="8808862" y="2167890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3B32"/>
                </a:solidFill>
                <a:latin typeface="Consolas"/>
              </a:rPr>
              <a:t>100.0%</a:t>
            </a: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7C55209F-316E-4BC6-B93B-789163A8B0CB}"/>
              </a:ext>
            </a:extLst>
          </p:cNvPr>
          <p:cNvSpPr txBox="1"/>
          <p:nvPr/>
        </p:nvSpPr>
        <p:spPr>
          <a:xfrm>
            <a:off x="9997582" y="2167890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QK / PV矩阵乘</a:t>
            </a: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647BE7DE-55CE-43C0-BB9D-A5DBC5D99665}"/>
              </a:ext>
            </a:extLst>
          </p:cNvPr>
          <p:cNvSpPr txBox="1"/>
          <p:nvPr/>
        </p:nvSpPr>
        <p:spPr>
          <a:xfrm>
            <a:off x="579262" y="2753106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23B32"/>
                </a:solidFill>
                <a:latin typeface="Consolas"/>
              </a:rPr>
              <a:t>DEQACC</a:t>
            </a:r>
          </a:p>
        </p:txBody>
      </p:sp>
      <p:sp>
        <p:nvSpPr>
          <p:cNvPr id="34" name="Rounded Rectangle 20">
            <a:extLst>
              <a:ext uri="{FF2B5EF4-FFF2-40B4-BE49-F238E27FC236}">
                <a16:creationId xmlns:a16="http://schemas.microsoft.com/office/drawing/2014/main" id="{2F2872B2-FFB1-41CB-97AC-E827F6CD6F9C}"/>
              </a:ext>
            </a:extLst>
          </p:cNvPr>
          <p:cNvSpPr/>
          <p:nvPr/>
        </p:nvSpPr>
        <p:spPr>
          <a:xfrm>
            <a:off x="1786270" y="2661666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B9B6772D-1FF3-496E-A471-9CADB9A0E17E}"/>
              </a:ext>
            </a:extLst>
          </p:cNvPr>
          <p:cNvSpPr/>
          <p:nvPr/>
        </p:nvSpPr>
        <p:spPr>
          <a:xfrm>
            <a:off x="1786270" y="2661666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 w="12700">
            <a:solidFill>
              <a:srgbClr val="C2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710F7101-9F8F-48D0-80E8-5124D9B1A9E7}"/>
              </a:ext>
            </a:extLst>
          </p:cNvPr>
          <p:cNvSpPr txBox="1"/>
          <p:nvPr/>
        </p:nvSpPr>
        <p:spPr>
          <a:xfrm>
            <a:off x="1786270" y="2734818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2728B423-B578-4A77-8CF9-56F0BB5E73A3}"/>
              </a:ext>
            </a:extLst>
          </p:cNvPr>
          <p:cNvSpPr/>
          <p:nvPr/>
        </p:nvSpPr>
        <p:spPr>
          <a:xfrm>
            <a:off x="5306710" y="2661666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24">
            <a:extLst>
              <a:ext uri="{FF2B5EF4-FFF2-40B4-BE49-F238E27FC236}">
                <a16:creationId xmlns:a16="http://schemas.microsoft.com/office/drawing/2014/main" id="{79D5868E-107F-491B-B9D8-D8667B07F089}"/>
              </a:ext>
            </a:extLst>
          </p:cNvPr>
          <p:cNvSpPr/>
          <p:nvPr/>
        </p:nvSpPr>
        <p:spPr>
          <a:xfrm>
            <a:off x="5306710" y="2661666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 w="12700">
            <a:solidFill>
              <a:srgbClr val="C2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8AAA486E-F72D-42E2-A435-9DEA2C41FA3B}"/>
              </a:ext>
            </a:extLst>
          </p:cNvPr>
          <p:cNvSpPr txBox="1"/>
          <p:nvPr/>
        </p:nvSpPr>
        <p:spPr>
          <a:xfrm>
            <a:off x="5306710" y="2734818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DA3EEC58-DA22-46FA-B4F7-7903CB6B2B86}"/>
              </a:ext>
            </a:extLst>
          </p:cNvPr>
          <p:cNvSpPr txBox="1"/>
          <p:nvPr/>
        </p:nvSpPr>
        <p:spPr>
          <a:xfrm>
            <a:off x="8808862" y="2734818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3B32"/>
                </a:solidFill>
                <a:latin typeface="Consolas"/>
              </a:rPr>
              <a:t>100.0%</a:t>
            </a:r>
          </a:p>
        </p:txBody>
      </p:sp>
      <p:sp>
        <p:nvSpPr>
          <p:cNvPr id="41" name="TextBox 27">
            <a:extLst>
              <a:ext uri="{FF2B5EF4-FFF2-40B4-BE49-F238E27FC236}">
                <a16:creationId xmlns:a16="http://schemas.microsoft.com/office/drawing/2014/main" id="{2419C8FA-068D-42B8-8EBA-1D76D662674E}"/>
              </a:ext>
            </a:extLst>
          </p:cNvPr>
          <p:cNvSpPr txBox="1"/>
          <p:nvPr/>
        </p:nvSpPr>
        <p:spPr>
          <a:xfrm>
            <a:off x="9997582" y="2734818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QK→FACC / PV→OACC；尾11</a:t>
            </a:r>
          </a:p>
        </p:txBody>
      </p:sp>
      <p:sp>
        <p:nvSpPr>
          <p:cNvPr id="42" name="TextBox 28">
            <a:extLst>
              <a:ext uri="{FF2B5EF4-FFF2-40B4-BE49-F238E27FC236}">
                <a16:creationId xmlns:a16="http://schemas.microsoft.com/office/drawing/2014/main" id="{FD05F1AF-DF82-451D-A1C3-ABB62DE51CCB}"/>
              </a:ext>
            </a:extLst>
          </p:cNvPr>
          <p:cNvSpPr txBox="1"/>
          <p:nvPr/>
        </p:nvSpPr>
        <p:spPr>
          <a:xfrm>
            <a:off x="579262" y="3320034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A5F"/>
                </a:solidFill>
                <a:latin typeface="Consolas"/>
              </a:rPr>
              <a:t>FACC</a:t>
            </a:r>
          </a:p>
        </p:txBody>
      </p:sp>
      <p:sp>
        <p:nvSpPr>
          <p:cNvPr id="43" name="Rounded Rectangle 29">
            <a:extLst>
              <a:ext uri="{FF2B5EF4-FFF2-40B4-BE49-F238E27FC236}">
                <a16:creationId xmlns:a16="http://schemas.microsoft.com/office/drawing/2014/main" id="{068DA079-8457-4F53-8A8B-B55D74D450F3}"/>
              </a:ext>
            </a:extLst>
          </p:cNvPr>
          <p:cNvSpPr/>
          <p:nvPr/>
        </p:nvSpPr>
        <p:spPr>
          <a:xfrm>
            <a:off x="1786270" y="3228594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30">
            <a:extLst>
              <a:ext uri="{FF2B5EF4-FFF2-40B4-BE49-F238E27FC236}">
                <a16:creationId xmlns:a16="http://schemas.microsoft.com/office/drawing/2014/main" id="{B4103258-49CE-425C-83E8-39D621D1AD7C}"/>
              </a:ext>
            </a:extLst>
          </p:cNvPr>
          <p:cNvSpPr/>
          <p:nvPr/>
        </p:nvSpPr>
        <p:spPr>
          <a:xfrm>
            <a:off x="1786270" y="3228594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31">
            <a:extLst>
              <a:ext uri="{FF2B5EF4-FFF2-40B4-BE49-F238E27FC236}">
                <a16:creationId xmlns:a16="http://schemas.microsoft.com/office/drawing/2014/main" id="{CEB4ADCC-6DAD-4561-A82C-50C4799ACE4F}"/>
              </a:ext>
            </a:extLst>
          </p:cNvPr>
          <p:cNvSpPr txBox="1"/>
          <p:nvPr/>
        </p:nvSpPr>
        <p:spPr>
          <a:xfrm>
            <a:off x="1786270" y="3301746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46" name="Rounded Rectangle 32">
            <a:extLst>
              <a:ext uri="{FF2B5EF4-FFF2-40B4-BE49-F238E27FC236}">
                <a16:creationId xmlns:a16="http://schemas.microsoft.com/office/drawing/2014/main" id="{CE397CAE-A6CB-4ED1-9C99-999562C5C104}"/>
              </a:ext>
            </a:extLst>
          </p:cNvPr>
          <p:cNvSpPr/>
          <p:nvPr/>
        </p:nvSpPr>
        <p:spPr>
          <a:xfrm>
            <a:off x="5306710" y="3228594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33">
            <a:extLst>
              <a:ext uri="{FF2B5EF4-FFF2-40B4-BE49-F238E27FC236}">
                <a16:creationId xmlns:a16="http://schemas.microsoft.com/office/drawing/2014/main" id="{75C8CFAB-262E-4F74-B1D5-039F9DF052BD}"/>
              </a:ext>
            </a:extLst>
          </p:cNvPr>
          <p:cNvSpPr txBox="1"/>
          <p:nvPr/>
        </p:nvSpPr>
        <p:spPr>
          <a:xfrm>
            <a:off x="5306710" y="3301746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A5F"/>
                </a:solidFill>
                <a:latin typeface="Consolas"/>
              </a:rPr>
              <a:t>0%</a:t>
            </a:r>
          </a:p>
        </p:txBody>
      </p:sp>
      <p:sp>
        <p:nvSpPr>
          <p:cNvPr id="48" name="TextBox 34">
            <a:extLst>
              <a:ext uri="{FF2B5EF4-FFF2-40B4-BE49-F238E27FC236}">
                <a16:creationId xmlns:a16="http://schemas.microsoft.com/office/drawing/2014/main" id="{1F5139A7-4E52-43BD-B3E2-2427319478C1}"/>
              </a:ext>
            </a:extLst>
          </p:cNvPr>
          <p:cNvSpPr txBox="1"/>
          <p:nvPr/>
        </p:nvSpPr>
        <p:spPr>
          <a:xfrm>
            <a:off x="8808862" y="3301746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9343D"/>
                </a:solidFill>
                <a:latin typeface="Consolas"/>
              </a:rPr>
              <a:t>50.0%</a:t>
            </a: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C7F120FB-38F6-4BB5-B562-A8AEB21E330E}"/>
              </a:ext>
            </a:extLst>
          </p:cNvPr>
          <p:cNvSpPr txBox="1"/>
          <p:nvPr/>
        </p:nvSpPr>
        <p:spPr>
          <a:xfrm>
            <a:off x="9997582" y="3301746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PV Kt=1不参与</a:t>
            </a:r>
          </a:p>
        </p:txBody>
      </p:sp>
      <p:sp>
        <p:nvSpPr>
          <p:cNvPr id="50" name="TextBox 36">
            <a:extLst>
              <a:ext uri="{FF2B5EF4-FFF2-40B4-BE49-F238E27FC236}">
                <a16:creationId xmlns:a16="http://schemas.microsoft.com/office/drawing/2014/main" id="{664F95FB-5ADA-45E1-A43F-6A2058CE3AD4}"/>
              </a:ext>
            </a:extLst>
          </p:cNvPr>
          <p:cNvSpPr txBox="1"/>
          <p:nvPr/>
        </p:nvSpPr>
        <p:spPr>
          <a:xfrm>
            <a:off x="579262" y="3886962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26A00"/>
                </a:solidFill>
                <a:latin typeface="Consolas"/>
              </a:rPr>
              <a:t>OACC</a:t>
            </a:r>
          </a:p>
        </p:txBody>
      </p:sp>
      <p:sp>
        <p:nvSpPr>
          <p:cNvPr id="52" name="Rounded Rectangle 37">
            <a:extLst>
              <a:ext uri="{FF2B5EF4-FFF2-40B4-BE49-F238E27FC236}">
                <a16:creationId xmlns:a16="http://schemas.microsoft.com/office/drawing/2014/main" id="{13DF81E5-46EE-4817-B57E-377106C67241}"/>
              </a:ext>
            </a:extLst>
          </p:cNvPr>
          <p:cNvSpPr/>
          <p:nvPr/>
        </p:nvSpPr>
        <p:spPr>
          <a:xfrm>
            <a:off x="1786270" y="3795522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38">
            <a:extLst>
              <a:ext uri="{FF2B5EF4-FFF2-40B4-BE49-F238E27FC236}">
                <a16:creationId xmlns:a16="http://schemas.microsoft.com/office/drawing/2014/main" id="{DC1090A6-EFE8-4A04-B480-F585A3FCBD2C}"/>
              </a:ext>
            </a:extLst>
          </p:cNvPr>
          <p:cNvSpPr/>
          <p:nvPr/>
        </p:nvSpPr>
        <p:spPr>
          <a:xfrm>
            <a:off x="1786270" y="3795522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39">
            <a:extLst>
              <a:ext uri="{FF2B5EF4-FFF2-40B4-BE49-F238E27FC236}">
                <a16:creationId xmlns:a16="http://schemas.microsoft.com/office/drawing/2014/main" id="{C790DEF8-F95B-48BA-9C4C-E8F8E9170DDF}"/>
              </a:ext>
            </a:extLst>
          </p:cNvPr>
          <p:cNvSpPr txBox="1"/>
          <p:nvPr/>
        </p:nvSpPr>
        <p:spPr>
          <a:xfrm>
            <a:off x="1786270" y="3868674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55" name="Rounded Rectangle 40">
            <a:extLst>
              <a:ext uri="{FF2B5EF4-FFF2-40B4-BE49-F238E27FC236}">
                <a16:creationId xmlns:a16="http://schemas.microsoft.com/office/drawing/2014/main" id="{F9B389F2-AAB5-4C30-8525-04BBCCFDF41B}"/>
              </a:ext>
            </a:extLst>
          </p:cNvPr>
          <p:cNvSpPr/>
          <p:nvPr/>
        </p:nvSpPr>
        <p:spPr>
          <a:xfrm>
            <a:off x="5306710" y="3795522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41">
            <a:extLst>
              <a:ext uri="{FF2B5EF4-FFF2-40B4-BE49-F238E27FC236}">
                <a16:creationId xmlns:a16="http://schemas.microsoft.com/office/drawing/2014/main" id="{4328FD3B-4B9C-423E-B7A7-11F9DBBE51F4}"/>
              </a:ext>
            </a:extLst>
          </p:cNvPr>
          <p:cNvSpPr/>
          <p:nvPr/>
        </p:nvSpPr>
        <p:spPr>
          <a:xfrm>
            <a:off x="5306710" y="3795522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B26A00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42">
            <a:extLst>
              <a:ext uri="{FF2B5EF4-FFF2-40B4-BE49-F238E27FC236}">
                <a16:creationId xmlns:a16="http://schemas.microsoft.com/office/drawing/2014/main" id="{6609B95C-67F2-4A09-9E05-58812DF8D7B0}"/>
              </a:ext>
            </a:extLst>
          </p:cNvPr>
          <p:cNvSpPr txBox="1"/>
          <p:nvPr/>
        </p:nvSpPr>
        <p:spPr>
          <a:xfrm>
            <a:off x="5306710" y="3868674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58" name="TextBox 43">
            <a:extLst>
              <a:ext uri="{FF2B5EF4-FFF2-40B4-BE49-F238E27FC236}">
                <a16:creationId xmlns:a16="http://schemas.microsoft.com/office/drawing/2014/main" id="{97E404E1-61A6-4C89-B2E5-A0AC522D5A7F}"/>
              </a:ext>
            </a:extLst>
          </p:cNvPr>
          <p:cNvSpPr txBox="1"/>
          <p:nvPr/>
        </p:nvSpPr>
        <p:spPr>
          <a:xfrm>
            <a:off x="8808862" y="3868674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23B32"/>
                </a:solidFill>
                <a:latin typeface="Consolas"/>
              </a:rPr>
              <a:t>100.0%</a:t>
            </a:r>
          </a:p>
        </p:txBody>
      </p:sp>
      <p:sp>
        <p:nvSpPr>
          <p:cNvPr id="60" name="TextBox 44">
            <a:extLst>
              <a:ext uri="{FF2B5EF4-FFF2-40B4-BE49-F238E27FC236}">
                <a16:creationId xmlns:a16="http://schemas.microsoft.com/office/drawing/2014/main" id="{A65EA901-A2E0-4F41-BB0C-9CD02DE53365}"/>
              </a:ext>
            </a:extLst>
          </p:cNvPr>
          <p:cNvSpPr txBox="1"/>
          <p:nvPr/>
        </p:nvSpPr>
        <p:spPr>
          <a:xfrm>
            <a:off x="9997582" y="3868674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SCALE / PV RMW</a:t>
            </a:r>
          </a:p>
        </p:txBody>
      </p:sp>
      <p:sp>
        <p:nvSpPr>
          <p:cNvPr id="61" name="TextBox 45">
            <a:extLst>
              <a:ext uri="{FF2B5EF4-FFF2-40B4-BE49-F238E27FC236}">
                <a16:creationId xmlns:a16="http://schemas.microsoft.com/office/drawing/2014/main" id="{20AA6FC8-9488-4714-8749-18978B8B708D}"/>
              </a:ext>
            </a:extLst>
          </p:cNvPr>
          <p:cNvSpPr txBox="1"/>
          <p:nvPr/>
        </p:nvSpPr>
        <p:spPr>
          <a:xfrm>
            <a:off x="579262" y="4453890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F8FA8"/>
                </a:solidFill>
                <a:latin typeface="Consolas"/>
              </a:rPr>
              <a:t>VPU</a:t>
            </a:r>
          </a:p>
        </p:txBody>
      </p:sp>
      <p:sp>
        <p:nvSpPr>
          <p:cNvPr id="62" name="Rounded Rectangle 46">
            <a:extLst>
              <a:ext uri="{FF2B5EF4-FFF2-40B4-BE49-F238E27FC236}">
                <a16:creationId xmlns:a16="http://schemas.microsoft.com/office/drawing/2014/main" id="{AA072712-92A8-489F-BE6D-351C92617423}"/>
              </a:ext>
            </a:extLst>
          </p:cNvPr>
          <p:cNvSpPr/>
          <p:nvPr/>
        </p:nvSpPr>
        <p:spPr>
          <a:xfrm>
            <a:off x="1786270" y="4362450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47">
            <a:extLst>
              <a:ext uri="{FF2B5EF4-FFF2-40B4-BE49-F238E27FC236}">
                <a16:creationId xmlns:a16="http://schemas.microsoft.com/office/drawing/2014/main" id="{58DA0ACF-D5C3-4A37-910E-78D5F9D7E12B}"/>
              </a:ext>
            </a:extLst>
          </p:cNvPr>
          <p:cNvSpPr/>
          <p:nvPr/>
        </p:nvSpPr>
        <p:spPr>
          <a:xfrm>
            <a:off x="1786270" y="4362450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2F8FA8"/>
          </a:solidFill>
          <a:ln w="12700">
            <a:solidFill>
              <a:srgbClr val="2F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48">
            <a:extLst>
              <a:ext uri="{FF2B5EF4-FFF2-40B4-BE49-F238E27FC236}">
                <a16:creationId xmlns:a16="http://schemas.microsoft.com/office/drawing/2014/main" id="{8DE16667-3649-463F-B3D3-92DFC263E539}"/>
              </a:ext>
            </a:extLst>
          </p:cNvPr>
          <p:cNvSpPr txBox="1"/>
          <p:nvPr/>
        </p:nvSpPr>
        <p:spPr>
          <a:xfrm>
            <a:off x="1786270" y="4435602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65" name="Rounded Rectangle 49">
            <a:extLst>
              <a:ext uri="{FF2B5EF4-FFF2-40B4-BE49-F238E27FC236}">
                <a16:creationId xmlns:a16="http://schemas.microsoft.com/office/drawing/2014/main" id="{23F04AA7-FA79-46CE-8AB4-2E206C1B5E89}"/>
              </a:ext>
            </a:extLst>
          </p:cNvPr>
          <p:cNvSpPr/>
          <p:nvPr/>
        </p:nvSpPr>
        <p:spPr>
          <a:xfrm>
            <a:off x="5306710" y="4362450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50">
            <a:extLst>
              <a:ext uri="{FF2B5EF4-FFF2-40B4-BE49-F238E27FC236}">
                <a16:creationId xmlns:a16="http://schemas.microsoft.com/office/drawing/2014/main" id="{7B0B0DDF-4AA3-4376-90AE-2A1FB2FD4B19}"/>
              </a:ext>
            </a:extLst>
          </p:cNvPr>
          <p:cNvSpPr/>
          <p:nvPr/>
        </p:nvSpPr>
        <p:spPr>
          <a:xfrm>
            <a:off x="5306710" y="4362450"/>
            <a:ext cx="371475" cy="384048"/>
          </a:xfrm>
          <a:prstGeom prst="roundRect">
            <a:avLst>
              <a:gd name="adj" fmla="val 8000"/>
            </a:avLst>
          </a:prstGeom>
          <a:solidFill>
            <a:srgbClr val="2F8FA8"/>
          </a:solidFill>
          <a:ln w="12700">
            <a:solidFill>
              <a:srgbClr val="2F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51">
            <a:extLst>
              <a:ext uri="{FF2B5EF4-FFF2-40B4-BE49-F238E27FC236}">
                <a16:creationId xmlns:a16="http://schemas.microsoft.com/office/drawing/2014/main" id="{E5F6BEB8-24E5-4B1D-A3EF-7583E61B8A48}"/>
              </a:ext>
            </a:extLst>
          </p:cNvPr>
          <p:cNvSpPr txBox="1"/>
          <p:nvPr/>
        </p:nvSpPr>
        <p:spPr>
          <a:xfrm>
            <a:off x="5306710" y="4435602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F8FA8"/>
                </a:solidFill>
                <a:latin typeface="Consolas"/>
              </a:rPr>
              <a:t>12.5%</a:t>
            </a:r>
          </a:p>
        </p:txBody>
      </p:sp>
      <p:sp>
        <p:nvSpPr>
          <p:cNvPr id="68" name="TextBox 52">
            <a:extLst>
              <a:ext uri="{FF2B5EF4-FFF2-40B4-BE49-F238E27FC236}">
                <a16:creationId xmlns:a16="http://schemas.microsoft.com/office/drawing/2014/main" id="{B2FAAA5F-1330-4999-9F5D-0596F1D84C76}"/>
              </a:ext>
            </a:extLst>
          </p:cNvPr>
          <p:cNvSpPr txBox="1"/>
          <p:nvPr/>
        </p:nvSpPr>
        <p:spPr>
          <a:xfrm>
            <a:off x="8808862" y="4435602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9343D"/>
                </a:solidFill>
                <a:latin typeface="Consolas"/>
              </a:rPr>
              <a:t>56.2%</a:t>
            </a:r>
          </a:p>
        </p:txBody>
      </p:sp>
      <p:sp>
        <p:nvSpPr>
          <p:cNvPr id="69" name="TextBox 53">
            <a:extLst>
              <a:ext uri="{FF2B5EF4-FFF2-40B4-BE49-F238E27FC236}">
                <a16:creationId xmlns:a16="http://schemas.microsoft.com/office/drawing/2014/main" id="{317959C1-9101-4F72-96A1-E8CE2EA373E1}"/>
              </a:ext>
            </a:extLst>
          </p:cNvPr>
          <p:cNvSpPr txBox="1"/>
          <p:nvPr/>
        </p:nvSpPr>
        <p:spPr>
          <a:xfrm>
            <a:off x="9997582" y="4435602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SCALE816 / ρμ51+P量化ℓ51</a:t>
            </a:r>
          </a:p>
        </p:txBody>
      </p:sp>
      <p:sp>
        <p:nvSpPr>
          <p:cNvPr id="70" name="TextBox 54">
            <a:extLst>
              <a:ext uri="{FF2B5EF4-FFF2-40B4-BE49-F238E27FC236}">
                <a16:creationId xmlns:a16="http://schemas.microsoft.com/office/drawing/2014/main" id="{E9F77875-4EB7-459D-AA78-93C644666E65}"/>
              </a:ext>
            </a:extLst>
          </p:cNvPr>
          <p:cNvSpPr txBox="1"/>
          <p:nvPr/>
        </p:nvSpPr>
        <p:spPr>
          <a:xfrm>
            <a:off x="579262" y="5020818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D7A57"/>
                </a:solidFill>
                <a:latin typeface="Consolas"/>
              </a:rPr>
              <a:t>SFU</a:t>
            </a:r>
          </a:p>
        </p:txBody>
      </p:sp>
      <p:sp>
        <p:nvSpPr>
          <p:cNvPr id="71" name="Rounded Rectangle 55">
            <a:extLst>
              <a:ext uri="{FF2B5EF4-FFF2-40B4-BE49-F238E27FC236}">
                <a16:creationId xmlns:a16="http://schemas.microsoft.com/office/drawing/2014/main" id="{C7F2FA62-B843-4851-BCA7-AB4D62E21832}"/>
              </a:ext>
            </a:extLst>
          </p:cNvPr>
          <p:cNvSpPr/>
          <p:nvPr/>
        </p:nvSpPr>
        <p:spPr>
          <a:xfrm>
            <a:off x="1786270" y="4929378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56">
            <a:extLst>
              <a:ext uri="{FF2B5EF4-FFF2-40B4-BE49-F238E27FC236}">
                <a16:creationId xmlns:a16="http://schemas.microsoft.com/office/drawing/2014/main" id="{63723ED1-B76A-46B3-904E-FBCC33AB48A1}"/>
              </a:ext>
            </a:extLst>
          </p:cNvPr>
          <p:cNvSpPr txBox="1"/>
          <p:nvPr/>
        </p:nvSpPr>
        <p:spPr>
          <a:xfrm>
            <a:off x="1786270" y="5002530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D7A57"/>
                </a:solidFill>
                <a:latin typeface="Consolas"/>
              </a:rPr>
              <a:t>0%</a:t>
            </a:r>
          </a:p>
        </p:txBody>
      </p:sp>
      <p:sp>
        <p:nvSpPr>
          <p:cNvPr id="73" name="Rounded Rectangle 57">
            <a:extLst>
              <a:ext uri="{FF2B5EF4-FFF2-40B4-BE49-F238E27FC236}">
                <a16:creationId xmlns:a16="http://schemas.microsoft.com/office/drawing/2014/main" id="{AD10FCAC-29F9-4855-B49D-2039CC5E3E57}"/>
              </a:ext>
            </a:extLst>
          </p:cNvPr>
          <p:cNvSpPr/>
          <p:nvPr/>
        </p:nvSpPr>
        <p:spPr>
          <a:xfrm>
            <a:off x="5306710" y="4929378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58">
            <a:extLst>
              <a:ext uri="{FF2B5EF4-FFF2-40B4-BE49-F238E27FC236}">
                <a16:creationId xmlns:a16="http://schemas.microsoft.com/office/drawing/2014/main" id="{108E896F-BC44-41FC-B98D-FA3ABEDB28A0}"/>
              </a:ext>
            </a:extLst>
          </p:cNvPr>
          <p:cNvSpPr/>
          <p:nvPr/>
        </p:nvSpPr>
        <p:spPr>
          <a:xfrm>
            <a:off x="5306710" y="4929378"/>
            <a:ext cx="1580997" cy="384048"/>
          </a:xfrm>
          <a:prstGeom prst="roundRect">
            <a:avLst>
              <a:gd name="adj" fmla="val 8000"/>
            </a:avLst>
          </a:prstGeom>
          <a:solidFill>
            <a:srgbClr val="3D7A57"/>
          </a:solidFill>
          <a:ln w="12700">
            <a:solidFill>
              <a:srgbClr val="3D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59">
            <a:extLst>
              <a:ext uri="{FF2B5EF4-FFF2-40B4-BE49-F238E27FC236}">
                <a16:creationId xmlns:a16="http://schemas.microsoft.com/office/drawing/2014/main" id="{5DC157D5-E744-463E-B97E-2A7CCBB767EF}"/>
              </a:ext>
            </a:extLst>
          </p:cNvPr>
          <p:cNvSpPr txBox="1"/>
          <p:nvPr/>
        </p:nvSpPr>
        <p:spPr>
          <a:xfrm>
            <a:off x="5306710" y="5002530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53.2%</a:t>
            </a:r>
          </a:p>
        </p:txBody>
      </p:sp>
      <p:sp>
        <p:nvSpPr>
          <p:cNvPr id="76" name="TextBox 60">
            <a:extLst>
              <a:ext uri="{FF2B5EF4-FFF2-40B4-BE49-F238E27FC236}">
                <a16:creationId xmlns:a16="http://schemas.microsoft.com/office/drawing/2014/main" id="{F1EDA016-6F5A-4B59-90F5-F70123C74125}"/>
              </a:ext>
            </a:extLst>
          </p:cNvPr>
          <p:cNvSpPr txBox="1"/>
          <p:nvPr/>
        </p:nvSpPr>
        <p:spPr>
          <a:xfrm>
            <a:off x="8808862" y="5002530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9343D"/>
                </a:solidFill>
                <a:latin typeface="Consolas"/>
              </a:rPr>
              <a:t>26.6%</a:t>
            </a:r>
          </a:p>
        </p:txBody>
      </p:sp>
      <p:sp>
        <p:nvSpPr>
          <p:cNvPr id="77" name="TextBox 61">
            <a:extLst>
              <a:ext uri="{FF2B5EF4-FFF2-40B4-BE49-F238E27FC236}">
                <a16:creationId xmlns:a16="http://schemas.microsoft.com/office/drawing/2014/main" id="{0900390E-5728-497B-A9C8-A3386119ABD2}"/>
              </a:ext>
            </a:extLst>
          </p:cNvPr>
          <p:cNvSpPr txBox="1"/>
          <p:nvPr/>
        </p:nvSpPr>
        <p:spPr>
          <a:xfrm>
            <a:off x="9997582" y="5002530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P exp408+α exp26</a:t>
            </a:r>
          </a:p>
        </p:txBody>
      </p:sp>
      <p:sp>
        <p:nvSpPr>
          <p:cNvPr id="78" name="TextBox 62">
            <a:extLst>
              <a:ext uri="{FF2B5EF4-FFF2-40B4-BE49-F238E27FC236}">
                <a16:creationId xmlns:a16="http://schemas.microsoft.com/office/drawing/2014/main" id="{BD5807A0-471F-492A-87C5-821F589B5198}"/>
              </a:ext>
            </a:extLst>
          </p:cNvPr>
          <p:cNvSpPr txBox="1"/>
          <p:nvPr/>
        </p:nvSpPr>
        <p:spPr>
          <a:xfrm>
            <a:off x="579262" y="5587745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1E6A9E"/>
                </a:solidFill>
                <a:latin typeface="Consolas"/>
              </a:rPr>
              <a:t>KVB</a:t>
            </a:r>
          </a:p>
        </p:txBody>
      </p:sp>
      <p:sp>
        <p:nvSpPr>
          <p:cNvPr id="79" name="Rounded Rectangle 63">
            <a:extLst>
              <a:ext uri="{FF2B5EF4-FFF2-40B4-BE49-F238E27FC236}">
                <a16:creationId xmlns:a16="http://schemas.microsoft.com/office/drawing/2014/main" id="{7AC205C8-F223-48A3-8D3B-013675890485}"/>
              </a:ext>
            </a:extLst>
          </p:cNvPr>
          <p:cNvSpPr/>
          <p:nvPr/>
        </p:nvSpPr>
        <p:spPr>
          <a:xfrm>
            <a:off x="1786270" y="5496306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64">
            <a:extLst>
              <a:ext uri="{FF2B5EF4-FFF2-40B4-BE49-F238E27FC236}">
                <a16:creationId xmlns:a16="http://schemas.microsoft.com/office/drawing/2014/main" id="{43C7B87B-E748-4846-B5F0-8380412EB1D5}"/>
              </a:ext>
            </a:extLst>
          </p:cNvPr>
          <p:cNvSpPr/>
          <p:nvPr/>
        </p:nvSpPr>
        <p:spPr>
          <a:xfrm>
            <a:off x="1786270" y="5496306"/>
            <a:ext cx="989609" cy="384048"/>
          </a:xfrm>
          <a:prstGeom prst="roundRect">
            <a:avLst>
              <a:gd name="adj" fmla="val 8000"/>
            </a:avLst>
          </a:prstGeom>
          <a:solidFill>
            <a:srgbClr val="1E6A9E"/>
          </a:solidFill>
          <a:ln w="12700">
            <a:solidFill>
              <a:srgbClr val="1E6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65">
            <a:extLst>
              <a:ext uri="{FF2B5EF4-FFF2-40B4-BE49-F238E27FC236}">
                <a16:creationId xmlns:a16="http://schemas.microsoft.com/office/drawing/2014/main" id="{309635A4-FDBF-4073-88B5-AA7DFA521322}"/>
              </a:ext>
            </a:extLst>
          </p:cNvPr>
          <p:cNvSpPr txBox="1"/>
          <p:nvPr/>
        </p:nvSpPr>
        <p:spPr>
          <a:xfrm>
            <a:off x="1786270" y="5569458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6A9E"/>
                </a:solidFill>
                <a:latin typeface="Consolas"/>
              </a:rPr>
              <a:t>33.3%</a:t>
            </a:r>
          </a:p>
        </p:txBody>
      </p:sp>
      <p:sp>
        <p:nvSpPr>
          <p:cNvPr id="82" name="Rounded Rectangle 66">
            <a:extLst>
              <a:ext uri="{FF2B5EF4-FFF2-40B4-BE49-F238E27FC236}">
                <a16:creationId xmlns:a16="http://schemas.microsoft.com/office/drawing/2014/main" id="{A55113CF-593A-45CC-8C8F-C4202A755D34}"/>
              </a:ext>
            </a:extLst>
          </p:cNvPr>
          <p:cNvSpPr/>
          <p:nvPr/>
        </p:nvSpPr>
        <p:spPr>
          <a:xfrm>
            <a:off x="5306710" y="5496306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67">
            <a:extLst>
              <a:ext uri="{FF2B5EF4-FFF2-40B4-BE49-F238E27FC236}">
                <a16:creationId xmlns:a16="http://schemas.microsoft.com/office/drawing/2014/main" id="{9373A777-64D3-4F8F-B51E-03DE36041542}"/>
              </a:ext>
            </a:extLst>
          </p:cNvPr>
          <p:cNvSpPr/>
          <p:nvPr/>
        </p:nvSpPr>
        <p:spPr>
          <a:xfrm>
            <a:off x="5306710" y="5496306"/>
            <a:ext cx="989609" cy="384048"/>
          </a:xfrm>
          <a:prstGeom prst="roundRect">
            <a:avLst>
              <a:gd name="adj" fmla="val 8000"/>
            </a:avLst>
          </a:prstGeom>
          <a:solidFill>
            <a:srgbClr val="1E6A9E"/>
          </a:solidFill>
          <a:ln w="12700">
            <a:solidFill>
              <a:srgbClr val="1E6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68">
            <a:extLst>
              <a:ext uri="{FF2B5EF4-FFF2-40B4-BE49-F238E27FC236}">
                <a16:creationId xmlns:a16="http://schemas.microsoft.com/office/drawing/2014/main" id="{A0C8B89F-637A-427D-AB14-AFD62954C57F}"/>
              </a:ext>
            </a:extLst>
          </p:cNvPr>
          <p:cNvSpPr txBox="1"/>
          <p:nvPr/>
        </p:nvSpPr>
        <p:spPr>
          <a:xfrm>
            <a:off x="5306710" y="5569458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6A9E"/>
                </a:solidFill>
                <a:latin typeface="Consolas"/>
              </a:rPr>
              <a:t>33.3%</a:t>
            </a:r>
          </a:p>
        </p:txBody>
      </p:sp>
      <p:sp>
        <p:nvSpPr>
          <p:cNvPr id="85" name="TextBox 69">
            <a:extLst>
              <a:ext uri="{FF2B5EF4-FFF2-40B4-BE49-F238E27FC236}">
                <a16:creationId xmlns:a16="http://schemas.microsoft.com/office/drawing/2014/main" id="{0AE5132D-1A98-4538-A566-5F58A246E5AA}"/>
              </a:ext>
            </a:extLst>
          </p:cNvPr>
          <p:cNvSpPr txBox="1"/>
          <p:nvPr/>
        </p:nvSpPr>
        <p:spPr>
          <a:xfrm>
            <a:off x="8808862" y="5569458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9343D"/>
                </a:solidFill>
                <a:latin typeface="Consolas"/>
              </a:rPr>
              <a:t>33.3%</a:t>
            </a:r>
          </a:p>
        </p:txBody>
      </p:sp>
      <p:sp>
        <p:nvSpPr>
          <p:cNvPr id="86" name="TextBox 70">
            <a:extLst>
              <a:ext uri="{FF2B5EF4-FFF2-40B4-BE49-F238E27FC236}">
                <a16:creationId xmlns:a16="http://schemas.microsoft.com/office/drawing/2014/main" id="{7701E909-F327-4314-A23A-91BC6976CBA6}"/>
              </a:ext>
            </a:extLst>
          </p:cNvPr>
          <p:cNvSpPr txBox="1"/>
          <p:nvPr/>
        </p:nvSpPr>
        <p:spPr>
          <a:xfrm>
            <a:off x="9997582" y="5569458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66727C"/>
                </a:solidFill>
                <a:latin typeface="Microsoft YaHei"/>
              </a:rPr>
              <a:t>K / V各272拍</a:t>
            </a:r>
          </a:p>
        </p:txBody>
      </p:sp>
      <p:sp>
        <p:nvSpPr>
          <p:cNvPr id="87" name="TextBox 71">
            <a:extLst>
              <a:ext uri="{FF2B5EF4-FFF2-40B4-BE49-F238E27FC236}">
                <a16:creationId xmlns:a16="http://schemas.microsoft.com/office/drawing/2014/main" id="{9FBFEA12-477D-480C-8ADF-5DF990A79949}"/>
              </a:ext>
            </a:extLst>
          </p:cNvPr>
          <p:cNvSpPr txBox="1"/>
          <p:nvPr/>
        </p:nvSpPr>
        <p:spPr>
          <a:xfrm>
            <a:off x="579262" y="6154673"/>
            <a:ext cx="1005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A5F"/>
                </a:solidFill>
                <a:latin typeface="Consolas"/>
              </a:rPr>
              <a:t>PBUF R</a:t>
            </a:r>
          </a:p>
        </p:txBody>
      </p:sp>
      <p:sp>
        <p:nvSpPr>
          <p:cNvPr id="88" name="Rounded Rectangle 72">
            <a:extLst>
              <a:ext uri="{FF2B5EF4-FFF2-40B4-BE49-F238E27FC236}">
                <a16:creationId xmlns:a16="http://schemas.microsoft.com/office/drawing/2014/main" id="{B679A0B2-7303-4696-8067-7D7DA02148B0}"/>
              </a:ext>
            </a:extLst>
          </p:cNvPr>
          <p:cNvSpPr/>
          <p:nvPr/>
        </p:nvSpPr>
        <p:spPr>
          <a:xfrm>
            <a:off x="1786270" y="6063234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73">
            <a:extLst>
              <a:ext uri="{FF2B5EF4-FFF2-40B4-BE49-F238E27FC236}">
                <a16:creationId xmlns:a16="http://schemas.microsoft.com/office/drawing/2014/main" id="{653ADE5D-8192-4EAB-86AF-75A45BBC90D3}"/>
              </a:ext>
            </a:extLst>
          </p:cNvPr>
          <p:cNvSpPr txBox="1"/>
          <p:nvPr/>
        </p:nvSpPr>
        <p:spPr>
          <a:xfrm>
            <a:off x="1786270" y="6136386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63A5F"/>
                </a:solidFill>
                <a:latin typeface="Consolas"/>
              </a:rPr>
              <a:t>0%</a:t>
            </a:r>
          </a:p>
        </p:txBody>
      </p:sp>
      <p:sp>
        <p:nvSpPr>
          <p:cNvPr id="90" name="Rounded Rectangle 74">
            <a:extLst>
              <a:ext uri="{FF2B5EF4-FFF2-40B4-BE49-F238E27FC236}">
                <a16:creationId xmlns:a16="http://schemas.microsoft.com/office/drawing/2014/main" id="{F0918B5A-D3C6-4157-8777-64A8DB95CA79}"/>
              </a:ext>
            </a:extLst>
          </p:cNvPr>
          <p:cNvSpPr/>
          <p:nvPr/>
        </p:nvSpPr>
        <p:spPr>
          <a:xfrm>
            <a:off x="5306710" y="6063234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75">
            <a:extLst>
              <a:ext uri="{FF2B5EF4-FFF2-40B4-BE49-F238E27FC236}">
                <a16:creationId xmlns:a16="http://schemas.microsoft.com/office/drawing/2014/main" id="{07095647-CBCE-42C1-8065-9A54C70BBBBF}"/>
              </a:ext>
            </a:extLst>
          </p:cNvPr>
          <p:cNvSpPr/>
          <p:nvPr/>
        </p:nvSpPr>
        <p:spPr>
          <a:xfrm>
            <a:off x="5306710" y="6063234"/>
            <a:ext cx="2971800" cy="384048"/>
          </a:xfrm>
          <a:prstGeom prst="roundRect">
            <a:avLst>
              <a:gd name="adj" fmla="val 8000"/>
            </a:avLst>
          </a:prstGeom>
          <a:solidFill>
            <a:srgbClr val="163A5F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76">
            <a:extLst>
              <a:ext uri="{FF2B5EF4-FFF2-40B4-BE49-F238E27FC236}">
                <a16:creationId xmlns:a16="http://schemas.microsoft.com/office/drawing/2014/main" id="{8D32CDF9-F25F-45D4-93DF-AD396D58A003}"/>
              </a:ext>
            </a:extLst>
          </p:cNvPr>
          <p:cNvSpPr txBox="1"/>
          <p:nvPr/>
        </p:nvSpPr>
        <p:spPr>
          <a:xfrm>
            <a:off x="5306710" y="6136386"/>
            <a:ext cx="2971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onsolas"/>
              </a:rPr>
              <a:t>100%</a:t>
            </a:r>
          </a:p>
        </p:txBody>
      </p:sp>
      <p:sp>
        <p:nvSpPr>
          <p:cNvPr id="93" name="TextBox 77">
            <a:extLst>
              <a:ext uri="{FF2B5EF4-FFF2-40B4-BE49-F238E27FC236}">
                <a16:creationId xmlns:a16="http://schemas.microsoft.com/office/drawing/2014/main" id="{5319DAB4-DFCC-4CF6-9D2F-4155DE577484}"/>
              </a:ext>
            </a:extLst>
          </p:cNvPr>
          <p:cNvSpPr txBox="1"/>
          <p:nvPr/>
        </p:nvSpPr>
        <p:spPr>
          <a:xfrm>
            <a:off x="8808862" y="6136386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9343D"/>
                </a:solidFill>
                <a:latin typeface="Consolas"/>
              </a:rPr>
              <a:t>50.0%</a:t>
            </a:r>
          </a:p>
        </p:txBody>
      </p:sp>
      <p:sp>
        <p:nvSpPr>
          <p:cNvPr id="94" name="TextBox 78">
            <a:extLst>
              <a:ext uri="{FF2B5EF4-FFF2-40B4-BE49-F238E27FC236}">
                <a16:creationId xmlns:a16="http://schemas.microsoft.com/office/drawing/2014/main" id="{028D8A80-1AA1-4CB0-B2E5-2760206B5981}"/>
              </a:ext>
            </a:extLst>
          </p:cNvPr>
          <p:cNvSpPr txBox="1"/>
          <p:nvPr/>
        </p:nvSpPr>
        <p:spPr>
          <a:xfrm>
            <a:off x="9997582" y="6136386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C"/>
                </a:solidFill>
                <a:latin typeface="Microsoft YaHei"/>
              </a:rPr>
              <a:t>PV重复读P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0163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书馆3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7000">
                <a:srgbClr val="8B9F35">
                  <a:alpha val="90000"/>
                </a:srgbClr>
              </a:gs>
              <a:gs pos="67000">
                <a:srgbClr val="8B9F35">
                  <a:alpha val="24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13080" y="3368993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谢谢观看！</a:t>
            </a:r>
            <a:endParaRPr lang="en-US" altLang="zh-CN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8348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35" y="0"/>
            <a:ext cx="12191365" cy="867410"/>
          </a:xfrm>
          <a:prstGeom prst="rect">
            <a:avLst/>
          </a:prstGeom>
          <a:gradFill>
            <a:gsLst>
              <a:gs pos="52000">
                <a:srgbClr val="56796D">
                  <a:alpha val="24000"/>
                </a:srgbClr>
              </a:gs>
              <a:gs pos="0">
                <a:srgbClr val="56796D"/>
              </a:gs>
              <a:gs pos="100000">
                <a:srgbClr val="C5D1B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60705" y="5228445"/>
            <a:ext cx="3334385" cy="47654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2026.8.25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9" name="图片 18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60705" y="212725"/>
            <a:ext cx="1440000" cy="46137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89d9deb-1bb5-47c1-b574-ea765dac7701"/>
  <p:tag name="COMMONDATA" val="eyJoZGlkIjoiMTU2ZDc0ZjNmMzdmMDBlNmUzZGQ5ODRkNDBiMjE1Y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54,&quot;width&quot;:19200}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4174</TotalTime>
  <Words>1241</Words>
  <Application>Microsoft Office PowerPoint</Application>
  <PresentationFormat>宽屏</PresentationFormat>
  <Paragraphs>250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 Unicode MS</vt:lpstr>
      <vt:lpstr>Microsoft YaHei UI</vt:lpstr>
      <vt:lpstr>汉仪书魂体简</vt:lpstr>
      <vt:lpstr>微软雅黑</vt:lpstr>
      <vt:lpstr>微软雅黑</vt:lpstr>
      <vt:lpstr>Arial</vt:lpstr>
      <vt:lpstr>Calibri</vt:lpstr>
      <vt:lpstr>Cambria Math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魏昀涛</dc:creator>
  <cp:lastModifiedBy>fei zhao</cp:lastModifiedBy>
  <cp:revision>333</cp:revision>
  <dcterms:created xsi:type="dcterms:W3CDTF">2019-06-19T02:08:00Z</dcterms:created>
  <dcterms:modified xsi:type="dcterms:W3CDTF">2026-08-25T05:40:32Z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B4B9A330570349649C3A7984611FF173_11</vt:lpwstr>
  </property>
</Properties>
</file>